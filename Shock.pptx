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8098-677F-9594-1B65-D257DD993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BEC7E-329A-CF39-9536-A352A4B3A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EF845-CE4A-9848-EA81-2DFF9AE2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2802-E4A2-DCB1-DE69-D06AC4C5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EEC89-C582-D365-A751-0FFA0C49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46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57C9-F8AE-A4D5-060B-FD08741A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7EFE-C87A-79F2-9E25-3D9D9990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FE88A-A108-7F96-01EB-1F3CFFF7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AB25-5D94-BB4A-98C7-B695B215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AFB8D-FE6C-102A-D60A-8B22353E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27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5A08-C5D1-88BE-5793-8CCF2396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69E1F-B43E-B010-B35A-F67F21F4F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4C2F-5A62-8D90-DBBD-C67022CF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CD1EC-84D0-7847-6EB4-97A9FC1B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70F4-C0E8-B0C1-E729-F3EF7BA3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42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1514-1E24-446C-EEC8-43DE61E3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2353-B81C-22B4-59CE-71CF9F9F0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EB429-7C35-4260-58F2-3563CCE7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D8DFC-D9AD-D2DD-03D2-C0408FA9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783AD-957D-AE2E-4281-F9107724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9A26B-FBDF-C866-BEA7-41A34943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66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1499-ACBF-8A99-A46D-60985A37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F4258-D700-214D-CF01-1B27F74C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43DFD-335C-4AB3-A54A-93F5F13F4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7E1C9-2D40-FB7B-CFDE-45719E540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92088-B576-5440-5537-BFC9115D5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34B44-4822-5868-A697-98B67E78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CD224-3A0E-06CE-762B-DB8507D3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EAD52-B04B-F40A-3E24-EACCB4DB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9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99AA-18E3-5AC7-9C96-DE3ACAA5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EA0D9-E861-9FEB-7ADA-E610123F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920A9-0A70-03EC-AC11-D52C7947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4F97B-494E-1B27-E32C-8DA1A88C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37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AAE6F-4F79-2FBB-2813-B908484C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BFF75-B598-F022-5BA9-5F7BB30B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6706F-C847-43AC-6919-D2F4A639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45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32E8-F985-F256-7890-E94E277AF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8E7B4-A067-7B8E-1A11-6FF76BA7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562D9-0212-9423-D1E6-248698A17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BF68B-DD24-88FD-8330-63E218A3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EE85F-F394-F86C-58FB-200C5480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48384-645A-0986-9D35-C0912D71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2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0F93-AFAF-E069-DD6B-BB8D80BC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99481-CA0D-DEDD-1568-FA52B80E1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1D8A4-E81D-3082-C254-1AF49BD3C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B947F-9A1B-1CAC-9E0A-74856296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2BC64-E046-D43D-9853-DEACBA59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2626A-7585-CADE-07B3-88959AE0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35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3155-3307-C214-AC42-BF4C9CDC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EB186-978A-2A69-87C2-A809C8EA2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5870D-813D-E98B-0C71-1A3D2559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7F02-BEAF-094A-C015-98F0D567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6672-DDF5-09CF-999C-3C3A5C76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07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247E8-9C3D-1F2F-86B1-13F641AFA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B6BD2-80A2-55BE-E4BD-9150D9AAE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5D23E-0CC2-E4D1-3C98-4269B965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CC6D-D13C-6B04-2E09-6BB52833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DF41A-BC02-AD68-6A45-C7ABAAB8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20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7B442-A068-96B0-3E84-AB728623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67508-973A-4AEA-F60F-2550E3F2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E07FC-198E-9656-6D9D-4FB45A2C8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4EA26-F02F-4118-A962-23A6C2A63DDC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4987-DEFD-98A8-01C9-BFB737EA3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308F9-26A9-F96C-7381-118B2F3EB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12AA-DE9E-42BC-8672-204FC9C768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69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AA6497-847F-E6A2-3A9C-24CB240B2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438479"/>
              </p:ext>
            </p:extLst>
          </p:nvPr>
        </p:nvGraphicFramePr>
        <p:xfrm>
          <a:off x="1014470" y="480236"/>
          <a:ext cx="8128000" cy="60517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29812">
                  <a:extLst>
                    <a:ext uri="{9D8B030D-6E8A-4147-A177-3AD203B41FA5}">
                      <a16:colId xmlns:a16="http://schemas.microsoft.com/office/drawing/2014/main" val="3099902596"/>
                    </a:ext>
                  </a:extLst>
                </a:gridCol>
                <a:gridCol w="3098188">
                  <a:extLst>
                    <a:ext uri="{9D8B030D-6E8A-4147-A177-3AD203B41FA5}">
                      <a16:colId xmlns:a16="http://schemas.microsoft.com/office/drawing/2014/main" val="2769260630"/>
                    </a:ext>
                  </a:extLst>
                </a:gridCol>
              </a:tblGrid>
              <a:tr h="17760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NAMES OF GROUP MEMBERS</a:t>
                      </a:r>
                      <a:endParaRPr lang="en-GB" sz="1800" b="1" i="1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GC NUMBER</a:t>
                      </a:r>
                      <a:endParaRPr lang="en-GB" b="1" i="1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337193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CHIOMA ELIZABETH IBENYENWA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2431139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157595"/>
                  </a:ext>
                </a:extLst>
              </a:tr>
              <a:tr h="658078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BINTA ML BOJANG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lgerian" panose="04020705040A02060702" pitchFamily="82" charset="0"/>
                        </a:rPr>
                        <a:t>2431061</a:t>
                      </a:r>
                    </a:p>
                    <a:p>
                      <a:pPr algn="just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168317"/>
                  </a:ext>
                </a:extLst>
              </a:tr>
              <a:tr h="658078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AWA BARRY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lgerian" panose="04020705040A02060702" pitchFamily="82" charset="0"/>
                        </a:rPr>
                        <a:t>2431004</a:t>
                      </a:r>
                    </a:p>
                    <a:p>
                      <a:pPr algn="just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308089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FATMATA TURAY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2431141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20825"/>
                  </a:ext>
                </a:extLst>
              </a:tr>
              <a:tr h="658078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HAWA KHAN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lgerian" panose="04020705040A02060702" pitchFamily="82" charset="0"/>
                        </a:rPr>
                        <a:t>2431023</a:t>
                      </a:r>
                    </a:p>
                    <a:p>
                      <a:pPr algn="just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197379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SAFFIATOU JALLOW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2431044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515956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SOLIU FAIZAT TAIWO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2431140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52948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MARIAMA BOJANG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lgerian" panose="04020705040A02060702" pitchFamily="82" charset="0"/>
                        </a:rPr>
                        <a:t>2431150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6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54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EF5-B9E2-7BD3-F090-737E8FC70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SHOCK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0AF92-A2A7-C115-AABF-A0A188ACFA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2010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513A-94B2-8AA8-F5FC-BF8DD363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BDFF0-AF27-4926-7E3B-7425B4BD9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400" dirty="0">
                <a:latin typeface="Aptos Display"/>
              </a:rPr>
              <a:t>1. Introduction </a:t>
            </a:r>
            <a:endParaRPr lang="en-GB" sz="1400" dirty="0"/>
          </a:p>
          <a:p>
            <a:r>
              <a:rPr lang="en-GB" sz="1400" dirty="0">
                <a:latin typeface="Aptos Display"/>
              </a:rPr>
              <a:t>2. Definitions</a:t>
            </a:r>
          </a:p>
          <a:p>
            <a:r>
              <a:rPr lang="en-GB" sz="1400" dirty="0">
                <a:latin typeface="Aptos Display"/>
              </a:rPr>
              <a:t>3. Aetiology</a:t>
            </a:r>
          </a:p>
          <a:p>
            <a:r>
              <a:rPr lang="en-GB" sz="1400" dirty="0">
                <a:latin typeface="Aptos Display"/>
              </a:rPr>
              <a:t>4. Pathophysiology</a:t>
            </a:r>
          </a:p>
          <a:p>
            <a:r>
              <a:rPr lang="en-GB" sz="1400" dirty="0">
                <a:latin typeface="Aptos Display"/>
              </a:rPr>
              <a:t>5. Types of Shock</a:t>
            </a:r>
          </a:p>
          <a:p>
            <a:r>
              <a:rPr lang="en-GB" sz="1400" dirty="0">
                <a:latin typeface="Aptos Display"/>
              </a:rPr>
              <a:t>6. Signs and Symptoms</a:t>
            </a:r>
          </a:p>
          <a:p>
            <a:r>
              <a:rPr lang="en-GB" sz="1400" dirty="0">
                <a:latin typeface="Aptos Display"/>
              </a:rPr>
              <a:t>7. Investigations – Assessment</a:t>
            </a:r>
          </a:p>
          <a:p>
            <a:r>
              <a:rPr lang="en-US" sz="1400" dirty="0">
                <a:latin typeface="Aptos Display"/>
              </a:rPr>
              <a:t>7. Investigations – Laboratory &amp; Diagnostic Tests</a:t>
            </a:r>
          </a:p>
          <a:p>
            <a:r>
              <a:rPr lang="en-GB" sz="1400" dirty="0">
                <a:latin typeface="Aptos Display"/>
              </a:rPr>
              <a:t>8. Medical Management</a:t>
            </a:r>
          </a:p>
          <a:p>
            <a:r>
              <a:rPr lang="en-GB" sz="1400" dirty="0">
                <a:latin typeface="Aptos Display"/>
              </a:rPr>
              <a:t>9. Nursing Management</a:t>
            </a:r>
          </a:p>
          <a:p>
            <a:r>
              <a:rPr lang="en-GB" sz="1400" dirty="0">
                <a:latin typeface="Aptos Display"/>
              </a:rPr>
              <a:t>10. Nursing Diagnoses</a:t>
            </a:r>
          </a:p>
          <a:p>
            <a:r>
              <a:rPr lang="en-GB" sz="1400" dirty="0">
                <a:latin typeface="Aptos Display"/>
              </a:rPr>
              <a:t>11. Complications</a:t>
            </a:r>
          </a:p>
          <a:p>
            <a:r>
              <a:rPr lang="en-GB" sz="1400" dirty="0">
                <a:latin typeface="Aptos Display"/>
              </a:rPr>
              <a:t>12. Differential Diagnosis</a:t>
            </a:r>
          </a:p>
          <a:p>
            <a:r>
              <a:rPr lang="en-GB" sz="1400" dirty="0">
                <a:latin typeface="Aptos Display"/>
              </a:rPr>
              <a:t>13. References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4056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B39F-7086-962A-FF22-1718B040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7A18-D149-5015-F311-4120E865A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/>
            </a:pPr>
            <a:r>
              <a:rPr lang="en-US" sz="3200" dirty="0">
                <a:latin typeface="Aptos"/>
              </a:rPr>
              <a:t>Shock is a life-threatening medical emergency in which the circulatory system fails to provide adequate blood flow and oxygen to body tissues.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Inadequate oxygen delivery causes cellular injury, organ dysfunction and, if untreated, death.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Early recognition and immediate treatment are essential.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87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E31D-5BCE-1A6E-BA78-7521859B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Definitions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F103-7E05-A271-0FC9-4A51E3F3E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Shock: Acute circulatory failure causing inadequate tissue perfusion.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Tissue perfusion: Delivery of oxygenated blood and nutrients to body tissues.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Hypovolemic shock: Inadequate circulating blood or fluid volume.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Cardiogenic shock: The heart cannot pump enough blood to meet body needs.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Distributive shock: Abnormal vasodilation and distribution of blood.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Obstructive shock: Physical obstruction prevents adequate blood flow.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6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AEB1-1916-2919-CBE7-235CAEB1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Aetiology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F8C06-EDCB-837E-6E4C-A8A44F64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GB" sz="3200" dirty="0">
                <a:latin typeface="Aptos"/>
              </a:rPr>
              <a:t>Hypovolemic: severe bleeding, trauma, burns, vomiting, diarrhoea, dehydration and excessive fluid loss.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3200" dirty="0">
                <a:latin typeface="Aptos"/>
              </a:rPr>
              <a:t>Cardiogenic: myocardial infarction, severe heart failure, cardiomyopathy, arrhythmias and myocarditis.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3200" dirty="0">
                <a:latin typeface="Aptos"/>
              </a:rPr>
              <a:t>Distributive: sepsis, severe allergic reaction and spinal cord injury.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3200" dirty="0">
                <a:latin typeface="Aptos"/>
              </a:rPr>
              <a:t>Obstructive: pulmonary embolism, cardiac tamponade and tension pneumothorax.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036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A3F5-502B-5B15-06DD-D2B85169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Pathophysiology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97D3-0829-3010-269F-589FA6EB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Shock begins when </a:t>
            </a:r>
            <a:r>
              <a:rPr lang="en-US" b="1" dirty="0"/>
              <a:t>tissue perfusion becomes inadequate</a:t>
            </a:r>
            <a:r>
              <a:rPr lang="en-US" dirty="0"/>
              <a:t>, causing reduced oxygen supply to cells. The body initially responds through </a:t>
            </a:r>
            <a:r>
              <a:rPr lang="en-US" b="1" dirty="0"/>
              <a:t>tachycardia, vasoconstriction, and fluid retention</a:t>
            </a:r>
            <a:r>
              <a:rPr lang="en-US" dirty="0"/>
              <a:t> to maintain blood pressure and vital-organ perfusion. If the condition persists, cells develop </a:t>
            </a:r>
            <a:r>
              <a:rPr lang="en-US" b="1" dirty="0"/>
              <a:t>hypoxia</a:t>
            </a:r>
            <a:r>
              <a:rPr lang="en-US" dirty="0"/>
              <a:t> and switch to anaerobic metabolism, resulting in </a:t>
            </a:r>
            <a:r>
              <a:rPr lang="en-US" b="1" dirty="0"/>
              <a:t>lactic acid accumulation and metabolic acidosis</a:t>
            </a:r>
            <a:r>
              <a:rPr lang="en-US" dirty="0"/>
              <a:t>. </a:t>
            </a:r>
            <a:r>
              <a:rPr lang="en-US"/>
              <a:t>Continued hypoxia causes </a:t>
            </a:r>
            <a:r>
              <a:rPr lang="en-US" b="1"/>
              <a:t>cellular damage, impaired organ function, and eventually multiple-organ failure and death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67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FB95-F629-8E2A-7B72-FD26138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Types of Shock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7A65-F5F5-FF5C-BB97-A0D709423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1. Hypovolemic shock – loss of blood or body fluids.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2. Cardiogenic shock – failure of the heart to pump effectively.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3. Distributive shock – widespread vasodilation/abnormal blood distribution.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   • Septic shock  • Anaphylactic shock  • Neurogenic shock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4. Obstructive shock – physical obstruction to blood flow.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05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C27D-4227-6B0C-0349-2F325FAC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Signs and Symptoms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971C-D6E9-A65D-85DB-E87E3843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General: tachycardia, hypotension, rapid breathing, weak pulse, pale/cool/clammy skin.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Restlessness, anxiety, dizziness, confusion or reduced consciousness.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Delayed capillary refill, reduced urine output, thirst and weakness.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Severe cases may cause cyanosis and cold extremities.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Septic shock may initially present with warm/flushed skin; anaphylaxis may cause wheezing, swelling and rash.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2155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5C1F-1426-3D7E-91A9-0949CFA1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Investigations – Assessment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3BDC1-78EA-ED1D-15B2-1A34E0E3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Vital signs: blood pressure, pulse, respiratory rate, temperature and oxygen saturation.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Neurological assessment: level of consciousness.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Peripheral perfusion: capillary refill, skin </a:t>
            </a:r>
            <a:r>
              <a:rPr lang="en-US" sz="3200" dirty="0" err="1">
                <a:latin typeface="Aptos"/>
              </a:rPr>
              <a:t>colour</a:t>
            </a:r>
            <a:r>
              <a:rPr lang="en-US" sz="3200" dirty="0">
                <a:latin typeface="Aptos"/>
              </a:rPr>
              <a:t>/temperature and pulses.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Fluid status: urine output and fluid balance.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Identify the likely source/cause of shock.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75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42BE-336F-F7E1-794A-55070F8E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/>
              </a:rPr>
              <a:t>Investigations – Laboratory &amp; Diagnostic Tests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8F720-BDC2-9E23-EB39-0DCF9091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Full blood count; blood grouping and cross-matching.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Electrolytes, glucose, urea and creatinine; liver function tests.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Arterial blood gas and serum lactate.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Coagulation profile and blood cultures when infection is suspected.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3200" dirty="0">
                <a:latin typeface="Aptos"/>
              </a:rPr>
              <a:t>ECG, chest X-ray, echocardiography, ultrasound and CT when indicated.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112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4A8D-9B68-169B-1651-FBB6998C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Medical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05BEF-9B9F-11EA-81AD-90A5CC0A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Hypovolemic: control bleeding and replace blood/fluid losses.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Cardiogenic: treat the cardiac cause; vasopressors/inotropes or revascularisation may be required.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Septic: appropriate antibiotics, IV fluids when indicated and vasopressors if hypotension persists.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Anaphylactic: IM adrenaline (epinephrine) is first-line; oxygen and IV fluids may be needed.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Obstructive: urgently relieve the obstruction, e.g. tension pneumothorax or tamponade.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86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B486-1727-866E-4723-3A0F645D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Nursing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4E95A-CB1E-054B-7FC9-36D59F3F1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Assess ABCs and monitor vital signs frequently.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Administer oxygen and prescribed fluids, blood products and medications.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Establish/maintain IV access and monitor ECG and oxygen saturation.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Monitor urine output, fluid balance, skin, pulses and level of consciousness.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Control external bleeding when appropriate.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Keep the patient warm, reduce anxiety, maintain infection control and document response.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92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BC69-6422-F164-8F35-9AA111C0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Nursing Diagnoses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F3B1-7AEA-0760-76EB-C523843C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Decreased Cardiac Output related to altered cardiac function.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Deficient Fluid Volume related to excessive loss of blood or body fluids.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Impaired Gas Exchange related to inadequate oxygen delivery.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Ineffective Tissue Perfusion related to decreased circulating volume or cardiac output.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Anxiety related to acute illness and threat to life.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400" dirty="0">
                <a:latin typeface="Aptos"/>
              </a:rPr>
              <a:t>Risk for Acute Kidney Injury related to prolonged inadequate renal perfusion.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045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6284-E3D9-226A-80E6-7A9DAEB0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Complications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EA3F-59D3-E60A-3AE8-4B19F3CC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Acute kidney injury.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Acute respiratory distress.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Heart failure and brain injury.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Liver dysfunction and metabolic acidosis.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Disseminated intravascular coagulation (DIC).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Multiple-organ dysfunction syndrome (MODS).</a:t>
            </a:r>
          </a:p>
          <a:p>
            <a:pPr>
              <a:spcAft>
                <a:spcPts val="1000"/>
              </a:spcAft>
              <a:defRPr sz="2000"/>
            </a:pPr>
            <a:r>
              <a:rPr lang="en-GB" sz="2400" dirty="0">
                <a:latin typeface="Aptos"/>
              </a:rPr>
              <a:t>Tissue necrosis, cardiac arrest, coma and death.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1654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7460-2A9C-49F8-DB1A-A24CFBA1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Differential Diagnosis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A2197-982A-9313-72A6-1AAFD374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Severe dehydration.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Syncope.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Hypoglycaemia.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Severe anaemia.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Acute myocardial infarction.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Pulmonary embolism.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Severe infection/sepsis.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Adrenal insufficiency, drug overdose, electrolyte disturbances and acute stroke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1102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D125-19E3-0879-44D6-905AC671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/>
              </a:rPr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51C69-EBCD-4302-B8C8-C19E834E4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/>
            </a:pPr>
            <a:r>
              <a:rPr lang="en-GB" dirty="0">
                <a:latin typeface="Aptos"/>
              </a:rPr>
              <a:t>Hinkle, J.L. &amp; Cheever, K.H. (2022). Brunner &amp; Suddarth's Textbook of Medical-Surgical Nursing. 15th ed. Wolters Kluwer.</a:t>
            </a:r>
          </a:p>
          <a:p>
            <a:pPr>
              <a:spcAft>
                <a:spcPts val="1000"/>
              </a:spcAft>
              <a:defRPr sz="1700"/>
            </a:pPr>
            <a:r>
              <a:rPr lang="en-GB" dirty="0">
                <a:latin typeface="Aptos"/>
              </a:rPr>
              <a:t>Harding, M.M. et al. (2023). Lewis's Medical-Surgical Nursing: Assessment and Management of Clinical Problems. 12th ed. Elsevier.</a:t>
            </a:r>
          </a:p>
          <a:p>
            <a:pPr>
              <a:spcAft>
                <a:spcPts val="1000"/>
              </a:spcAft>
              <a:defRPr sz="1700"/>
            </a:pPr>
            <a:r>
              <a:rPr lang="en-GB" dirty="0">
                <a:latin typeface="Aptos"/>
              </a:rPr>
              <a:t>McCance, K.L. &amp; Huether, S.E. (2019). Pathophysiology: The Biologic Basis for Disease in Adults and Children. 8th ed. Elsevier.</a:t>
            </a:r>
          </a:p>
          <a:p>
            <a:pPr>
              <a:spcAft>
                <a:spcPts val="1000"/>
              </a:spcAft>
              <a:defRPr sz="1700"/>
            </a:pPr>
            <a:r>
              <a:rPr lang="en-GB" dirty="0">
                <a:latin typeface="Aptos"/>
              </a:rPr>
              <a:t>Evans, L. et al. (2021). Surviving Sepsis Campaign: International Guidelines for Management of Sepsis and Septic Shock 2021. Intensive Care Medicine, 47, 1181–1247.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>
                <a:latin typeface="Aptos"/>
              </a:rPr>
              <a:t>World Health Organization. Sepsis. </a:t>
            </a:r>
            <a:r>
              <a:rPr lang="en-GB">
                <a:latin typeface="Aptos"/>
              </a:rPr>
              <a:t>Geneva: WHO.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46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1019</Words>
  <Application>Microsoft Office PowerPoint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SHOCK</vt:lpstr>
      <vt:lpstr>Overview</vt:lpstr>
      <vt:lpstr>Introduction</vt:lpstr>
      <vt:lpstr>Definitions</vt:lpstr>
      <vt:lpstr>Aetiology</vt:lpstr>
      <vt:lpstr>Pathophysiology</vt:lpstr>
      <vt:lpstr>Types of Shock</vt:lpstr>
      <vt:lpstr>Signs and Symptoms</vt:lpstr>
      <vt:lpstr>Investigations – Assessment</vt:lpstr>
      <vt:lpstr>Investigations – Laboratory &amp; Diagnostic Tests</vt:lpstr>
      <vt:lpstr>Medical Management</vt:lpstr>
      <vt:lpstr>Nursing Management</vt:lpstr>
      <vt:lpstr>Nursing Diagnoses</vt:lpstr>
      <vt:lpstr>Complications</vt:lpstr>
      <vt:lpstr>Differential Diagnosis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 Barry</dc:creator>
  <cp:lastModifiedBy>Awa Barry</cp:lastModifiedBy>
  <cp:revision>4</cp:revision>
  <dcterms:created xsi:type="dcterms:W3CDTF">2026-09-06T16:10:54Z</dcterms:created>
  <dcterms:modified xsi:type="dcterms:W3CDTF">2026-09-08T11:03:16Z</dcterms:modified>
</cp:coreProperties>
</file>