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4" d="100"/>
          <a:sy n="9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9D2A-F163-8913-F5C1-8F53B55B1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8C0DF-10E9-50DE-643E-ACF6B3C71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4CAC2-8B5E-209D-8AE3-6269B42F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205E-37F3-CEA1-D0D0-4CA77A21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30584-F22A-CF66-90CF-7AB513B7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5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065A-2F28-A943-E4AD-0797BE54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262F4-0ED3-7DE3-6695-931EF084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0230D-2122-7464-4F00-A14A76FA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7B78F-66DB-3824-572E-8BB2FBC20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AF17-3C01-F141-9082-ECE60897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4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30B-CF11-1FD0-48A3-B600FB2D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4977D-07A2-1C06-5FA1-7630E152F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33106-EE5F-04DB-6AE5-4859C1E4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9E6A5-A46D-39E9-5C46-C00EEBFA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AF00D-E366-F54A-B467-1CD27964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3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A5C8-5874-DE54-CF21-160558A5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CB74B-1A15-3FC8-32CD-72889B8F1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21C79-705C-A70B-1790-CAC35E2C0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0D0EB-9EFB-D4B4-97E3-A82D3519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0091C-0757-2DF3-D7C8-07A637DB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82D36-E7C6-125F-EFDD-92AD5C95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8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B39C-444A-A73E-B010-B255545DE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5E880-3F8B-5022-0F2E-BCE8783E0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CA4D5-D7C1-E275-34F4-5F47716B9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555-BE7E-B552-4D29-276130E6A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44303-FD80-BC96-14BC-C6F63E2B2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A8231-1A46-D677-66D6-F22AE75B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B9A26-4459-E466-688D-32716727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FDF15-843F-657C-1D36-AB06F2B0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969C-7088-5BBC-8D72-A0020BF2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96207-2039-D1C5-6A41-24A4E27D0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6CCEF-8878-6FA9-C069-0034C1B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893C4-088B-D048-E11B-B0FD2E8B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9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622B5-DAE2-2156-F03F-9399A021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467EA-415F-122B-56D3-A347CEBE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A5C4-D013-BB11-472E-D07DEDBE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1ED87-0A44-8EE8-FE8B-BA9CB856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95250-7E28-0C5C-3B70-8FEE76A4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7EF84-D6E8-674C-1280-3CB13113E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76B7F-9DE7-B2C1-4F33-1A385716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B62F9-C104-68D7-663C-577EEC7C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FFFA1-4BB7-1563-4CA9-D3C94E24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8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A84E-6275-D43F-3A40-8F265C46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40C52-F7F1-A831-46EC-A92CBDD35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B31F8-523F-673C-1F39-CEB5FA033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92804-1FB6-EC94-0C25-C8888097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24EC3-5BF4-4E8C-4259-39CF77A6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2542-1034-E6EE-14BF-D3921E3F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0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AAB4-E324-4A70-5885-C531CF9E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94BB7-38CC-641A-0DBC-A15A549A7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382A-4C05-CA36-A09D-2780A4A8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38E07-4B10-6BC8-FA21-9DCDA249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9CFFF-AFF3-BADB-01A3-FF16EBA0F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7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B4BC9-7A0E-E08A-FC45-54B380D91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A69DC-9709-BB52-53E6-C96B003F3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001EA-E1CC-8C0F-F696-700E0D99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D930E-A30E-7CE0-0134-80CB4DDA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47791-4142-1C01-6788-281D7EEC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2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ED2AF-B591-480F-CB45-6B24EF51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87E50-D2A2-32BB-9102-2A4566A8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43C66-D61C-531F-81F7-47EE89643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D7697-409E-4089-9C35-E6B28BB7463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27D3-0F5F-432F-8D37-BDD8763C8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62AC-3B59-65BC-B54A-87DD2EFF0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71396-5725-4753-8877-68473E90E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4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54F0-8D12-8272-24D6-54FE980FC8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M" sz="8800" b="1" dirty="0">
                <a:solidFill>
                  <a:srgbClr val="C00000"/>
                </a:solidFill>
              </a:rPr>
              <a:t>CONGESTIVE </a:t>
            </a:r>
            <a:r>
              <a:rPr lang="en-GM" sz="8800" b="1">
                <a:solidFill>
                  <a:srgbClr val="C00000"/>
                </a:solidFill>
              </a:rPr>
              <a:t>HEART FAILURE (</a:t>
            </a:r>
            <a:r>
              <a:rPr lang="en-GM" sz="8800" b="1" dirty="0">
                <a:solidFill>
                  <a:srgbClr val="C00000"/>
                </a:solidFill>
              </a:rPr>
              <a:t>CHF)</a:t>
            </a:r>
            <a:endParaRPr lang="en-US" sz="88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A1A54-1E49-8A2E-EB58-ED6BE3ED0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GM" sz="4800" b="1" dirty="0">
                <a:solidFill>
                  <a:srgbClr val="002060"/>
                </a:solidFill>
              </a:rPr>
              <a:t>PREPARED AND PRESENTED </a:t>
            </a:r>
          </a:p>
          <a:p>
            <a:r>
              <a:rPr lang="en-GM" sz="4800" b="1" dirty="0">
                <a:solidFill>
                  <a:srgbClr val="002060"/>
                </a:solidFill>
              </a:rPr>
              <a:t>BY</a:t>
            </a:r>
          </a:p>
          <a:p>
            <a:r>
              <a:rPr lang="en-GM" sz="4800" b="1" dirty="0">
                <a:solidFill>
                  <a:srgbClr val="002060"/>
                </a:solidFill>
              </a:rPr>
              <a:t>MR. ALBERT MENDY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49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977E-3314-35BE-8AAA-B744D77E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5400" b="1" dirty="0">
                <a:solidFill>
                  <a:srgbClr val="C00000"/>
                </a:solidFill>
              </a:rPr>
              <a:t>DEFINITION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F40D-7F5E-9BC7-429A-5CED6885E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000" dirty="0"/>
              <a:t>Congestive heart failure occurs when the heart is unable to pump blood throughout the body efficiently.</a:t>
            </a:r>
          </a:p>
          <a:p>
            <a:r>
              <a:rPr lang="en-US" sz="4000" dirty="0"/>
              <a:t>E</a:t>
            </a:r>
            <a:r>
              <a:rPr lang="en-GM" sz="4000" dirty="0" err="1"/>
              <a:t>arly</a:t>
            </a:r>
            <a:r>
              <a:rPr lang="en-GM" sz="4000" dirty="0"/>
              <a:t> diagnosis, lifestyle changes, and medical treatment can help manage</a:t>
            </a:r>
            <a:r>
              <a:rPr lang="en-GM" sz="4000" b="1" dirty="0">
                <a:solidFill>
                  <a:srgbClr val="002060"/>
                </a:solidFill>
              </a:rPr>
              <a:t> CHF </a:t>
            </a:r>
            <a:r>
              <a:rPr lang="en-GM" sz="4000" dirty="0"/>
              <a:t>and prevent it from progressing.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37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67F6-DCFB-0577-2FD3-2EA6D3F6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CAUSES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163F-75AC-75EB-03CA-EF9CD9140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</a:t>
            </a:r>
            <a:r>
              <a:rPr lang="en-GM" sz="4000" dirty="0" err="1"/>
              <a:t>igh</a:t>
            </a:r>
            <a:r>
              <a:rPr lang="en-GM" sz="4000" dirty="0"/>
              <a:t> blood pressure (hypertension)</a:t>
            </a:r>
          </a:p>
          <a:p>
            <a:r>
              <a:rPr lang="en-US" sz="4000" dirty="0"/>
              <a:t>C</a:t>
            </a:r>
            <a:r>
              <a:rPr lang="en-GM" sz="4000" dirty="0" err="1"/>
              <a:t>oronary</a:t>
            </a:r>
            <a:r>
              <a:rPr lang="en-GM" sz="4000" dirty="0"/>
              <a:t> artery disease</a:t>
            </a:r>
          </a:p>
          <a:p>
            <a:r>
              <a:rPr lang="en-US" sz="4000" dirty="0"/>
              <a:t>V</a:t>
            </a:r>
            <a:r>
              <a:rPr lang="en-GM" sz="4000" dirty="0" err="1"/>
              <a:t>alve</a:t>
            </a:r>
            <a:r>
              <a:rPr lang="en-GM" sz="4000" dirty="0"/>
              <a:t> conditions</a:t>
            </a:r>
          </a:p>
          <a:p>
            <a:r>
              <a:rPr lang="en-US" sz="4000" dirty="0"/>
              <a:t>D</a:t>
            </a:r>
            <a:r>
              <a:rPr lang="en-GM" sz="4000" dirty="0" err="1"/>
              <a:t>iabetes</a:t>
            </a:r>
            <a:endParaRPr lang="en-GM" sz="4000" dirty="0"/>
          </a:p>
          <a:p>
            <a:r>
              <a:rPr lang="en-US" sz="4000" dirty="0"/>
              <a:t>T</a:t>
            </a:r>
            <a:r>
              <a:rPr lang="en-GM" sz="4000" dirty="0" err="1"/>
              <a:t>hyroid</a:t>
            </a:r>
            <a:r>
              <a:rPr lang="en-GM" sz="4000" dirty="0"/>
              <a:t> disease</a:t>
            </a:r>
          </a:p>
          <a:p>
            <a:r>
              <a:rPr lang="en-GM" sz="4000" dirty="0"/>
              <a:t>obesity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4055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8D4A-2B93-4F0B-6E89-E68DA3B5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SIGNS ANSD SYMPTOMS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D5C8C-AF9A-8375-192C-D7AFA4A7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M" sz="3200" dirty="0"/>
              <a:t>Fatigue</a:t>
            </a:r>
          </a:p>
          <a:p>
            <a:r>
              <a:rPr lang="en-US" sz="3200" dirty="0"/>
              <a:t>S</a:t>
            </a:r>
            <a:r>
              <a:rPr lang="en-GM" sz="3200" dirty="0"/>
              <a:t>welling in ankles feet and legs</a:t>
            </a:r>
          </a:p>
          <a:p>
            <a:r>
              <a:rPr lang="en-US" sz="3200" dirty="0"/>
              <a:t>W</a:t>
            </a:r>
            <a:r>
              <a:rPr lang="en-GM" sz="3200" dirty="0"/>
              <a:t>eight gain</a:t>
            </a:r>
          </a:p>
          <a:p>
            <a:r>
              <a:rPr lang="en-US" sz="3200" dirty="0"/>
              <a:t>I</a:t>
            </a:r>
            <a:r>
              <a:rPr lang="en-GM" sz="3200" dirty="0" err="1"/>
              <a:t>ncrease</a:t>
            </a:r>
            <a:r>
              <a:rPr lang="en-GM" sz="3200" dirty="0"/>
              <a:t> needs to urinate , especially at night</a:t>
            </a:r>
          </a:p>
          <a:p>
            <a:r>
              <a:rPr lang="en-US" sz="3200" dirty="0"/>
              <a:t>I</a:t>
            </a:r>
            <a:r>
              <a:rPr lang="en-GM" sz="3200" dirty="0" err="1"/>
              <a:t>rregular</a:t>
            </a:r>
            <a:r>
              <a:rPr lang="en-GM" sz="3200" dirty="0"/>
              <a:t> heart beats</a:t>
            </a:r>
          </a:p>
          <a:p>
            <a:r>
              <a:rPr lang="en-US" sz="3200" dirty="0"/>
              <a:t>C</a:t>
            </a:r>
            <a:r>
              <a:rPr lang="en-GM" sz="3200" dirty="0" err="1"/>
              <a:t>ough</a:t>
            </a:r>
            <a:endParaRPr lang="en-GM" sz="3200" dirty="0"/>
          </a:p>
          <a:p>
            <a:r>
              <a:rPr lang="en-US" sz="3200" dirty="0"/>
              <a:t>W</a:t>
            </a:r>
            <a:r>
              <a:rPr lang="en-GM" sz="3200" dirty="0" err="1"/>
              <a:t>heezing</a:t>
            </a:r>
            <a:endParaRPr lang="en-GM" sz="3200" dirty="0"/>
          </a:p>
          <a:p>
            <a:r>
              <a:rPr lang="en-US" sz="3200" dirty="0"/>
              <a:t>D</a:t>
            </a:r>
            <a:r>
              <a:rPr lang="en-GM" sz="3200" dirty="0" err="1"/>
              <a:t>yspnoea</a:t>
            </a:r>
            <a:endParaRPr lang="en-GM" sz="3200" dirty="0"/>
          </a:p>
          <a:p>
            <a:r>
              <a:rPr lang="en-GM" sz="3200" dirty="0" err="1"/>
              <a:t>cynosis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8607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64D7-2DE5-A71A-3A07-04E80258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MEDICAL MANAGEMENT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9CE3-3B1D-D0BC-1E38-C162FD28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M" sz="3200" dirty="0"/>
              <a:t>There are several medications that can be used to treat CHF, including ACE inhibitors, beta blockers, etc...</a:t>
            </a:r>
          </a:p>
          <a:p>
            <a:r>
              <a:rPr lang="en-GM" sz="3200" b="1" dirty="0">
                <a:solidFill>
                  <a:srgbClr val="002060"/>
                </a:solidFill>
              </a:rPr>
              <a:t>ACE inhibitors: </a:t>
            </a:r>
            <a:r>
              <a:rPr lang="en-GM" sz="3200" dirty="0"/>
              <a:t>lisinopril, enalapril, ramipril 5-10mg OD, </a:t>
            </a:r>
          </a:p>
          <a:p>
            <a:r>
              <a:rPr lang="en-GM" sz="3200" b="1" dirty="0">
                <a:solidFill>
                  <a:srgbClr val="002060"/>
                </a:solidFill>
              </a:rPr>
              <a:t>POTASIUM SPARING DIURETICS </a:t>
            </a:r>
            <a:r>
              <a:rPr lang="en-GM" sz="3200" dirty="0" err="1"/>
              <a:t>eg</a:t>
            </a:r>
            <a:r>
              <a:rPr lang="en-GM" sz="3200" dirty="0"/>
              <a:t> spironolactone 25-100mg OD, Eplerenone,</a:t>
            </a:r>
          </a:p>
          <a:p>
            <a:r>
              <a:rPr lang="en-GM" sz="3200" b="1" dirty="0">
                <a:solidFill>
                  <a:srgbClr val="002060"/>
                </a:solidFill>
              </a:rPr>
              <a:t>NONSTEROIDAL ANTI-INFLAMMATORY DRUGS (NSAIDs): </a:t>
            </a:r>
            <a:r>
              <a:rPr lang="en-GM" sz="3200" dirty="0"/>
              <a:t>such as ibuprofen 400mg </a:t>
            </a:r>
            <a:r>
              <a:rPr lang="en-GM" sz="3200" dirty="0" err="1"/>
              <a:t>tds</a:t>
            </a:r>
            <a:r>
              <a:rPr lang="en-GM" sz="3200" dirty="0"/>
              <a:t>, aspirin 300mg </a:t>
            </a:r>
            <a:r>
              <a:rPr lang="en-GM" sz="3200" dirty="0" err="1"/>
              <a:t>tds</a:t>
            </a:r>
            <a:r>
              <a:rPr lang="en-GM" sz="3200" dirty="0"/>
              <a:t>, naproxen 50-100mg </a:t>
            </a:r>
            <a:r>
              <a:rPr lang="en-GM" sz="3200" dirty="0" err="1"/>
              <a:t>tds</a:t>
            </a:r>
            <a:endParaRPr lang="en-GM" sz="3200" dirty="0"/>
          </a:p>
          <a:p>
            <a:r>
              <a:rPr lang="en-GM" sz="3200" b="1" dirty="0">
                <a:solidFill>
                  <a:srgbClr val="002060"/>
                </a:solidFill>
              </a:rPr>
              <a:t>BETA-BLOCKERS: </a:t>
            </a:r>
            <a:r>
              <a:rPr lang="en-GM" sz="3200" dirty="0"/>
              <a:t>Atenolol 50-100mg OD, Bisoprolol 2.5-5mg OD, Metoprolol 50-100mg OD</a:t>
            </a:r>
            <a:r>
              <a:rPr lang="en-GM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52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4848-F464-9269-6FDC-2E573015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MEDICAL MANAGEMENT CONTS...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8AF1F-18FB-C651-6BCD-74B73892C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M" sz="3600" b="1" dirty="0">
                <a:solidFill>
                  <a:srgbClr val="002060"/>
                </a:solidFill>
              </a:rPr>
              <a:t>LOOP DIURETICS: </a:t>
            </a:r>
            <a:r>
              <a:rPr lang="en-GM" sz="3600" dirty="0"/>
              <a:t>Furosemide 40mg </a:t>
            </a:r>
            <a:r>
              <a:rPr lang="en-GM" sz="3600" dirty="0" err="1"/>
              <a:t>tds</a:t>
            </a:r>
            <a:r>
              <a:rPr lang="en-GM" sz="3600" dirty="0"/>
              <a:t>, Torsemide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THIAZIDE DIURETICS: </a:t>
            </a:r>
            <a:r>
              <a:rPr lang="en-GM" sz="3600" dirty="0"/>
              <a:t>This cause the blood vessels to widen and help the body remove any extra fluid. </a:t>
            </a:r>
            <a:r>
              <a:rPr lang="en-US" sz="3600" dirty="0"/>
              <a:t>E</a:t>
            </a:r>
            <a:r>
              <a:rPr lang="en-GM" sz="3600" dirty="0"/>
              <a:t>g </a:t>
            </a:r>
            <a:r>
              <a:rPr lang="en-GM" sz="3600" dirty="0" err="1"/>
              <a:t>hydrochlothiazide</a:t>
            </a:r>
            <a:r>
              <a:rPr lang="en-GM" sz="3600" dirty="0"/>
              <a:t> 25-50mg OD, Indapamide 5-10mg OD.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NITRATES</a:t>
            </a:r>
            <a:r>
              <a:rPr lang="en-GM" sz="3600" dirty="0"/>
              <a:t> </a:t>
            </a:r>
            <a:r>
              <a:rPr lang="en-GM" sz="3600" dirty="0" err="1"/>
              <a:t>eg</a:t>
            </a:r>
            <a:r>
              <a:rPr lang="en-GM" sz="3600" dirty="0"/>
              <a:t> </a:t>
            </a:r>
            <a:r>
              <a:rPr lang="en-GM" sz="3600" dirty="0" err="1"/>
              <a:t>isorsobide</a:t>
            </a:r>
            <a:r>
              <a:rPr lang="en-GM" sz="3600" dirty="0"/>
              <a:t> dinitrates, 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SURGERIES AND PROCEDURES: </a:t>
            </a:r>
            <a:r>
              <a:rPr lang="en-GM" sz="3600" dirty="0" err="1"/>
              <a:t>eg</a:t>
            </a:r>
            <a:r>
              <a:rPr lang="en-GM" sz="3600" dirty="0"/>
              <a:t> Angioplasty, a procedure to open blocked arteries.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VALVE REPAIR SURGERY: </a:t>
            </a:r>
            <a:r>
              <a:rPr lang="en-GM" sz="3600" dirty="0"/>
              <a:t>To help the valves open and close properly.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1563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1F28-043A-218F-7D7C-C409CE82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NURSING MANAGEMENT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FF57-CEDB-ACD8-5B5C-880CEB81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M" sz="3500" dirty="0"/>
              <a:t>Monitor vital signs</a:t>
            </a:r>
          </a:p>
          <a:p>
            <a:r>
              <a:rPr lang="en-US" sz="3500" dirty="0"/>
              <a:t>R</a:t>
            </a:r>
            <a:r>
              <a:rPr lang="en-GM" sz="3500" dirty="0" err="1"/>
              <a:t>eassure</a:t>
            </a:r>
            <a:r>
              <a:rPr lang="en-GM" sz="3500" dirty="0"/>
              <a:t> patient and family to relieve anxiety</a:t>
            </a:r>
          </a:p>
          <a:p>
            <a:r>
              <a:rPr lang="en-US" sz="3500" dirty="0"/>
              <a:t>W</a:t>
            </a:r>
            <a:r>
              <a:rPr lang="en-GM" sz="3500" dirty="0" err="1"/>
              <a:t>eigh</a:t>
            </a:r>
            <a:r>
              <a:rPr lang="en-GM" sz="3500" dirty="0"/>
              <a:t> the patient daily</a:t>
            </a:r>
          </a:p>
          <a:p>
            <a:r>
              <a:rPr lang="en-US" sz="3500" dirty="0"/>
              <a:t>A</a:t>
            </a:r>
            <a:r>
              <a:rPr lang="en-GM" sz="3500" dirty="0" err="1"/>
              <a:t>dminister</a:t>
            </a:r>
            <a:r>
              <a:rPr lang="en-GM" sz="3500" dirty="0"/>
              <a:t> oxygen as prescribe</a:t>
            </a:r>
          </a:p>
          <a:p>
            <a:r>
              <a:rPr lang="en-US" sz="3500" dirty="0"/>
              <a:t>A</a:t>
            </a:r>
            <a:r>
              <a:rPr lang="en-GM" sz="3500" dirty="0" err="1"/>
              <a:t>dminister</a:t>
            </a:r>
            <a:r>
              <a:rPr lang="en-GM" sz="3500" dirty="0"/>
              <a:t> the medications as prescribe</a:t>
            </a:r>
          </a:p>
          <a:p>
            <a:r>
              <a:rPr lang="en-US" sz="3500" dirty="0"/>
              <a:t>S</a:t>
            </a:r>
            <a:r>
              <a:rPr lang="en-GM" sz="3500" dirty="0"/>
              <a:t>et the IV line </a:t>
            </a:r>
          </a:p>
          <a:p>
            <a:r>
              <a:rPr lang="en-US" sz="3500" dirty="0"/>
              <a:t>H</a:t>
            </a:r>
            <a:r>
              <a:rPr lang="en-GM" sz="3500" dirty="0" err="1"/>
              <a:t>ealth</a:t>
            </a:r>
            <a:r>
              <a:rPr lang="en-GM" sz="3500" dirty="0"/>
              <a:t> educate the patient and family members about the condition</a:t>
            </a:r>
          </a:p>
          <a:p>
            <a:r>
              <a:rPr lang="en-US" sz="3500" dirty="0"/>
              <a:t>H</a:t>
            </a:r>
            <a:r>
              <a:rPr lang="en-GM" sz="3500" dirty="0" err="1"/>
              <a:t>ealth</a:t>
            </a:r>
            <a:r>
              <a:rPr lang="en-GM" sz="3500" dirty="0"/>
              <a:t> educate about the dietary restrictions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83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9ACD-01EB-AC1C-6262-AAC3DACC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5400" b="1" dirty="0">
                <a:solidFill>
                  <a:srgbClr val="C00000"/>
                </a:solidFill>
              </a:rPr>
              <a:t>PREVENTION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E265-BB6F-E0F6-8DB4-109DD8B3F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sz="4400" dirty="0"/>
              <a:t>Avoid smoking</a:t>
            </a:r>
          </a:p>
          <a:p>
            <a:r>
              <a:rPr lang="en-US" sz="4400" dirty="0"/>
              <a:t>M</a:t>
            </a:r>
            <a:r>
              <a:rPr lang="en-GM" sz="4400" dirty="0" err="1"/>
              <a:t>aintain</a:t>
            </a:r>
            <a:r>
              <a:rPr lang="en-GM" sz="4400" dirty="0"/>
              <a:t> a well balance diet</a:t>
            </a:r>
          </a:p>
          <a:p>
            <a:r>
              <a:rPr lang="en-GM" sz="4400" dirty="0"/>
              <a:t>Regular exercise</a:t>
            </a:r>
          </a:p>
          <a:p>
            <a:r>
              <a:rPr lang="en-US" sz="4400" dirty="0"/>
              <a:t>W</a:t>
            </a:r>
            <a:r>
              <a:rPr lang="en-GM" sz="4400" dirty="0" err="1"/>
              <a:t>atch</a:t>
            </a:r>
            <a:r>
              <a:rPr lang="en-GM" sz="4400" dirty="0"/>
              <a:t> your weight</a:t>
            </a:r>
          </a:p>
          <a:p>
            <a:r>
              <a:rPr lang="en-US" sz="4400" dirty="0"/>
              <a:t>A</a:t>
            </a:r>
            <a:r>
              <a:rPr lang="en-GM" sz="4400" dirty="0"/>
              <a:t>void excessive alcohol intake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67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2270-79A1-798C-2144-F011CB5E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COMPLICATIONS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C6EB-DE92-F988-19E2-2F950A48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M" sz="4000" dirty="0"/>
              <a:t>Renal failure</a:t>
            </a:r>
          </a:p>
          <a:p>
            <a:r>
              <a:rPr lang="en-US" sz="4000" dirty="0"/>
              <a:t>I</a:t>
            </a:r>
            <a:r>
              <a:rPr lang="en-GM" sz="4000" dirty="0" err="1"/>
              <a:t>mpaired</a:t>
            </a:r>
            <a:r>
              <a:rPr lang="en-GM" sz="4000" dirty="0"/>
              <a:t> liver function</a:t>
            </a:r>
          </a:p>
          <a:p>
            <a:r>
              <a:rPr lang="en-US" sz="4000" dirty="0"/>
              <a:t>H</a:t>
            </a:r>
            <a:r>
              <a:rPr lang="en-GM" sz="4000" dirty="0" err="1"/>
              <a:t>ypokalemia</a:t>
            </a:r>
            <a:endParaRPr lang="en-GM" sz="4000" dirty="0"/>
          </a:p>
          <a:p>
            <a:r>
              <a:rPr lang="en-US" sz="4000" dirty="0"/>
              <a:t>A</a:t>
            </a:r>
            <a:r>
              <a:rPr lang="en-GM" sz="4000" dirty="0" err="1"/>
              <a:t>rrhythmias</a:t>
            </a:r>
            <a:endParaRPr lang="en-GM" sz="4000" dirty="0"/>
          </a:p>
          <a:p>
            <a:r>
              <a:rPr lang="en-US" sz="4000" dirty="0"/>
              <a:t>V</a:t>
            </a:r>
            <a:r>
              <a:rPr lang="en-GM" sz="4000" dirty="0" err="1"/>
              <a:t>enous</a:t>
            </a:r>
            <a:r>
              <a:rPr lang="en-GM" sz="4000" dirty="0"/>
              <a:t> thromboembolism</a:t>
            </a:r>
          </a:p>
          <a:p>
            <a:r>
              <a:rPr lang="en-US" sz="4000" dirty="0"/>
              <a:t>S</a:t>
            </a:r>
            <a:r>
              <a:rPr lang="en-GM" sz="4000" dirty="0" err="1"/>
              <a:t>udden</a:t>
            </a:r>
            <a:r>
              <a:rPr lang="en-GM" sz="4000" dirty="0"/>
              <a:t> death</a:t>
            </a:r>
          </a:p>
          <a:p>
            <a:r>
              <a:rPr lang="en-GM" sz="4000" dirty="0"/>
              <a:t>Pleural </a:t>
            </a:r>
            <a:r>
              <a:rPr lang="en-GM" sz="4000"/>
              <a:t>effussion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8354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901A-BA91-C172-A154-68815172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8800" b="1" dirty="0">
                <a:solidFill>
                  <a:srgbClr val="C00000"/>
                </a:solidFill>
              </a:rPr>
              <a:t>THE END</a:t>
            </a:r>
            <a:endParaRPr lang="en-US" sz="8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AC304-4591-AD79-97BC-00B1FE6D3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800" b="1" dirty="0">
                <a:solidFill>
                  <a:srgbClr val="002060"/>
                </a:solidFill>
              </a:rPr>
              <a:t>THANK YOU</a:t>
            </a:r>
          </a:p>
          <a:p>
            <a:r>
              <a:rPr lang="en-GM" sz="4800" b="1" dirty="0">
                <a:solidFill>
                  <a:srgbClr val="002060"/>
                </a:solidFill>
              </a:rPr>
              <a:t>ANY QUESTIONS!!!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58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355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CONGESTIVE HEART FAILURE (CHF)</vt:lpstr>
      <vt:lpstr>DEFINITION</vt:lpstr>
      <vt:lpstr>CAUSES</vt:lpstr>
      <vt:lpstr>SIGNS ANSD SYMPTOMS</vt:lpstr>
      <vt:lpstr>MEDICAL MANAGEMENT</vt:lpstr>
      <vt:lpstr>MEDICAL MANAGEMENT CONTS...</vt:lpstr>
      <vt:lpstr>NURSING MANAGEMENT</vt:lpstr>
      <vt:lpstr>PREVENTION</vt:lpstr>
      <vt:lpstr>COMPLICATIONS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albertmendy710@gmail.com</dc:creator>
  <cp:lastModifiedBy>albertmendy710@gmail.com</cp:lastModifiedBy>
  <cp:revision>3</cp:revision>
  <dcterms:created xsi:type="dcterms:W3CDTF">2024-09-04T10:40:21Z</dcterms:created>
  <dcterms:modified xsi:type="dcterms:W3CDTF">2026-02-11T11:16:21Z</dcterms:modified>
</cp:coreProperties>
</file>