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97" autoAdjust="0"/>
    <p:restoredTop sz="94660"/>
  </p:normalViewPr>
  <p:slideViewPr>
    <p:cSldViewPr snapToGrid="0">
      <p:cViewPr varScale="1">
        <p:scale>
          <a:sx n="94" d="100"/>
          <a:sy n="94" d="100"/>
        </p:scale>
        <p:origin x="36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22B094-FE27-FE1E-7342-193A7E53A37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0B9C406-551B-9EB1-6CF8-F9981018A0B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6BC4BC-DAA6-6C80-5339-09377B9BC9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21B95D-6CD5-485A-BA96-7C59FE553001}" type="datetimeFigureOut">
              <a:rPr lang="en-US" smtClean="0"/>
              <a:t>1/28/2025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16B39C-52DF-C751-203D-17D3440B11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E0134F-D15A-7A73-79A7-81C5EC2CD9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631FE3-D466-47CD-B9D1-B9209FF1F2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47627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1901CD-7927-206E-9581-ED46CD2FB7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0EFBF4-A348-A830-B82D-19C5F31491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6BFAAD-7F32-0CCF-34B0-2426BCEF4A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21B95D-6CD5-485A-BA96-7C59FE553001}" type="datetimeFigureOut">
              <a:rPr lang="en-US" smtClean="0"/>
              <a:t>1/28/2025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E85A3D-AAD1-2765-CB75-7F50396414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3F80E7-711C-07C9-0D05-E87B493B85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631FE3-D466-47CD-B9D1-B9209FF1F2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73488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78D803-CAB0-3B16-0A56-CA091A1197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DE6AF32-1B58-F53B-A606-CBC526220B7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108C1B-E4B3-4CBA-CD1D-47143E7ACC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21B95D-6CD5-485A-BA96-7C59FE553001}" type="datetimeFigureOut">
              <a:rPr lang="en-US" smtClean="0"/>
              <a:t>1/28/2025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3B90B2-54AC-92EE-FC99-779D419729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795E43-812D-EB0B-27C4-3C64454D5B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631FE3-D466-47CD-B9D1-B9209FF1F2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023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B5E1CD-FB91-C09F-12E1-223FB538D5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5BB6BD-6398-7C64-983F-96FA572BD1A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622AB69-5EDA-C3EA-C04E-20CCBE63443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9AECE3D-1001-F20E-67D4-3961BC5C3F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21B95D-6CD5-485A-BA96-7C59FE553001}" type="datetimeFigureOut">
              <a:rPr lang="en-US" smtClean="0"/>
              <a:t>1/28/2025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52459FE-D7CF-8074-F250-7C94E85025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3B82FAE-E899-5AED-44F8-D7FEAE448A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631FE3-D466-47CD-B9D1-B9209FF1F2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32997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666A72-0438-C653-6ED1-2ED464FB87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796890E-3930-83B7-7A0D-7F37656A97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C1022C6-205A-1BF5-5F49-4C1D50D87F9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8BD1000-2673-97AD-F85B-8C580779D56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EFD9FB8-8B4D-E6C3-5CF5-E6DE5A0AA5C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1D136F4-75C2-A85A-2BD5-57A21D4129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21B95D-6CD5-485A-BA96-7C59FE553001}" type="datetimeFigureOut">
              <a:rPr lang="en-US" smtClean="0"/>
              <a:t>1/28/2025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A36BEF9-438A-4F29-758F-442D08B097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8042E8E-C82C-67B2-FE53-3C79C2D881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631FE3-D466-47CD-B9D1-B9209FF1F2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55326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EBF91E-2FDB-4E12-8F38-D02EAEF040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F152392-458B-9AD6-6941-83B31411E0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21B95D-6CD5-485A-BA96-7C59FE553001}" type="datetimeFigureOut">
              <a:rPr lang="en-US" smtClean="0"/>
              <a:t>1/28/2025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228CD1E-3164-E47D-20CE-0294BE748E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7F165E8-DAD1-69B2-D6D4-87B71B1C89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631FE3-D466-47CD-B9D1-B9209FF1F2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96929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BC28018-6309-64CE-4A2A-6C8D9CB4E5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21B95D-6CD5-485A-BA96-7C59FE553001}" type="datetimeFigureOut">
              <a:rPr lang="en-US" smtClean="0"/>
              <a:t>1/28/2025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CFEC0FC-80D0-74E8-19D1-481D3AEB80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EB3D0E3-F6AA-B680-AF9E-895A87B711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631FE3-D466-47CD-B9D1-B9209FF1F2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01014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BC299A-F60F-AA45-700C-3A1114B061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BAB5A4-A358-C1AB-7B38-0EB6BF4CFF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0FAC31C-82A5-EDAC-4E0B-AAFDA73E25F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0076AF7-582A-BF1A-E3CB-E8577AAA9A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21B95D-6CD5-485A-BA96-7C59FE553001}" type="datetimeFigureOut">
              <a:rPr lang="en-US" smtClean="0"/>
              <a:t>1/28/2025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1736F6A-F790-9CDE-24E7-FC13B17044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30AA46B-BF6C-438F-BA38-3B186848FE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631FE3-D466-47CD-B9D1-B9209FF1F2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11244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6CE933-8755-1E1C-030B-5E805E0150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313B6C8-C945-A2C7-E1BD-E760F303308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003C9E2-9496-0606-C266-F8B782B9CEA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B35A928-B706-54BD-8171-A451DCAD33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21B95D-6CD5-485A-BA96-7C59FE553001}" type="datetimeFigureOut">
              <a:rPr lang="en-US" smtClean="0"/>
              <a:t>1/28/2025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ABE8AA2-51E0-B3C0-23E1-D71BD7D899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C5D3EDF-DF0F-155E-2D1E-9DAB078AAE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631FE3-D466-47CD-B9D1-B9209FF1F2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71466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62E45D-3F85-0582-6046-DC0C330C63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FD9C6AD-F1DF-75B8-5B32-F4D5A818FF2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2696CA-B03F-3DCF-D418-D1CF31DB71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21B95D-6CD5-485A-BA96-7C59FE553001}" type="datetimeFigureOut">
              <a:rPr lang="en-US" smtClean="0"/>
              <a:t>1/28/2025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F1FCA6-3A78-547E-D62C-7BB88573A4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BC9738-AC84-9C8C-3EE0-9D108AC33E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631FE3-D466-47CD-B9D1-B9209FF1F2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87328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DE80ACC-8379-5F86-FB32-A4506F4475F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3F1677A-5367-C711-4D73-5B6D5C3CA46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10DF8E-AEEF-29D5-8F7B-BB82C4050B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21B95D-6CD5-485A-BA96-7C59FE553001}" type="datetimeFigureOut">
              <a:rPr lang="en-US" smtClean="0"/>
              <a:t>1/28/2025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97A8CE-4CEA-F8FE-A740-9721BAF61C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27965B-5E00-9F79-5568-EF8FDCD33F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631FE3-D466-47CD-B9D1-B9209FF1F2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8388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DEFA2AB-4FCF-0F71-3C85-8EBBBA96EA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369D16-9E6D-C6E9-AC4D-4BFBE43646F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426452-9793-1FC8-4E33-3E3EDA181E0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421B95D-6CD5-485A-BA96-7C59FE553001}" type="datetimeFigureOut">
              <a:rPr lang="en-US" smtClean="0"/>
              <a:t>1/28/2025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B644A6-409F-289D-B790-0F001426B74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01DF57-D2F8-AD90-56B7-2EA2E525BB7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5631FE3-D466-47CD-B9D1-B9209FF1F2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9058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F82E93-1A5E-BCF5-28DF-DE9D6D9E815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GM" b="1" dirty="0">
                <a:solidFill>
                  <a:srgbClr val="C00000"/>
                </a:solidFill>
              </a:rPr>
              <a:t>GASTROESOPHAGEAL REFLUX DISEASE(GERD/GORD)</a:t>
            </a:r>
            <a:endParaRPr lang="en-US" b="1" dirty="0">
              <a:solidFill>
                <a:srgbClr val="C00000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A9577B5-8D6C-5AE3-FA4F-F5DAD6C3EA7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GM" sz="4400" b="1" dirty="0">
                <a:solidFill>
                  <a:srgbClr val="002060"/>
                </a:solidFill>
              </a:rPr>
              <a:t>PREPARED AND PRESENTED</a:t>
            </a:r>
          </a:p>
          <a:p>
            <a:r>
              <a:rPr lang="en-GM" sz="4400" b="1" dirty="0">
                <a:solidFill>
                  <a:srgbClr val="002060"/>
                </a:solidFill>
              </a:rPr>
              <a:t>BY MR. ALBERT MENDY</a:t>
            </a:r>
            <a:endParaRPr lang="en-US" sz="4400" b="1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888820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8C0C88-1F8C-B44D-0BA6-6944B57954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M" sz="6600" b="1" dirty="0">
                <a:solidFill>
                  <a:srgbClr val="C00000"/>
                </a:solidFill>
              </a:rPr>
              <a:t>DEFINITION</a:t>
            </a:r>
            <a:endParaRPr lang="en-US" sz="6600" b="1" dirty="0">
              <a:solidFill>
                <a:srgbClr val="C00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E8DC6B-4BFF-F011-D59C-379E706450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M" sz="4400" b="1" dirty="0"/>
              <a:t>GERD</a:t>
            </a:r>
            <a:r>
              <a:rPr lang="en-GM" sz="4400" dirty="0"/>
              <a:t> is defined as a chronic reflux of stomach content into the oesophagus due to damaged or weakened lower oesophageal </a:t>
            </a:r>
            <a:r>
              <a:rPr lang="en-GM" sz="4400" dirty="0" err="1"/>
              <a:t>sphinter</a:t>
            </a:r>
            <a:r>
              <a:rPr lang="en-GM" sz="4400" dirty="0"/>
              <a:t> </a:t>
            </a:r>
            <a:r>
              <a:rPr lang="en-GM" sz="4400" b="1" dirty="0"/>
              <a:t>(LES). GERD</a:t>
            </a:r>
            <a:r>
              <a:rPr lang="en-GM" sz="4400" dirty="0"/>
              <a:t> is also referred to as </a:t>
            </a:r>
            <a:r>
              <a:rPr lang="en-GM" sz="4400" b="1" dirty="0"/>
              <a:t>‘’</a:t>
            </a:r>
            <a:r>
              <a:rPr lang="en-GM" sz="4400" b="1" dirty="0" err="1"/>
              <a:t>aci</a:t>
            </a:r>
            <a:r>
              <a:rPr lang="en-US" sz="4400" b="1" dirty="0"/>
              <a:t>d</a:t>
            </a:r>
            <a:r>
              <a:rPr lang="en-GM" sz="4400" b="1" dirty="0"/>
              <a:t> reflux disease’’</a:t>
            </a:r>
            <a:endParaRPr lang="en-US" sz="4400" b="1" dirty="0"/>
          </a:p>
        </p:txBody>
      </p:sp>
    </p:spTree>
    <p:extLst>
      <p:ext uri="{BB962C8B-B14F-4D97-AF65-F5344CB8AC3E}">
        <p14:creationId xmlns:p14="http://schemas.microsoft.com/office/powerpoint/2010/main" val="42226985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8AD2B7-D69A-0B5F-2F93-097088987C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M" sz="6600" b="1" dirty="0">
                <a:solidFill>
                  <a:srgbClr val="C00000"/>
                </a:solidFill>
              </a:rPr>
              <a:t>CAUSES</a:t>
            </a:r>
            <a:endParaRPr lang="en-US" sz="6600" b="1" dirty="0">
              <a:solidFill>
                <a:srgbClr val="C00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EA9406-F8FC-93F7-4C7C-AC25B4260D1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M" dirty="0"/>
              <a:t>Weak or dysfunctional </a:t>
            </a:r>
            <a:r>
              <a:rPr lang="en-GM" b="1" dirty="0"/>
              <a:t>LES</a:t>
            </a:r>
          </a:p>
          <a:p>
            <a:r>
              <a:rPr lang="en-GM" b="1" dirty="0"/>
              <a:t>Delayed emptying of gastric content due to: </a:t>
            </a:r>
            <a:r>
              <a:rPr lang="en-GM" dirty="0"/>
              <a:t>increased gastric volume </a:t>
            </a:r>
            <a:r>
              <a:rPr lang="en-GM" b="1" dirty="0" err="1"/>
              <a:t>e.g</a:t>
            </a:r>
            <a:r>
              <a:rPr lang="en-GM" b="1" dirty="0"/>
              <a:t> </a:t>
            </a:r>
            <a:r>
              <a:rPr lang="en-GM" dirty="0"/>
              <a:t>overeating, left sided lying, in</a:t>
            </a:r>
            <a:r>
              <a:rPr lang="en-US" dirty="0"/>
              <a:t>c</a:t>
            </a:r>
            <a:r>
              <a:rPr lang="en-GM" dirty="0" err="1"/>
              <a:t>reased</a:t>
            </a:r>
            <a:r>
              <a:rPr lang="en-GM" dirty="0"/>
              <a:t> gastric pressure from carbonated beverages and fatty foods, pyloric stenosis.</a:t>
            </a:r>
          </a:p>
          <a:p>
            <a:r>
              <a:rPr lang="en-US" dirty="0"/>
              <a:t>A</a:t>
            </a:r>
            <a:r>
              <a:rPr lang="en-GM" dirty="0" err="1"/>
              <a:t>ge</a:t>
            </a:r>
            <a:endParaRPr lang="en-GM" dirty="0"/>
          </a:p>
          <a:p>
            <a:r>
              <a:rPr lang="en-US" dirty="0"/>
              <a:t>S</a:t>
            </a:r>
            <a:r>
              <a:rPr lang="en-GM" dirty="0"/>
              <a:t>tress</a:t>
            </a:r>
          </a:p>
          <a:p>
            <a:r>
              <a:rPr lang="en-US" dirty="0"/>
              <a:t>A</a:t>
            </a:r>
            <a:r>
              <a:rPr lang="en-GM" dirty="0" err="1"/>
              <a:t>nxiety</a:t>
            </a:r>
            <a:endParaRPr lang="en-GM" dirty="0"/>
          </a:p>
          <a:p>
            <a:r>
              <a:rPr lang="en-US" dirty="0"/>
              <a:t>P</a:t>
            </a:r>
            <a:r>
              <a:rPr lang="en-GM" dirty="0" err="1"/>
              <a:t>regnancy</a:t>
            </a:r>
            <a:endParaRPr lang="en-GM" dirty="0"/>
          </a:p>
          <a:p>
            <a:r>
              <a:rPr lang="en-US" dirty="0"/>
              <a:t>S</a:t>
            </a:r>
            <a:r>
              <a:rPr lang="en-GM" dirty="0" err="1"/>
              <a:t>moking</a:t>
            </a:r>
            <a:endParaRPr lang="en-GM" dirty="0"/>
          </a:p>
          <a:p>
            <a:endParaRPr lang="en-GM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2125262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B5E87A-07D3-9178-243D-55BE412ACC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M" sz="6600" b="1" dirty="0">
                <a:solidFill>
                  <a:srgbClr val="C00000"/>
                </a:solidFill>
              </a:rPr>
              <a:t>CAUSES....</a:t>
            </a:r>
            <a:endParaRPr lang="en-US" sz="6600" b="1" dirty="0">
              <a:solidFill>
                <a:srgbClr val="C00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82F1B8-BF56-ABA6-ACF8-4DAD342A71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M" dirty="0"/>
              <a:t>Obesity</a:t>
            </a:r>
          </a:p>
          <a:p>
            <a:r>
              <a:rPr lang="en-US" dirty="0"/>
              <a:t>A</a:t>
            </a:r>
            <a:r>
              <a:rPr lang="en-GM" dirty="0" err="1"/>
              <a:t>lcoholism</a:t>
            </a:r>
            <a:endParaRPr lang="en-GM" dirty="0"/>
          </a:p>
          <a:p>
            <a:r>
              <a:rPr lang="en-US" dirty="0"/>
              <a:t>S</a:t>
            </a:r>
            <a:r>
              <a:rPr lang="en-GM" dirty="0" err="1"/>
              <a:t>picy</a:t>
            </a:r>
            <a:r>
              <a:rPr lang="en-GM" dirty="0"/>
              <a:t> foods</a:t>
            </a:r>
          </a:p>
          <a:p>
            <a:r>
              <a:rPr lang="en-US" dirty="0"/>
              <a:t>S</a:t>
            </a:r>
            <a:r>
              <a:rPr lang="en-GM" dirty="0" err="1"/>
              <a:t>ome</a:t>
            </a:r>
            <a:r>
              <a:rPr lang="en-GM" dirty="0"/>
              <a:t> medications </a:t>
            </a:r>
            <a:r>
              <a:rPr lang="en-GM" dirty="0" err="1"/>
              <a:t>e.g</a:t>
            </a:r>
            <a:r>
              <a:rPr lang="en-GM" dirty="0"/>
              <a:t> </a:t>
            </a:r>
            <a:r>
              <a:rPr lang="en-GM" b="1" dirty="0"/>
              <a:t>NSAIDS, </a:t>
            </a:r>
            <a:r>
              <a:rPr lang="en-GM" b="1" dirty="0" err="1"/>
              <a:t>CCBs</a:t>
            </a:r>
            <a:r>
              <a:rPr lang="en-GM" b="1" dirty="0"/>
              <a:t>, 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3675285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7E8AD9-A3CD-78A5-19EB-70767FE633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M" sz="6600" b="1" dirty="0">
                <a:solidFill>
                  <a:srgbClr val="C00000"/>
                </a:solidFill>
              </a:rPr>
              <a:t>CLINICAL MANIFESTATIONS</a:t>
            </a:r>
            <a:endParaRPr lang="en-US" sz="6600" b="1" dirty="0">
              <a:solidFill>
                <a:srgbClr val="C00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6B3A0F-BCF3-B5E7-1F6C-847046E20D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M" dirty="0"/>
              <a:t>Heart burn, epigastric pain</a:t>
            </a:r>
          </a:p>
          <a:p>
            <a:r>
              <a:rPr lang="en-US" dirty="0"/>
              <a:t>D</a:t>
            </a:r>
            <a:r>
              <a:rPr lang="en-GM" dirty="0" err="1"/>
              <a:t>yspepsia</a:t>
            </a:r>
            <a:endParaRPr lang="en-GM" dirty="0"/>
          </a:p>
          <a:p>
            <a:r>
              <a:rPr lang="en-US" dirty="0"/>
              <a:t>B</a:t>
            </a:r>
            <a:r>
              <a:rPr lang="en-GM" dirty="0" err="1"/>
              <a:t>itter</a:t>
            </a:r>
            <a:r>
              <a:rPr lang="en-GM" dirty="0"/>
              <a:t>/sour taste</a:t>
            </a:r>
          </a:p>
          <a:p>
            <a:r>
              <a:rPr lang="en-US" dirty="0"/>
              <a:t>H</a:t>
            </a:r>
            <a:r>
              <a:rPr lang="en-GM" dirty="0" err="1"/>
              <a:t>ypersalivation</a:t>
            </a:r>
            <a:endParaRPr lang="en-GM" dirty="0"/>
          </a:p>
          <a:p>
            <a:r>
              <a:rPr lang="en-US" dirty="0"/>
              <a:t>N</a:t>
            </a:r>
            <a:r>
              <a:rPr lang="en-GM" dirty="0" err="1"/>
              <a:t>ausea</a:t>
            </a:r>
            <a:r>
              <a:rPr lang="en-GM" dirty="0"/>
              <a:t> and vomiting</a:t>
            </a:r>
          </a:p>
        </p:txBody>
      </p:sp>
    </p:spTree>
    <p:extLst>
      <p:ext uri="{BB962C8B-B14F-4D97-AF65-F5344CB8AC3E}">
        <p14:creationId xmlns:p14="http://schemas.microsoft.com/office/powerpoint/2010/main" val="25499491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75E2F2-2AC2-B6DE-2609-D7670E04B8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M" sz="7200" b="1" dirty="0">
                <a:solidFill>
                  <a:srgbClr val="C00000"/>
                </a:solidFill>
              </a:rPr>
              <a:t>DIAGNOSTIC INVESTIGATIONS</a:t>
            </a:r>
            <a:endParaRPr lang="en-US" sz="7200" b="1" dirty="0">
              <a:solidFill>
                <a:srgbClr val="C00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7A88BA-6C0F-BDD0-AAE6-C1F0573086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M" b="1" dirty="0"/>
              <a:t>PH MONITORING: </a:t>
            </a:r>
            <a:r>
              <a:rPr lang="en-GM" dirty="0"/>
              <a:t>Tube placed in the lower oesophagus to measure the </a:t>
            </a:r>
            <a:r>
              <a:rPr lang="en-GM" b="1" dirty="0"/>
              <a:t>PH</a:t>
            </a:r>
            <a:r>
              <a:rPr lang="en-GM" dirty="0"/>
              <a:t> within </a:t>
            </a:r>
            <a:r>
              <a:rPr lang="en-GM" b="1" dirty="0"/>
              <a:t>24</a:t>
            </a:r>
            <a:r>
              <a:rPr lang="en-GM" dirty="0"/>
              <a:t> hours. </a:t>
            </a:r>
            <a:r>
              <a:rPr lang="en-GM" b="1" dirty="0"/>
              <a:t>PH</a:t>
            </a:r>
            <a:r>
              <a:rPr lang="en-GM" dirty="0"/>
              <a:t> of the oesophagus is </a:t>
            </a:r>
            <a:r>
              <a:rPr lang="en-GM" b="1" dirty="0"/>
              <a:t>7 </a:t>
            </a:r>
            <a:r>
              <a:rPr lang="en-GM" dirty="0"/>
              <a:t>and </a:t>
            </a:r>
            <a:r>
              <a:rPr lang="en-GM" b="1" dirty="0"/>
              <a:t>PH </a:t>
            </a:r>
            <a:r>
              <a:rPr lang="en-GM" dirty="0"/>
              <a:t>of the stomach is </a:t>
            </a:r>
            <a:r>
              <a:rPr lang="en-GM" b="1" dirty="0"/>
              <a:t>4. A PH of 5 </a:t>
            </a:r>
            <a:r>
              <a:rPr lang="en-GM" dirty="0"/>
              <a:t>or less is suggestive of the presence of acid in the </a:t>
            </a:r>
            <a:r>
              <a:rPr lang="en-GM" dirty="0" err="1"/>
              <a:t>esophagus</a:t>
            </a:r>
            <a:r>
              <a:rPr lang="en-GM" dirty="0"/>
              <a:t>.</a:t>
            </a:r>
          </a:p>
          <a:p>
            <a:r>
              <a:rPr lang="en-GM" dirty="0"/>
              <a:t>Barium swallow</a:t>
            </a:r>
          </a:p>
          <a:p>
            <a:r>
              <a:rPr lang="en-GM" dirty="0"/>
              <a:t>Upper </a:t>
            </a:r>
            <a:r>
              <a:rPr lang="en-GM" b="1" dirty="0"/>
              <a:t>G.I </a:t>
            </a:r>
            <a:r>
              <a:rPr lang="en-GM" dirty="0"/>
              <a:t>endoscopy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5444747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D0D135-71A4-1F6C-DD91-B647FA2AFC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M" sz="5400" b="1" dirty="0">
                <a:solidFill>
                  <a:srgbClr val="C00000"/>
                </a:solidFill>
              </a:rPr>
              <a:t>MEDICAL MANAGEMENT</a:t>
            </a:r>
            <a:endParaRPr lang="en-US" sz="5400" b="1" dirty="0">
              <a:solidFill>
                <a:srgbClr val="C00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BDAE43-C399-47C6-4A00-EE75135E8D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M" b="1" dirty="0"/>
              <a:t>PROTON PUMP INHIBITORS (PPIs) </a:t>
            </a:r>
            <a:r>
              <a:rPr lang="en-GM" b="1" dirty="0" err="1"/>
              <a:t>e.g</a:t>
            </a:r>
            <a:r>
              <a:rPr lang="en-GM" b="1" dirty="0"/>
              <a:t> </a:t>
            </a:r>
            <a:r>
              <a:rPr lang="en-GM" dirty="0"/>
              <a:t>omeprazole, </a:t>
            </a:r>
            <a:r>
              <a:rPr lang="en-GM" dirty="0" err="1"/>
              <a:t>oesomeprazole</a:t>
            </a:r>
            <a:r>
              <a:rPr lang="en-GM" dirty="0"/>
              <a:t>, lansoprazole, and pantoprazole.</a:t>
            </a:r>
          </a:p>
          <a:p>
            <a:r>
              <a:rPr lang="en-GM" b="1" dirty="0"/>
              <a:t>HISTAMINE 2 RECEPTORS BLOCKERS </a:t>
            </a:r>
            <a:r>
              <a:rPr lang="en-GM" b="1" dirty="0" err="1"/>
              <a:t>e.g</a:t>
            </a:r>
            <a:r>
              <a:rPr lang="en-GM" b="1" dirty="0"/>
              <a:t> </a:t>
            </a:r>
            <a:r>
              <a:rPr lang="en-GM" dirty="0"/>
              <a:t>c</a:t>
            </a:r>
            <a:r>
              <a:rPr lang="en-US" dirty="0" err="1"/>
              <a:t>i</a:t>
            </a:r>
            <a:r>
              <a:rPr lang="en-GM" dirty="0" err="1"/>
              <a:t>metidine</a:t>
            </a:r>
            <a:r>
              <a:rPr lang="en-GM" dirty="0"/>
              <a:t>, ranitidine, fam</a:t>
            </a:r>
            <a:r>
              <a:rPr lang="en-US" dirty="0"/>
              <a:t>o</a:t>
            </a:r>
            <a:r>
              <a:rPr lang="en-GM" dirty="0" err="1"/>
              <a:t>tidine</a:t>
            </a:r>
            <a:r>
              <a:rPr lang="en-GM" dirty="0"/>
              <a:t>, and n</a:t>
            </a:r>
            <a:r>
              <a:rPr lang="en-US" dirty="0" err="1"/>
              <a:t>i</a:t>
            </a:r>
            <a:r>
              <a:rPr lang="en-GM" dirty="0" err="1"/>
              <a:t>zatidine</a:t>
            </a:r>
            <a:endParaRPr lang="en-GM" dirty="0"/>
          </a:p>
          <a:p>
            <a:r>
              <a:rPr lang="en-GM" b="1" dirty="0"/>
              <a:t>ANTACIDS </a:t>
            </a:r>
            <a:r>
              <a:rPr lang="en-GM" b="1" dirty="0" err="1"/>
              <a:t>e.g</a:t>
            </a:r>
            <a:r>
              <a:rPr lang="en-GM" b="1" dirty="0"/>
              <a:t> </a:t>
            </a:r>
            <a:r>
              <a:rPr lang="en-GM" dirty="0"/>
              <a:t>magnesium hydroxide </a:t>
            </a:r>
            <a:r>
              <a:rPr lang="en-GM" b="1" dirty="0"/>
              <a:t>(milk of magnesium), </a:t>
            </a:r>
            <a:r>
              <a:rPr lang="en-GM" dirty="0"/>
              <a:t>calcium carbonate, sodium carbonate.</a:t>
            </a:r>
          </a:p>
          <a:p>
            <a:r>
              <a:rPr lang="en-GM" b="1" dirty="0"/>
              <a:t>PROKINETICS </a:t>
            </a:r>
            <a:r>
              <a:rPr lang="en-GM" b="1" dirty="0" err="1"/>
              <a:t>e.g</a:t>
            </a:r>
            <a:r>
              <a:rPr lang="en-GM" b="1" dirty="0"/>
              <a:t> </a:t>
            </a:r>
            <a:r>
              <a:rPr lang="en-GM" dirty="0" err="1"/>
              <a:t>metoclopr</a:t>
            </a:r>
            <a:r>
              <a:rPr lang="en-US" dirty="0"/>
              <a:t>a</a:t>
            </a:r>
            <a:r>
              <a:rPr lang="en-GM" dirty="0" err="1"/>
              <a:t>mide</a:t>
            </a:r>
            <a:endParaRPr lang="en-GM" dirty="0"/>
          </a:p>
          <a:p>
            <a:r>
              <a:rPr lang="en-GM" b="1" dirty="0"/>
              <a:t>SURGERY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41613923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F03138-E6C7-0887-8681-08B17D074B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GM" sz="4800" b="1" dirty="0">
                <a:solidFill>
                  <a:srgbClr val="C00000"/>
                </a:solidFill>
              </a:rPr>
              <a:t>NURSING AND LIFE STYLE MODIFICATIONS</a:t>
            </a:r>
            <a:endParaRPr lang="en-US" sz="4800" b="1" dirty="0">
              <a:solidFill>
                <a:srgbClr val="C00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F2229B-4DE3-56F5-FDEC-7FC2F632E1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M" dirty="0"/>
              <a:t>Advice patient to avoid spicy foods, carbonated beverages, alcohol, smoking etc...</a:t>
            </a:r>
          </a:p>
          <a:p>
            <a:r>
              <a:rPr lang="en-US" dirty="0"/>
              <a:t>E</a:t>
            </a:r>
            <a:r>
              <a:rPr lang="en-GM" dirty="0"/>
              <a:t>at low fat but high fibre diet to increase stomach emptying.</a:t>
            </a:r>
          </a:p>
          <a:p>
            <a:r>
              <a:rPr lang="en-US" dirty="0"/>
              <a:t>W</a:t>
            </a:r>
            <a:r>
              <a:rPr lang="en-GM" dirty="0"/>
              <a:t>earing of loose clothing</a:t>
            </a:r>
          </a:p>
          <a:p>
            <a:r>
              <a:rPr lang="en-US" dirty="0"/>
              <a:t>E</a:t>
            </a:r>
            <a:r>
              <a:rPr lang="en-GM" dirty="0" err="1"/>
              <a:t>levate</a:t>
            </a:r>
            <a:r>
              <a:rPr lang="en-GM" dirty="0"/>
              <a:t> head of the bed to about </a:t>
            </a:r>
            <a:r>
              <a:rPr lang="en-GM" b="1" dirty="0"/>
              <a:t>6-12 </a:t>
            </a:r>
            <a:r>
              <a:rPr lang="en-GM" dirty="0"/>
              <a:t>inches </a:t>
            </a:r>
            <a:r>
              <a:rPr lang="en-GM" b="1" dirty="0"/>
              <a:t>(15-20cm) </a:t>
            </a:r>
            <a:r>
              <a:rPr lang="en-GM" dirty="0"/>
              <a:t>high.</a:t>
            </a:r>
          </a:p>
          <a:p>
            <a:r>
              <a:rPr lang="en-US" dirty="0"/>
              <a:t>E</a:t>
            </a:r>
            <a:r>
              <a:rPr lang="en-GM" dirty="0"/>
              <a:t>at small frequent meals to decrease gastric pressure.</a:t>
            </a:r>
          </a:p>
          <a:p>
            <a:r>
              <a:rPr lang="en-US" dirty="0"/>
              <a:t>S</a:t>
            </a:r>
            <a:r>
              <a:rPr lang="en-GM" dirty="0"/>
              <a:t>it up at least 1 hour after eating before lying down.</a:t>
            </a:r>
          </a:p>
          <a:p>
            <a:r>
              <a:rPr lang="en-GM" dirty="0"/>
              <a:t>Avoid eating right before bed </a:t>
            </a:r>
            <a:r>
              <a:rPr lang="en-GM" b="1" dirty="0"/>
              <a:t>( last meal should be 3 hours before bed).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130058727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5395CC-24F1-14C5-6C51-9B7A2DCB7A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M" sz="6000" b="1" dirty="0">
                <a:solidFill>
                  <a:srgbClr val="C00000"/>
                </a:solidFill>
              </a:rPr>
              <a:t>COMPLICATIONS</a:t>
            </a:r>
            <a:endParaRPr lang="en-US" sz="6000" b="1" dirty="0">
              <a:solidFill>
                <a:srgbClr val="C00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E14243-31D9-2C16-850B-19159D6482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M" dirty="0"/>
              <a:t>Oesophagitis</a:t>
            </a:r>
          </a:p>
          <a:p>
            <a:r>
              <a:rPr lang="en-US" dirty="0"/>
              <a:t>S</a:t>
            </a:r>
            <a:r>
              <a:rPr lang="en-GM" dirty="0" err="1"/>
              <a:t>trictures</a:t>
            </a:r>
            <a:endParaRPr lang="en-GM" dirty="0"/>
          </a:p>
          <a:p>
            <a:r>
              <a:rPr lang="en-US" dirty="0"/>
              <a:t>R</a:t>
            </a:r>
            <a:r>
              <a:rPr lang="en-GM" dirty="0" err="1"/>
              <a:t>ecurrent</a:t>
            </a:r>
            <a:r>
              <a:rPr lang="en-GM" dirty="0"/>
              <a:t>/ chronic pneumonia</a:t>
            </a:r>
          </a:p>
          <a:p>
            <a:r>
              <a:rPr lang="en-US" dirty="0"/>
              <a:t>R</a:t>
            </a:r>
            <a:r>
              <a:rPr lang="en-GM" dirty="0" err="1"/>
              <a:t>ecurrent</a:t>
            </a:r>
            <a:r>
              <a:rPr lang="en-GM" dirty="0"/>
              <a:t> asthma</a:t>
            </a:r>
          </a:p>
          <a:p>
            <a:r>
              <a:rPr lang="en-US" dirty="0"/>
              <a:t>B</a:t>
            </a:r>
            <a:r>
              <a:rPr lang="en-GM" dirty="0" err="1"/>
              <a:t>ronchospasm</a:t>
            </a:r>
            <a:endParaRPr lang="en-GM" dirty="0"/>
          </a:p>
          <a:p>
            <a:r>
              <a:rPr lang="en-GM" dirty="0"/>
              <a:t>bronchitis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6174582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047EE2-0EFC-C23D-4809-5B50A57B72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M" sz="9600" b="1" dirty="0">
                <a:solidFill>
                  <a:srgbClr val="C00000"/>
                </a:solidFill>
              </a:rPr>
              <a:t>THE END</a:t>
            </a:r>
            <a:endParaRPr lang="en-US" sz="9600" b="1" dirty="0">
              <a:solidFill>
                <a:srgbClr val="C00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8F1B1C-3681-4EEA-F6C7-EC605B5E7E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M" sz="4800" b="1" dirty="0">
                <a:solidFill>
                  <a:srgbClr val="002060"/>
                </a:solidFill>
              </a:rPr>
              <a:t>THANK YOU</a:t>
            </a:r>
          </a:p>
          <a:p>
            <a:r>
              <a:rPr lang="en-GM" sz="4800" b="1" dirty="0">
                <a:solidFill>
                  <a:srgbClr val="002060"/>
                </a:solidFill>
              </a:rPr>
              <a:t>ANY QUESTIONS!!!</a:t>
            </a:r>
            <a:endParaRPr lang="en-US" sz="4800" b="1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1477412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</TotalTime>
  <Words>377</Words>
  <Application>Microsoft Office PowerPoint</Application>
  <PresentationFormat>Widescreen</PresentationFormat>
  <Paragraphs>52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Calibri Light</vt:lpstr>
      <vt:lpstr>Office Theme</vt:lpstr>
      <vt:lpstr>GASTROESOPHAGEAL REFLUX DISEASE(GERD/GORD)</vt:lpstr>
      <vt:lpstr>DEFINITION</vt:lpstr>
      <vt:lpstr>CAUSES</vt:lpstr>
      <vt:lpstr>CAUSES....</vt:lpstr>
      <vt:lpstr>CLINICAL MANIFESTATIONS</vt:lpstr>
      <vt:lpstr>DIAGNOSTIC INVESTIGATIONS</vt:lpstr>
      <vt:lpstr>MEDICAL MANAGEMENT</vt:lpstr>
      <vt:lpstr>NURSING AND LIFE STYLE MODIFICATIONS</vt:lpstr>
      <vt:lpstr>COMPLICATIONS</vt:lpstr>
      <vt:lpstr>THE END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albertmendy710@gmail.com</dc:creator>
  <cp:lastModifiedBy>albertmendy710@gmail.com</cp:lastModifiedBy>
  <cp:revision>2</cp:revision>
  <dcterms:created xsi:type="dcterms:W3CDTF">2025-01-27T13:47:18Z</dcterms:created>
  <dcterms:modified xsi:type="dcterms:W3CDTF">2025-01-28T11:03:41Z</dcterms:modified>
</cp:coreProperties>
</file>