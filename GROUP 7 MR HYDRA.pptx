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00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3AB28-7705-4186-97BE-9BA9B786403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F01E9-BC79-48A8-88DD-E73262B05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54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01E9-BC79-48A8-88DD-E73262B053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69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01E9-BC79-48A8-88DD-E73262B053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5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9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8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02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8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7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7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2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5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996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ED3CC-8AE8-4140-902C-3C519746F05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5E9C6-EE3B-4881-A7F6-CC9793994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1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lgerian" pitchFamily="82" charset="0"/>
              </a:rPr>
              <a:t>TOPIC:CUSHING </a:t>
            </a:r>
            <a:r>
              <a:rPr lang="en-US" b="1" dirty="0" smtClean="0">
                <a:latin typeface="Algerian" pitchFamily="82" charset="0"/>
              </a:rPr>
              <a:t>SYNDROME</a:t>
            </a:r>
            <a:br>
              <a:rPr lang="en-US" b="1" dirty="0" smtClean="0">
                <a:latin typeface="Algerian" pitchFamily="82" charset="0"/>
              </a:rPr>
            </a:br>
            <a:r>
              <a:rPr lang="en-US" b="1" dirty="0" smtClean="0">
                <a:latin typeface="Algerian" pitchFamily="82" charset="0"/>
              </a:rPr>
              <a:t>GROUP 7 MEMBERS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0" y="1535113"/>
            <a:ext cx="4040188" cy="639762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 smtClean="0">
                <a:latin typeface="Amazon Ember Serif Heavy" pitchFamily="18" charset="0"/>
              </a:rPr>
              <a:t>NAMES</a:t>
            </a:r>
            <a:endParaRPr lang="en-US" b="1" i="1" dirty="0">
              <a:latin typeface="Amazon Ember Serif Heavy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95128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FATOUMATTA CEESAY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FATOUMATA S TOURAY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GAFUREH JABBIE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LOLLY NYANG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BINTA KANYI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FATOUMATA JARRA FATTY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ESTHER UMEJESI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ALAGIE </a:t>
            </a:r>
            <a:r>
              <a:rPr lang="en-US" dirty="0" smtClean="0"/>
              <a:t>JALLOW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FATOUMATA A SOWE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5102225" y="1535113"/>
            <a:ext cx="4041775" cy="639762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 smtClean="0">
                <a:latin typeface="Amazon Ember Serif Heavy" pitchFamily="18" charset="0"/>
              </a:rPr>
              <a:t>GC NUMBERS</a:t>
            </a:r>
            <a:endParaRPr lang="en-US" b="1" i="1" dirty="0">
              <a:latin typeface="Amazon Ember Serif Heavy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4294967295"/>
          </p:nvPr>
        </p:nvSpPr>
        <p:spPr>
          <a:xfrm>
            <a:off x="5102225" y="2174875"/>
            <a:ext cx="4041775" cy="395128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2431127</a:t>
            </a:r>
          </a:p>
          <a:p>
            <a:r>
              <a:rPr lang="en-US" dirty="0" smtClean="0"/>
              <a:t>2431035</a:t>
            </a:r>
          </a:p>
          <a:p>
            <a:r>
              <a:rPr lang="en-US" dirty="0" smtClean="0"/>
              <a:t>2431144</a:t>
            </a:r>
          </a:p>
          <a:p>
            <a:r>
              <a:rPr lang="en-US" dirty="0" smtClean="0"/>
              <a:t>2431145</a:t>
            </a:r>
          </a:p>
          <a:p>
            <a:r>
              <a:rPr lang="en-US" dirty="0" smtClean="0"/>
              <a:t>2431164</a:t>
            </a:r>
          </a:p>
          <a:p>
            <a:r>
              <a:rPr lang="en-US" dirty="0" smtClean="0"/>
              <a:t>2431073</a:t>
            </a:r>
          </a:p>
          <a:p>
            <a:r>
              <a:rPr lang="en-US" dirty="0" smtClean="0"/>
              <a:t>2331133</a:t>
            </a:r>
          </a:p>
          <a:p>
            <a:r>
              <a:rPr lang="en-US" dirty="0" smtClean="0"/>
              <a:t>2431162</a:t>
            </a:r>
          </a:p>
          <a:p>
            <a:r>
              <a:rPr lang="en-US" dirty="0" smtClean="0"/>
              <a:t>2431153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2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PRESENTATION OUTLINE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0" y="1676400"/>
            <a:ext cx="90678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DEFINITION</a:t>
            </a:r>
          </a:p>
          <a:p>
            <a:r>
              <a:rPr lang="en-US" dirty="0" smtClean="0"/>
              <a:t>AETIOLOGY</a:t>
            </a:r>
          </a:p>
          <a:p>
            <a:r>
              <a:rPr lang="en-US" dirty="0" smtClean="0"/>
              <a:t>PATHOSPHYSIOLOGY</a:t>
            </a:r>
          </a:p>
          <a:p>
            <a:r>
              <a:rPr lang="en-US" dirty="0" smtClean="0"/>
              <a:t>TYPES</a:t>
            </a:r>
          </a:p>
          <a:p>
            <a:r>
              <a:rPr lang="en-US" dirty="0" smtClean="0"/>
              <a:t>SIGN AND SYMPTOM</a:t>
            </a:r>
          </a:p>
          <a:p>
            <a:r>
              <a:rPr lang="en-US" dirty="0" smtClean="0"/>
              <a:t>INVESTIGATION</a:t>
            </a:r>
          </a:p>
          <a:p>
            <a:r>
              <a:rPr lang="en-US" dirty="0" smtClean="0"/>
              <a:t>MEDICAL/NURSING MANAGEMENT</a:t>
            </a:r>
          </a:p>
          <a:p>
            <a:r>
              <a:rPr lang="en-US" dirty="0" smtClean="0"/>
              <a:t>NURSING DIAGNOSIS</a:t>
            </a:r>
          </a:p>
          <a:p>
            <a:r>
              <a:rPr lang="en-US" dirty="0" smtClean="0"/>
              <a:t>COMPLICATIONS</a:t>
            </a:r>
          </a:p>
          <a:p>
            <a:r>
              <a:rPr lang="en-US" dirty="0" smtClean="0"/>
              <a:t>DIFFERENTIAL DIAGNOSIS</a:t>
            </a:r>
          </a:p>
          <a:p>
            <a:r>
              <a:rPr lang="en-US" dirty="0" smtClean="0"/>
              <a:t>REFERENCE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30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INTRODUCTION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5257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Cushing syndrome is a disorder caused by prolonged exposure to high levels of cortisol. Cortisol is a hormone produced by the adrenal glands and is important for metabolism, blood pressure, immunity, and the body’s response to stress.</a:t>
            </a:r>
          </a:p>
          <a:p>
            <a:endParaRPr lang="en-US" dirty="0"/>
          </a:p>
          <a:p>
            <a:r>
              <a:rPr lang="en-US" dirty="0"/>
              <a:t>Cushing syndrome can occur because of long-term corticosteroid use or because the body produces too much cortisol. Cushing disease is a specific type of Cushing syndrome caused by an ACTH-producing pituitary </a:t>
            </a:r>
            <a:r>
              <a:rPr lang="en-US" dirty="0" smtClean="0"/>
              <a:t>tumor.</a:t>
            </a:r>
          </a:p>
          <a:p>
            <a:r>
              <a:rPr lang="en-US" dirty="0" smtClean="0"/>
              <a:t>More in women of 20-40 years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39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DEFINITION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Cushing syndrome is a clinical disorder resulting from prolonged exposure to abnormally high levels of glucocorticoids, particularly cortisol, either from endogenous overproduction by the body or from prolonged use of corticosteroid medications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It is characterized by excess cortisol secretion resulting from too much ACTH by pituitary.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8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AETIOLOGY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1540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causes of Cushing syndrome are divided into exogenous and endogenous </a:t>
            </a:r>
            <a:r>
              <a:rPr lang="en-US" dirty="0" smtClean="0"/>
              <a:t>causes:</a:t>
            </a:r>
          </a:p>
          <a:p>
            <a:pPr marL="0" indent="0">
              <a:buNone/>
            </a:pPr>
            <a:r>
              <a:rPr lang="en-US" dirty="0" smtClean="0"/>
              <a:t>Exogenous</a:t>
            </a:r>
            <a:r>
              <a:rPr lang="en-US" dirty="0"/>
              <a:t>: Long-term use of corticosteroid medications such as prednisolone, dexamethasone, and </a:t>
            </a:r>
            <a:r>
              <a:rPr lang="en-US" dirty="0" smtClean="0"/>
              <a:t>hydrocortisone.</a:t>
            </a:r>
          </a:p>
          <a:p>
            <a:pPr marL="0" indent="0">
              <a:buNone/>
            </a:pPr>
            <a:r>
              <a:rPr lang="en-US" dirty="0" smtClean="0"/>
              <a:t>Endogenous</a:t>
            </a:r>
            <a:r>
              <a:rPr lang="en-US" dirty="0"/>
              <a:t>: Excessive cortisol production by the body due </a:t>
            </a:r>
            <a:r>
              <a:rPr lang="en-US" dirty="0" smtClean="0"/>
              <a:t>to:</a:t>
            </a:r>
          </a:p>
          <a:p>
            <a:pPr marL="514350" indent="-514350">
              <a:buAutoNum type="arabicPeriod"/>
            </a:pPr>
            <a:r>
              <a:rPr lang="en-US" dirty="0" smtClean="0"/>
              <a:t>Pituitary </a:t>
            </a:r>
            <a:r>
              <a:rPr lang="en-US" dirty="0"/>
              <a:t>tumor producing excess ACTH — called Cushing </a:t>
            </a:r>
            <a:r>
              <a:rPr lang="en-US" dirty="0" smtClean="0"/>
              <a:t>disease.</a:t>
            </a:r>
          </a:p>
          <a:p>
            <a:pPr marL="514350" indent="-514350">
              <a:buAutoNum type="arabicPeriod"/>
            </a:pPr>
            <a:r>
              <a:rPr lang="en-US" dirty="0" smtClean="0"/>
              <a:t>2</a:t>
            </a:r>
            <a:r>
              <a:rPr lang="en-US" dirty="0"/>
              <a:t>. Adrenal tumor producing excess </a:t>
            </a:r>
            <a:r>
              <a:rPr lang="en-US" dirty="0" smtClean="0"/>
              <a:t>cortisol.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Ectopic ACTH-producing tumors, such as some lung or neuroendocrine tumors.</a:t>
            </a:r>
          </a:p>
        </p:txBody>
      </p:sp>
    </p:spTree>
    <p:extLst>
      <p:ext uri="{BB962C8B-B14F-4D97-AF65-F5344CB8AC3E}">
        <p14:creationId xmlns:p14="http://schemas.microsoft.com/office/powerpoint/2010/main" val="273244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PATHOPHYSIOLOGY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067800" cy="5181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Cushing syndrome occurs when the body is exposed to excess cortisol for a prolonged period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ACTH-dependent </a:t>
            </a:r>
            <a:r>
              <a:rPr lang="en-US" dirty="0"/>
              <a:t>pathway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Pituitary/ectopic tumor</a:t>
            </a:r>
          </a:p>
          <a:p>
            <a:pPr marL="0" indent="0">
              <a:buNone/>
            </a:pPr>
            <a:r>
              <a:rPr lang="en-US" dirty="0" smtClean="0"/>
              <a:t>         ↓</a:t>
            </a:r>
          </a:p>
          <a:p>
            <a:pPr marL="0" indent="0">
              <a:buNone/>
            </a:pPr>
            <a:r>
              <a:rPr lang="en-US" dirty="0" smtClean="0"/>
              <a:t>Increased ACTH</a:t>
            </a:r>
          </a:p>
          <a:p>
            <a:pPr marL="0" indent="0">
              <a:buNone/>
            </a:pPr>
            <a:r>
              <a:rPr lang="en-US" dirty="0" smtClean="0"/>
              <a:t>         ↓</a:t>
            </a:r>
          </a:p>
          <a:p>
            <a:pPr marL="0" indent="0">
              <a:buNone/>
            </a:pPr>
            <a:r>
              <a:rPr lang="en-US" dirty="0" smtClean="0"/>
              <a:t>Stimulation </a:t>
            </a:r>
            <a:r>
              <a:rPr lang="en-US" dirty="0"/>
              <a:t>of adrenal </a:t>
            </a:r>
            <a:r>
              <a:rPr lang="en-US" dirty="0" smtClean="0"/>
              <a:t>glands</a:t>
            </a:r>
          </a:p>
          <a:p>
            <a:pPr marL="0" indent="0">
              <a:buNone/>
            </a:pPr>
            <a:r>
              <a:rPr lang="en-US" dirty="0" smtClean="0"/>
              <a:t>         ↓</a:t>
            </a:r>
          </a:p>
          <a:p>
            <a:pPr marL="0" indent="0">
              <a:buNone/>
            </a:pPr>
            <a:r>
              <a:rPr lang="en-US" dirty="0" smtClean="0"/>
              <a:t>Excess </a:t>
            </a:r>
            <a:r>
              <a:rPr lang="en-US" dirty="0"/>
              <a:t>cortisol </a:t>
            </a:r>
            <a:r>
              <a:rPr lang="en-US" dirty="0" smtClean="0"/>
              <a:t>production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↓</a:t>
            </a:r>
          </a:p>
          <a:p>
            <a:pPr marL="0" indent="0">
              <a:buNone/>
            </a:pPr>
            <a:r>
              <a:rPr lang="en-US" dirty="0" smtClean="0"/>
              <a:t>Prolonged </a:t>
            </a:r>
            <a:r>
              <a:rPr lang="en-US" dirty="0"/>
              <a:t>high cortisol </a:t>
            </a:r>
            <a:r>
              <a:rPr lang="en-US" dirty="0" smtClean="0"/>
              <a:t>levels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↓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7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CONT’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Changes in metabolism, blood pressure, muscles, bones, immunity, and reproduction.</a:t>
            </a:r>
          </a:p>
          <a:p>
            <a:pPr marL="0" indent="0">
              <a:buNone/>
            </a:pPr>
            <a:r>
              <a:rPr lang="en-US" dirty="0"/>
              <a:t>ACTH-independent pathway:</a:t>
            </a:r>
          </a:p>
          <a:p>
            <a:pPr marL="0" indent="0">
              <a:buNone/>
            </a:pPr>
            <a:r>
              <a:rPr lang="en-US" dirty="0"/>
              <a:t>Adrenal </a:t>
            </a:r>
            <a:r>
              <a:rPr lang="en-US" dirty="0" smtClean="0"/>
              <a:t>abnormality/tumor</a:t>
            </a:r>
          </a:p>
          <a:p>
            <a:pPr marL="0" indent="0">
              <a:buNone/>
            </a:pPr>
            <a:r>
              <a:rPr lang="en-US" dirty="0" smtClean="0"/>
              <a:t>            ↓</a:t>
            </a:r>
          </a:p>
          <a:p>
            <a:pPr marL="0" indent="0">
              <a:buNone/>
            </a:pPr>
            <a:r>
              <a:rPr lang="en-US" dirty="0" smtClean="0"/>
              <a:t>Excess </a:t>
            </a:r>
            <a:r>
              <a:rPr lang="en-US" dirty="0"/>
              <a:t>cortisol </a:t>
            </a:r>
            <a:r>
              <a:rPr lang="en-US" dirty="0" smtClean="0"/>
              <a:t>production</a:t>
            </a:r>
          </a:p>
          <a:p>
            <a:pPr marL="0" indent="0">
              <a:buNone/>
            </a:pPr>
            <a:r>
              <a:rPr lang="en-US" dirty="0" smtClean="0"/>
              <a:t>            ↓</a:t>
            </a:r>
          </a:p>
          <a:p>
            <a:pPr marL="0" indent="0">
              <a:buNone/>
            </a:pPr>
            <a:r>
              <a:rPr lang="en-US" dirty="0" smtClean="0"/>
              <a:t>ACTH </a:t>
            </a:r>
            <a:r>
              <a:rPr lang="en-US" dirty="0"/>
              <a:t>becomes suppressed through negative </a:t>
            </a:r>
            <a:r>
              <a:rPr lang="en-US" dirty="0" smtClean="0"/>
              <a:t>feedback</a:t>
            </a:r>
          </a:p>
          <a:p>
            <a:pPr marL="0" indent="0">
              <a:buNone/>
            </a:pPr>
            <a:r>
              <a:rPr lang="en-US" dirty="0" smtClean="0"/>
              <a:t>            ↓</a:t>
            </a:r>
          </a:p>
          <a:p>
            <a:pPr marL="0" indent="0">
              <a:buNone/>
            </a:pPr>
            <a:r>
              <a:rPr lang="en-US" dirty="0" smtClean="0"/>
              <a:t>Prolonged </a:t>
            </a:r>
            <a:r>
              <a:rPr lang="en-US" dirty="0"/>
              <a:t>high cortisol </a:t>
            </a:r>
            <a:r>
              <a:rPr lang="en-US" dirty="0" smtClean="0"/>
              <a:t>levels</a:t>
            </a:r>
          </a:p>
          <a:p>
            <a:pPr marL="0" indent="0">
              <a:buNone/>
            </a:pPr>
            <a:r>
              <a:rPr lang="en-US" dirty="0" smtClean="0"/>
              <a:t>            ↓</a:t>
            </a:r>
          </a:p>
          <a:p>
            <a:pPr marL="0" indent="0">
              <a:buNone/>
            </a:pPr>
            <a:r>
              <a:rPr lang="en-US" dirty="0" smtClean="0"/>
              <a:t>Development </a:t>
            </a:r>
            <a:r>
              <a:rPr lang="en-US" dirty="0"/>
              <a:t>of the signs and symptoms of Cushing syndrome</a:t>
            </a:r>
          </a:p>
        </p:txBody>
      </p:sp>
    </p:spTree>
    <p:extLst>
      <p:ext uri="{BB962C8B-B14F-4D97-AF65-F5344CB8AC3E}">
        <p14:creationId xmlns:p14="http://schemas.microsoft.com/office/powerpoint/2010/main" val="421482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CUSHING SYNDROME</a:t>
            </a: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00200"/>
            <a:ext cx="7696200" cy="5105400"/>
          </a:xfrm>
        </p:spPr>
      </p:pic>
    </p:spTree>
    <p:extLst>
      <p:ext uri="{BB962C8B-B14F-4D97-AF65-F5344CB8AC3E}">
        <p14:creationId xmlns:p14="http://schemas.microsoft.com/office/powerpoint/2010/main" val="414822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TYPES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Exogenous</a:t>
            </a:r>
            <a:r>
              <a:rPr lang="en-US" dirty="0"/>
              <a:t>: Caused by long-term use of corticosteroid </a:t>
            </a:r>
            <a:r>
              <a:rPr lang="en-US" dirty="0" smtClean="0"/>
              <a:t>medicines.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/>
              <a:t>ACTH-dependent: Excess ACTH causes the adrenal glands to produce too much cortisol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* </a:t>
            </a:r>
            <a:r>
              <a:rPr lang="en-US" dirty="0"/>
              <a:t>Pituitary tumor → Cushing disease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* </a:t>
            </a:r>
            <a:r>
              <a:rPr lang="en-US" dirty="0"/>
              <a:t>Ectopic tumor → Excess ACTH from another part of the </a:t>
            </a:r>
            <a:r>
              <a:rPr lang="en-US" dirty="0" smtClean="0"/>
              <a:t>body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ACTH-independent</a:t>
            </a:r>
            <a:r>
              <a:rPr lang="en-US" dirty="0"/>
              <a:t>: The adrenal glands produce too much cortisol on their own, usually due to an adrenal tumor.</a:t>
            </a:r>
          </a:p>
        </p:txBody>
      </p:sp>
    </p:spTree>
    <p:extLst>
      <p:ext uri="{BB962C8B-B14F-4D97-AF65-F5344CB8AC3E}">
        <p14:creationId xmlns:p14="http://schemas.microsoft.com/office/powerpoint/2010/main" val="251094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SIGN AND SYMPTOM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Headache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Anxiety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Weight </a:t>
            </a:r>
            <a:r>
              <a:rPr lang="en-US" smtClean="0"/>
              <a:t>gain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Insert muscle weakness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Slower growth may occur despite weight gain in children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High blood sugar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Irregular menstrual periods in people who menstruate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Hypertension cause face flushing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7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INVESTIGATION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5105400"/>
          </a:xfrm>
        </p:spPr>
        <p:txBody>
          <a:bodyPr>
            <a:normAutofit fontScale="85000" lnSpcReduction="1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History </a:t>
            </a:r>
            <a:r>
              <a:rPr lang="en-US" dirty="0"/>
              <a:t>taking </a:t>
            </a:r>
            <a:r>
              <a:rPr lang="en-US" dirty="0" smtClean="0"/>
              <a:t> and physical examination– </a:t>
            </a:r>
            <a:r>
              <a:rPr lang="en-US" dirty="0"/>
              <a:t>checks symptoms and medication </a:t>
            </a:r>
            <a:r>
              <a:rPr lang="en-US" dirty="0" smtClean="0"/>
              <a:t>history.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24-hour </a:t>
            </a:r>
            <a:r>
              <a:rPr lang="en-US" dirty="0"/>
              <a:t>urinary free cortisol – measures cortisol in </a:t>
            </a:r>
            <a:r>
              <a:rPr lang="en-US" dirty="0" smtClean="0"/>
              <a:t>urine.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Late-night </a:t>
            </a:r>
            <a:r>
              <a:rPr lang="en-US" dirty="0"/>
              <a:t>salivary cortisol – checks if cortisol remains high at </a:t>
            </a:r>
            <a:r>
              <a:rPr lang="en-US" dirty="0" smtClean="0"/>
              <a:t>night.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Low-dose </a:t>
            </a:r>
            <a:r>
              <a:rPr lang="en-US" dirty="0"/>
              <a:t>dexamethasone test – checks whether cortisol production can be </a:t>
            </a:r>
            <a:r>
              <a:rPr lang="en-US" dirty="0" smtClean="0"/>
              <a:t>suppressed.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Imaging </a:t>
            </a:r>
            <a:r>
              <a:rPr lang="en-US" dirty="0"/>
              <a:t>(MRI/CT) – identifies possible pituitary or adrenal </a:t>
            </a:r>
            <a:r>
              <a:rPr lang="en-US" dirty="0" smtClean="0"/>
              <a:t>tumors.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Blood </a:t>
            </a:r>
            <a:r>
              <a:rPr lang="en-US" dirty="0"/>
              <a:t>tests – check glucose, electrolytes, potassium, lipids, blood cells, kidney and liver </a:t>
            </a:r>
            <a:r>
              <a:rPr lang="en-US" dirty="0" smtClean="0"/>
              <a:t>function.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Bone </a:t>
            </a:r>
            <a:r>
              <a:rPr lang="en-US" dirty="0"/>
              <a:t>mineral density – checks for osteoporosis.</a:t>
            </a:r>
          </a:p>
        </p:txBody>
      </p:sp>
    </p:spTree>
    <p:extLst>
      <p:ext uri="{BB962C8B-B14F-4D97-AF65-F5344CB8AC3E}">
        <p14:creationId xmlns:p14="http://schemas.microsoft.com/office/powerpoint/2010/main" val="212974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MEDICAL MANAGEMENT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Gradually </a:t>
            </a:r>
            <a:r>
              <a:rPr lang="en-US" dirty="0"/>
              <a:t>reduce corticosteroids ( prednisolone, dexamethasone, and hydrocortisone) if they are the cause; never stop </a:t>
            </a:r>
            <a:r>
              <a:rPr lang="en-US" dirty="0" smtClean="0"/>
              <a:t>suddenly.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Surgery </a:t>
            </a:r>
            <a:r>
              <a:rPr lang="en-US" dirty="0"/>
              <a:t>to remove pituitary, adrenal, or ectopic ACTH-producing </a:t>
            </a:r>
            <a:r>
              <a:rPr lang="en-US" dirty="0" smtClean="0"/>
              <a:t>tumors.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Medications </a:t>
            </a:r>
            <a:r>
              <a:rPr lang="en-US" dirty="0"/>
              <a:t>to reduce cortisol production ( ketoconazole, and </a:t>
            </a:r>
            <a:r>
              <a:rPr lang="en-US" dirty="0" err="1"/>
              <a:t>metyrapone</a:t>
            </a:r>
            <a:r>
              <a:rPr lang="en-US" dirty="0"/>
              <a:t> ) or block it’s effects ( </a:t>
            </a:r>
            <a:r>
              <a:rPr lang="en-US" dirty="0" smtClean="0"/>
              <a:t>mifepristone)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Radiation </a:t>
            </a:r>
            <a:r>
              <a:rPr lang="en-US" dirty="0"/>
              <a:t>therapy may be used for some pituitary tumors when surgery is unsuccessful or </a:t>
            </a:r>
            <a:r>
              <a:rPr lang="en-US" dirty="0" smtClean="0"/>
              <a:t>unsuitable.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Treat </a:t>
            </a:r>
            <a:r>
              <a:rPr lang="en-US" dirty="0"/>
              <a:t>complications such as hypertension, diabetes, osteoporosis, and infections.</a:t>
            </a:r>
          </a:p>
        </p:txBody>
      </p:sp>
    </p:spTree>
    <p:extLst>
      <p:ext uri="{BB962C8B-B14F-4D97-AF65-F5344CB8AC3E}">
        <p14:creationId xmlns:p14="http://schemas.microsoft.com/office/powerpoint/2010/main" val="45348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NURSING MANAGEMENT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91600" cy="51054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Monitor </a:t>
            </a:r>
            <a:r>
              <a:rPr lang="en-US" dirty="0"/>
              <a:t>vital signs, blood pressure, blood glucose, and </a:t>
            </a:r>
            <a:r>
              <a:rPr lang="en-US" dirty="0" smtClean="0"/>
              <a:t>weight.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Monitor </a:t>
            </a:r>
            <a:r>
              <a:rPr lang="en-US" dirty="0"/>
              <a:t>for infection and maintain good hygiene/aseptic </a:t>
            </a:r>
            <a:r>
              <a:rPr lang="en-US" dirty="0" smtClean="0"/>
              <a:t>technique.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Protect </a:t>
            </a:r>
            <a:r>
              <a:rPr lang="en-US" dirty="0"/>
              <a:t>fragile skin and provide wound </a:t>
            </a:r>
            <a:r>
              <a:rPr lang="en-US" dirty="0" smtClean="0"/>
              <a:t>care.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Prevent </a:t>
            </a:r>
            <a:r>
              <a:rPr lang="en-US" dirty="0"/>
              <a:t>falls and fractures due to muscle weakness and </a:t>
            </a:r>
            <a:r>
              <a:rPr lang="en-US" dirty="0" smtClean="0"/>
              <a:t>osteoporosis.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Encourage </a:t>
            </a:r>
            <a:r>
              <a:rPr lang="en-US" dirty="0"/>
              <a:t>appropriate nutrition, including adequate protein, calcium, and vitamin </a:t>
            </a:r>
            <a:r>
              <a:rPr lang="en-US" dirty="0" smtClean="0"/>
              <a:t>D.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Assess </a:t>
            </a:r>
            <a:r>
              <a:rPr lang="en-US" dirty="0"/>
              <a:t>and support the patient’s emotional and psychological </a:t>
            </a:r>
            <a:r>
              <a:rPr lang="en-US" dirty="0" smtClean="0"/>
              <a:t>well-being.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 smtClean="0"/>
              <a:t>Educate </a:t>
            </a:r>
            <a:r>
              <a:rPr lang="en-US" dirty="0"/>
              <a:t>the patient about medications, diet, follow-up, infection prevention, and not stopping steroids abruptly</a:t>
            </a:r>
          </a:p>
        </p:txBody>
      </p:sp>
    </p:spTree>
    <p:extLst>
      <p:ext uri="{BB962C8B-B14F-4D97-AF65-F5344CB8AC3E}">
        <p14:creationId xmlns:p14="http://schemas.microsoft.com/office/powerpoint/2010/main" val="6111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NURSING DIAGNOSIS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91600" cy="52578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Risk </a:t>
            </a:r>
            <a:r>
              <a:rPr lang="en-US" dirty="0"/>
              <a:t>for Infection related to immunosuppressive effects of excess </a:t>
            </a:r>
            <a:r>
              <a:rPr lang="en-US" dirty="0" smtClean="0"/>
              <a:t>cortisol.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Risk </a:t>
            </a:r>
            <a:r>
              <a:rPr lang="en-US" dirty="0"/>
              <a:t>for Injury related to osteoporosis, muscle weakness, and impaired </a:t>
            </a:r>
            <a:r>
              <a:rPr lang="en-US" dirty="0" smtClean="0"/>
              <a:t>mobility.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Imbalanced </a:t>
            </a:r>
            <a:r>
              <a:rPr lang="en-US" dirty="0"/>
              <a:t>Nutrition: More Than Body Requirements related to altered metabolism and increased appetite, as evidenced by central obesity and weight </a:t>
            </a:r>
            <a:r>
              <a:rPr lang="en-US" dirty="0" smtClean="0"/>
              <a:t>gain.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Disturbed </a:t>
            </a:r>
            <a:r>
              <a:rPr lang="en-US" dirty="0"/>
              <a:t>Body Image related to physical changes associated with Cushing syndrome, as evidenced by moon face and central </a:t>
            </a:r>
            <a:r>
              <a:rPr lang="en-US" dirty="0" smtClean="0"/>
              <a:t>obesity.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Activity </a:t>
            </a:r>
            <a:r>
              <a:rPr lang="en-US" dirty="0"/>
              <a:t>Intolerance related to muscle weakness and reduced physical </a:t>
            </a:r>
            <a:r>
              <a:rPr lang="en-US" dirty="0" smtClean="0"/>
              <a:t>strength.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Impaired </a:t>
            </a:r>
            <a:r>
              <a:rPr lang="en-US" dirty="0"/>
              <a:t>Skin Integrity related to thin, fragile skin and impaired tissue repair.</a:t>
            </a:r>
          </a:p>
        </p:txBody>
      </p:sp>
    </p:spTree>
    <p:extLst>
      <p:ext uri="{BB962C8B-B14F-4D97-AF65-F5344CB8AC3E}">
        <p14:creationId xmlns:p14="http://schemas.microsoft.com/office/powerpoint/2010/main" val="3885271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COMPLICATION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Hypertension.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Type </a:t>
            </a:r>
            <a:r>
              <a:rPr lang="en-US" dirty="0"/>
              <a:t>2 diabetes </a:t>
            </a:r>
            <a:r>
              <a:rPr lang="en-US" dirty="0" smtClean="0"/>
              <a:t>mellitus.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Osteoporosis </a:t>
            </a:r>
            <a:r>
              <a:rPr lang="en-US" dirty="0"/>
              <a:t>and bone </a:t>
            </a:r>
            <a:r>
              <a:rPr lang="en-US" dirty="0" smtClean="0"/>
              <a:t>fractures.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Cardiovascular disease.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Growth </a:t>
            </a:r>
            <a:r>
              <a:rPr lang="en-US" dirty="0"/>
              <a:t>impairment in </a:t>
            </a:r>
            <a:r>
              <a:rPr lang="en-US" dirty="0" smtClean="0"/>
              <a:t>children.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Psychological </a:t>
            </a:r>
            <a:r>
              <a:rPr lang="en-US" dirty="0"/>
              <a:t>problems, such as depression, anxiety, and mood </a:t>
            </a:r>
            <a:r>
              <a:rPr lang="en-US" dirty="0" smtClean="0"/>
              <a:t>changes.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sexual dysfunction.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158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>
                <a:latin typeface="Algerian" pitchFamily="82" charset="0"/>
              </a:rPr>
              <a:t>DIFFERENTIAL DIAGNOSIS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ü"/>
            </a:pPr>
            <a:r>
              <a:rPr lang="en-US" dirty="0"/>
              <a:t>Pseudo-Cushing syndrome – caused by stress, depression, or chronic alcohol use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Obesity/metabolic </a:t>
            </a:r>
            <a:r>
              <a:rPr lang="en-US" dirty="0"/>
              <a:t>syndrome – causes central obesity, hypertension, and insulin resistance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PCOS </a:t>
            </a:r>
            <a:r>
              <a:rPr lang="en-US" dirty="0"/>
              <a:t>– may cause obesity, acne, excess hair, and menstrual problems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Hypothyroidism </a:t>
            </a:r>
            <a:r>
              <a:rPr lang="en-US" dirty="0"/>
              <a:t>– causes weight gain, fatigue, and weakness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Long-term </a:t>
            </a:r>
            <a:r>
              <a:rPr lang="en-US" dirty="0"/>
              <a:t>corticosteroid use – produces Cushing-like symptoms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Adrenal </a:t>
            </a:r>
            <a:r>
              <a:rPr lang="en-US" dirty="0"/>
              <a:t>or pituitary tumors – can cause excess cortisol production.</a:t>
            </a:r>
          </a:p>
        </p:txBody>
      </p:sp>
    </p:spTree>
    <p:extLst>
      <p:ext uri="{BB962C8B-B14F-4D97-AF65-F5344CB8AC3E}">
        <p14:creationId xmlns:p14="http://schemas.microsoft.com/office/powerpoint/2010/main" val="1934506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Algerian" pitchFamily="82" charset="0"/>
              </a:rPr>
              <a:t>REFERENCES</a:t>
            </a:r>
            <a:endParaRPr lang="en-US" b="1" i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067800" cy="5181600"/>
          </a:xfrm>
        </p:spPr>
        <p:txBody>
          <a:bodyPr>
            <a:normAutofit fontScale="85000" lnSpcReduction="20000"/>
          </a:bodyPr>
          <a:lstStyle/>
          <a:p>
            <a:pPr>
              <a:buFont typeface="Courier New" pitchFamily="49" charset="0"/>
              <a:buChar char="o"/>
            </a:pPr>
            <a:r>
              <a:rPr lang="en-US" dirty="0" smtClean="0"/>
              <a:t>National </a:t>
            </a:r>
            <a:r>
              <a:rPr lang="en-US" dirty="0"/>
              <a:t>Institute of Diabetes and Digestive and Kidney Diseases. (2024). Cushing’s syndrome. U.S. Department of Health and Human </a:t>
            </a:r>
            <a:r>
              <a:rPr lang="en-US" dirty="0" smtClean="0"/>
              <a:t>Services.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National </a:t>
            </a:r>
            <a:r>
              <a:rPr lang="en-US" dirty="0"/>
              <a:t>Institute of Diabetes and Digestive and Kidney Diseases. (2024). Cushing’s disease. U.S. Department of Health and Human </a:t>
            </a:r>
            <a:r>
              <a:rPr lang="en-US" dirty="0" smtClean="0"/>
              <a:t>Services.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Melmed</a:t>
            </a:r>
            <a:r>
              <a:rPr lang="en-US" dirty="0"/>
              <a:t>, S., Auchus, R. J., Goldfine, A. B., Koenig, R. J., &amp; Rosen, C. J. (Eds.). (2020). Williams textbook of endocrinology (14th ed.). </a:t>
            </a:r>
            <a:r>
              <a:rPr lang="en-US" dirty="0" smtClean="0"/>
              <a:t>Elsevier.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Jameson</a:t>
            </a:r>
            <a:r>
              <a:rPr lang="en-US" dirty="0"/>
              <a:t>, J. L., Fauci, A. S., Kasper, D. L., Hauser, S. L., Longo, D. L., &amp; Loscalzo, J. (Eds.). (2022). Harrison’s principles of internal medicine (21st ed.). McGraw </a:t>
            </a:r>
            <a:r>
              <a:rPr lang="en-US" dirty="0" smtClean="0"/>
              <a:t>Hill.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Gardner</a:t>
            </a:r>
            <a:r>
              <a:rPr lang="en-US" dirty="0"/>
              <a:t>, D. G., &amp; Shoback, D. (2018). Greenspan’s basic &amp; clinical endocrinology (10th ed.).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57703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2546</TotalTime>
  <Words>1099</Words>
  <Application>Microsoft Office PowerPoint</Application>
  <PresentationFormat>On-screen Show (4:3)</PresentationFormat>
  <Paragraphs>143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TOPIC:CUSHING SYNDROME GROUP 7 MEMBERS</vt:lpstr>
      <vt:lpstr>PRESENTATION OUTLINE</vt:lpstr>
      <vt:lpstr>INTRODUCTION</vt:lpstr>
      <vt:lpstr>DEFINITION</vt:lpstr>
      <vt:lpstr>AETIOLOGY</vt:lpstr>
      <vt:lpstr>PATHOPHYSIOLOGY</vt:lpstr>
      <vt:lpstr>CONT’</vt:lpstr>
      <vt:lpstr>CUSHING SYNDROME</vt:lpstr>
      <vt:lpstr>TYPES</vt:lpstr>
      <vt:lpstr>SIGN AND SYMPTOM</vt:lpstr>
      <vt:lpstr>INVESTIGATION</vt:lpstr>
      <vt:lpstr>MEDICAL MANAGEMENT</vt:lpstr>
      <vt:lpstr>NURSING MANAGEMENT</vt:lpstr>
      <vt:lpstr>NURSING DIAGNOSIS</vt:lpstr>
      <vt:lpstr>COMPLICATION</vt:lpstr>
      <vt:lpstr>DIFFERENTIAL DIAGNOSIS 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Alagie Jallow</dc:creator>
  <cp:lastModifiedBy>Alagie Jallow</cp:lastModifiedBy>
  <cp:revision>21</cp:revision>
  <dcterms:created xsi:type="dcterms:W3CDTF">2026-08-31T11:25:19Z</dcterms:created>
  <dcterms:modified xsi:type="dcterms:W3CDTF">2026-09-02T22:28:12Z</dcterms:modified>
</cp:coreProperties>
</file>