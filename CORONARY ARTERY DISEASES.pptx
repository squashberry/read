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94" d="100"/>
          <a:sy n="9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928BBF-2D2D-47C8-8062-841FB1523BE9}"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F325D6-1FAB-40FD-9FE2-89E4D6D4CF22}" type="slidenum">
              <a:rPr lang="en-US" smtClean="0"/>
              <a:t>‹#›</a:t>
            </a:fld>
            <a:endParaRPr lang="en-US"/>
          </a:p>
        </p:txBody>
      </p:sp>
    </p:spTree>
    <p:extLst>
      <p:ext uri="{BB962C8B-B14F-4D97-AF65-F5344CB8AC3E}">
        <p14:creationId xmlns:p14="http://schemas.microsoft.com/office/powerpoint/2010/main" val="149872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F325D6-1FAB-40FD-9FE2-89E4D6D4CF22}" type="slidenum">
              <a:rPr lang="en-US" smtClean="0"/>
              <a:t>7</a:t>
            </a:fld>
            <a:endParaRPr lang="en-US"/>
          </a:p>
        </p:txBody>
      </p:sp>
    </p:spTree>
    <p:extLst>
      <p:ext uri="{BB962C8B-B14F-4D97-AF65-F5344CB8AC3E}">
        <p14:creationId xmlns:p14="http://schemas.microsoft.com/office/powerpoint/2010/main" val="754729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5ACF0-BD15-216D-1FC2-B139C620FD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E4C3A8-5C76-4F8D-911F-A5BAE298A3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C0CCB2-8740-3764-759E-A89BDD8AECB1}"/>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5" name="Footer Placeholder 4">
            <a:extLst>
              <a:ext uri="{FF2B5EF4-FFF2-40B4-BE49-F238E27FC236}">
                <a16:creationId xmlns:a16="http://schemas.microsoft.com/office/drawing/2014/main" id="{458FE2F1-AF3E-341F-0EF4-921B181B0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9C2F3B-E391-D062-35F2-75ED41407769}"/>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2702946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2C69-E0BF-0669-0E34-4F16CB3D10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D9EE31-8F60-3626-9C64-4D60D58B94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E674B6-C624-34CF-5478-F689502D6571}"/>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5" name="Footer Placeholder 4">
            <a:extLst>
              <a:ext uri="{FF2B5EF4-FFF2-40B4-BE49-F238E27FC236}">
                <a16:creationId xmlns:a16="http://schemas.microsoft.com/office/drawing/2014/main" id="{9345FE7B-569F-F4ED-F8C9-86675A475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7AA62-D9A1-551B-DCD3-1DEA6701BB00}"/>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1711837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584A-1632-E3C8-5816-C3FF91D7DA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04928C-E079-85B1-EDB7-2509F280E5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5F70EF-42F4-220B-18EA-D0439F897179}"/>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5" name="Footer Placeholder 4">
            <a:extLst>
              <a:ext uri="{FF2B5EF4-FFF2-40B4-BE49-F238E27FC236}">
                <a16:creationId xmlns:a16="http://schemas.microsoft.com/office/drawing/2014/main" id="{301E1829-A6D5-C047-10C3-C898758F5B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E4F5C7-FB04-2A94-0840-DB2090A87DC2}"/>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984710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6386-50E2-0FC5-7CCD-88E2711DC6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A92DCA-CFA4-382F-369A-702D1D7774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F42856-2224-847B-C0AC-58FB4F5470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281DA8-8D58-1071-E0AD-3EE8E591EB1A}"/>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6" name="Footer Placeholder 5">
            <a:extLst>
              <a:ext uri="{FF2B5EF4-FFF2-40B4-BE49-F238E27FC236}">
                <a16:creationId xmlns:a16="http://schemas.microsoft.com/office/drawing/2014/main" id="{58FC1057-3349-CD13-5F72-776A984AF0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A73CF6-E9C0-84CA-16E3-34FCBDCD0A81}"/>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4209045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77449-B08C-A55D-4F94-5470AE8C65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2A0621-74FD-00FC-7640-5F3CDBE65C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BB550-04EA-5D59-A21C-EB7F9CF582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238493-8073-1921-794C-5E8D2B8C8D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9A28E8-05B2-3E0F-34A5-93F6C5C70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00C60F-3338-1716-563E-5AFC131A58C4}"/>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8" name="Footer Placeholder 7">
            <a:extLst>
              <a:ext uri="{FF2B5EF4-FFF2-40B4-BE49-F238E27FC236}">
                <a16:creationId xmlns:a16="http://schemas.microsoft.com/office/drawing/2014/main" id="{7C506888-1BC6-09E3-BEBE-0465FAC802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AFA353-2E3D-B390-1A17-6D6D2440FE01}"/>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16317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4C78F-E15A-472D-C7BE-3E0016A150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7E7CB0-0CB5-FE19-3FD1-4277102C6713}"/>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4" name="Footer Placeholder 3">
            <a:extLst>
              <a:ext uri="{FF2B5EF4-FFF2-40B4-BE49-F238E27FC236}">
                <a16:creationId xmlns:a16="http://schemas.microsoft.com/office/drawing/2014/main" id="{C457544D-E2DD-D5E0-3046-637D585DA3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2A7D9F-61C8-39C1-8380-99068EB70FE6}"/>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1365609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A96FF-4B91-DBD6-B525-2B7AC2F3434C}"/>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3" name="Footer Placeholder 2">
            <a:extLst>
              <a:ext uri="{FF2B5EF4-FFF2-40B4-BE49-F238E27FC236}">
                <a16:creationId xmlns:a16="http://schemas.microsoft.com/office/drawing/2014/main" id="{899CA1B3-420C-9AB6-45BD-BDED8CD438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2635F2-A1B6-8C80-B536-D3E0C9E858AC}"/>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354395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22A78-7DD7-4C6D-D9E6-F1CEF2C057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1FE4A7-8BAB-D536-9B5E-5EE514BCE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07D37C-65BA-1778-9D2E-922E600577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AD3ED2-7C80-AF0B-5A10-9B9EC094D552}"/>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6" name="Footer Placeholder 5">
            <a:extLst>
              <a:ext uri="{FF2B5EF4-FFF2-40B4-BE49-F238E27FC236}">
                <a16:creationId xmlns:a16="http://schemas.microsoft.com/office/drawing/2014/main" id="{01C3F882-8E11-AF9D-9EAC-DAA3696456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EDF841-C18C-CD29-6526-59434EAB87C6}"/>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381672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94418-C0D5-C39E-9F48-EF97AF9D6B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53C964-0920-21B2-B15A-FC983877A0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7EF8C3-9A28-E9CC-BF8E-9521C7982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BBE762-F6D2-21D5-CE7E-D22B761E3054}"/>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6" name="Footer Placeholder 5">
            <a:extLst>
              <a:ext uri="{FF2B5EF4-FFF2-40B4-BE49-F238E27FC236}">
                <a16:creationId xmlns:a16="http://schemas.microsoft.com/office/drawing/2014/main" id="{7101B63B-944B-9B9D-79E9-1E5D7F218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046FC2-B727-4D0A-B407-2CAF82DC684B}"/>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3847492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760EF-32F5-D87B-8F18-DD55123BB1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EAD1EC-D710-1C87-6789-59D5A1A7E6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A82A77-ADCE-34DD-0212-D0A1C7F52917}"/>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5" name="Footer Placeholder 4">
            <a:extLst>
              <a:ext uri="{FF2B5EF4-FFF2-40B4-BE49-F238E27FC236}">
                <a16:creationId xmlns:a16="http://schemas.microsoft.com/office/drawing/2014/main" id="{23CCB00D-53B5-CFA7-0396-6747B48564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FDFF5-C3A5-A154-3D0F-1A6DB1475D6F}"/>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3526554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85485-9B51-D401-CDDF-04BCF50C14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2C592B-5D42-6F5E-F710-5474A62265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F8DE4E-FD93-E2AA-2A08-FD3EEF189154}"/>
              </a:ext>
            </a:extLst>
          </p:cNvPr>
          <p:cNvSpPr>
            <a:spLocks noGrp="1"/>
          </p:cNvSpPr>
          <p:nvPr>
            <p:ph type="dt" sz="half" idx="10"/>
          </p:nvPr>
        </p:nvSpPr>
        <p:spPr/>
        <p:txBody>
          <a:bodyPr/>
          <a:lstStyle/>
          <a:p>
            <a:fld id="{665A2F1C-9CE7-4A2D-A441-1DD3C970F0BF}" type="datetimeFigureOut">
              <a:rPr lang="en-US" smtClean="0"/>
              <a:t>7/8/2026</a:t>
            </a:fld>
            <a:endParaRPr lang="en-US"/>
          </a:p>
        </p:txBody>
      </p:sp>
      <p:sp>
        <p:nvSpPr>
          <p:cNvPr id="5" name="Footer Placeholder 4">
            <a:extLst>
              <a:ext uri="{FF2B5EF4-FFF2-40B4-BE49-F238E27FC236}">
                <a16:creationId xmlns:a16="http://schemas.microsoft.com/office/drawing/2014/main" id="{4CAE5498-CB0D-E7E9-ACFB-24F27BB7E0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2BC33-80B8-B368-920A-CD8F1F77ED52}"/>
              </a:ext>
            </a:extLst>
          </p:cNvPr>
          <p:cNvSpPr>
            <a:spLocks noGrp="1"/>
          </p:cNvSpPr>
          <p:nvPr>
            <p:ph type="sldNum" sz="quarter" idx="12"/>
          </p:nvPr>
        </p:nvSpPr>
        <p:spPr/>
        <p:txBody>
          <a:bodyPr/>
          <a:lstStyle/>
          <a:p>
            <a:fld id="{1C9F4FD0-2829-491E-B015-D6BA023BEE09}" type="slidenum">
              <a:rPr lang="en-US" smtClean="0"/>
              <a:t>‹#›</a:t>
            </a:fld>
            <a:endParaRPr lang="en-US"/>
          </a:p>
        </p:txBody>
      </p:sp>
    </p:spTree>
    <p:extLst>
      <p:ext uri="{BB962C8B-B14F-4D97-AF65-F5344CB8AC3E}">
        <p14:creationId xmlns:p14="http://schemas.microsoft.com/office/powerpoint/2010/main" val="3100034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EF9B67-50EA-1F56-0346-4719CB3E58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A72D76-64C3-1267-1A1A-4F9F4CDD93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24F9C-A336-B8C5-9FA9-93823AB11C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5A2F1C-9CE7-4A2D-A441-1DD3C970F0BF}" type="datetimeFigureOut">
              <a:rPr lang="en-US" smtClean="0"/>
              <a:t>7/8/2026</a:t>
            </a:fld>
            <a:endParaRPr lang="en-US"/>
          </a:p>
        </p:txBody>
      </p:sp>
      <p:sp>
        <p:nvSpPr>
          <p:cNvPr id="5" name="Footer Placeholder 4">
            <a:extLst>
              <a:ext uri="{FF2B5EF4-FFF2-40B4-BE49-F238E27FC236}">
                <a16:creationId xmlns:a16="http://schemas.microsoft.com/office/drawing/2014/main" id="{5FEC75BE-4607-B24A-ECAC-0218D3A5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1E6ED9-4C56-D45E-38D7-9B3A11BA03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F4FD0-2829-491E-B015-D6BA023BEE09}" type="slidenum">
              <a:rPr lang="en-US" smtClean="0"/>
              <a:t>‹#›</a:t>
            </a:fld>
            <a:endParaRPr lang="en-US"/>
          </a:p>
        </p:txBody>
      </p:sp>
    </p:spTree>
    <p:extLst>
      <p:ext uri="{BB962C8B-B14F-4D97-AF65-F5344CB8AC3E}">
        <p14:creationId xmlns:p14="http://schemas.microsoft.com/office/powerpoint/2010/main" val="2222676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7AD9A-E0CF-B612-6289-1EA852759C2B}"/>
              </a:ext>
            </a:extLst>
          </p:cNvPr>
          <p:cNvSpPr>
            <a:spLocks noGrp="1"/>
          </p:cNvSpPr>
          <p:nvPr>
            <p:ph type="ctrTitle"/>
          </p:nvPr>
        </p:nvSpPr>
        <p:spPr/>
        <p:txBody>
          <a:bodyPr>
            <a:normAutofit fontScale="90000"/>
          </a:bodyPr>
          <a:lstStyle/>
          <a:p>
            <a:r>
              <a:rPr lang="en-GM" dirty="0"/>
              <a:t> </a:t>
            </a:r>
            <a:r>
              <a:rPr lang="en-GM" sz="8000" b="1" dirty="0">
                <a:solidFill>
                  <a:srgbClr val="C00000"/>
                </a:solidFill>
              </a:rPr>
              <a:t>ISCHEMIC/CORONARY HEART DISEASE</a:t>
            </a:r>
            <a:endParaRPr lang="en-US" sz="8000" b="1" dirty="0">
              <a:solidFill>
                <a:srgbClr val="C00000"/>
              </a:solidFill>
            </a:endParaRPr>
          </a:p>
        </p:txBody>
      </p:sp>
      <p:sp>
        <p:nvSpPr>
          <p:cNvPr id="3" name="Subtitle 2">
            <a:extLst>
              <a:ext uri="{FF2B5EF4-FFF2-40B4-BE49-F238E27FC236}">
                <a16:creationId xmlns:a16="http://schemas.microsoft.com/office/drawing/2014/main" id="{5583C2F1-79A7-B0F7-8A76-F6C804F66B3C}"/>
              </a:ext>
            </a:extLst>
          </p:cNvPr>
          <p:cNvSpPr>
            <a:spLocks noGrp="1"/>
          </p:cNvSpPr>
          <p:nvPr>
            <p:ph type="subTitle" idx="1"/>
          </p:nvPr>
        </p:nvSpPr>
        <p:spPr/>
        <p:txBody>
          <a:bodyPr>
            <a:noAutofit/>
          </a:bodyPr>
          <a:lstStyle/>
          <a:p>
            <a:r>
              <a:rPr lang="en-GM" sz="3600" b="1" dirty="0">
                <a:solidFill>
                  <a:srgbClr val="002060"/>
                </a:solidFill>
              </a:rPr>
              <a:t>PREPARED AND PRESENTED</a:t>
            </a:r>
          </a:p>
          <a:p>
            <a:r>
              <a:rPr lang="en-GM" sz="3600" b="1" dirty="0">
                <a:solidFill>
                  <a:srgbClr val="002060"/>
                </a:solidFill>
              </a:rPr>
              <a:t>BY</a:t>
            </a:r>
          </a:p>
          <a:p>
            <a:r>
              <a:rPr lang="en-GM" sz="3600" b="1" dirty="0">
                <a:solidFill>
                  <a:srgbClr val="002060"/>
                </a:solidFill>
              </a:rPr>
              <a:t>MR. ALBERT MENDY</a:t>
            </a:r>
            <a:endParaRPr lang="en-US" sz="3600" b="1" dirty="0">
              <a:solidFill>
                <a:srgbClr val="002060"/>
              </a:solidFill>
            </a:endParaRPr>
          </a:p>
        </p:txBody>
      </p:sp>
    </p:spTree>
    <p:extLst>
      <p:ext uri="{BB962C8B-B14F-4D97-AF65-F5344CB8AC3E}">
        <p14:creationId xmlns:p14="http://schemas.microsoft.com/office/powerpoint/2010/main" val="1133889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8FE59-F902-AFC7-72EC-5473D8C90872}"/>
              </a:ext>
            </a:extLst>
          </p:cNvPr>
          <p:cNvSpPr>
            <a:spLocks noGrp="1"/>
          </p:cNvSpPr>
          <p:nvPr>
            <p:ph type="title"/>
          </p:nvPr>
        </p:nvSpPr>
        <p:spPr/>
        <p:txBody>
          <a:bodyPr/>
          <a:lstStyle/>
          <a:p>
            <a:r>
              <a:rPr lang="en-GM" b="1" dirty="0">
                <a:solidFill>
                  <a:srgbClr val="C00000"/>
                </a:solidFill>
              </a:rPr>
              <a:t>DEFINITION</a:t>
            </a:r>
            <a:endParaRPr lang="en-US" b="1" dirty="0">
              <a:solidFill>
                <a:srgbClr val="C00000"/>
              </a:solidFill>
            </a:endParaRPr>
          </a:p>
        </p:txBody>
      </p:sp>
      <p:sp>
        <p:nvSpPr>
          <p:cNvPr id="3" name="Content Placeholder 2">
            <a:extLst>
              <a:ext uri="{FF2B5EF4-FFF2-40B4-BE49-F238E27FC236}">
                <a16:creationId xmlns:a16="http://schemas.microsoft.com/office/drawing/2014/main" id="{46AFCB25-B32E-E2E0-EF30-8B4045DC8F32}"/>
              </a:ext>
            </a:extLst>
          </p:cNvPr>
          <p:cNvSpPr>
            <a:spLocks noGrp="1"/>
          </p:cNvSpPr>
          <p:nvPr>
            <p:ph idx="1"/>
          </p:nvPr>
        </p:nvSpPr>
        <p:spPr/>
        <p:txBody>
          <a:bodyPr>
            <a:normAutofit/>
          </a:bodyPr>
          <a:lstStyle/>
          <a:p>
            <a:r>
              <a:rPr lang="en-GM" sz="3600" dirty="0"/>
              <a:t>Coronary heart disease is a type of heart disease where the arteries of the heart cannot deliver enough oxygen-rich blood to the heart.</a:t>
            </a:r>
          </a:p>
          <a:p>
            <a:r>
              <a:rPr lang="en-GM" sz="3600" dirty="0"/>
              <a:t>Imbalance between myocardial oxygen supply and demand.</a:t>
            </a:r>
          </a:p>
          <a:p>
            <a:r>
              <a:rPr lang="en-GM" sz="3600" dirty="0"/>
              <a:t>It is also sometimes called coronary artery disease or ischaemic heart disease.</a:t>
            </a:r>
            <a:endParaRPr lang="en-US" sz="3600" dirty="0"/>
          </a:p>
        </p:txBody>
      </p:sp>
    </p:spTree>
    <p:extLst>
      <p:ext uri="{BB962C8B-B14F-4D97-AF65-F5344CB8AC3E}">
        <p14:creationId xmlns:p14="http://schemas.microsoft.com/office/powerpoint/2010/main" val="2761961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0918-A03F-1AB9-870D-EED7EE1D8EAA}"/>
              </a:ext>
            </a:extLst>
          </p:cNvPr>
          <p:cNvSpPr>
            <a:spLocks noGrp="1"/>
          </p:cNvSpPr>
          <p:nvPr>
            <p:ph type="title"/>
          </p:nvPr>
        </p:nvSpPr>
        <p:spPr/>
        <p:txBody>
          <a:bodyPr/>
          <a:lstStyle/>
          <a:p>
            <a:r>
              <a:rPr lang="en-GM" b="1" dirty="0">
                <a:solidFill>
                  <a:srgbClr val="C00000"/>
                </a:solidFill>
              </a:rPr>
              <a:t>CAUSES</a:t>
            </a:r>
            <a:endParaRPr lang="en-US" b="1" dirty="0">
              <a:solidFill>
                <a:srgbClr val="C00000"/>
              </a:solidFill>
            </a:endParaRPr>
          </a:p>
        </p:txBody>
      </p:sp>
      <p:sp>
        <p:nvSpPr>
          <p:cNvPr id="3" name="Content Placeholder 2">
            <a:extLst>
              <a:ext uri="{FF2B5EF4-FFF2-40B4-BE49-F238E27FC236}">
                <a16:creationId xmlns:a16="http://schemas.microsoft.com/office/drawing/2014/main" id="{A4B75156-FE93-0867-A7EF-7096A9F3F857}"/>
              </a:ext>
            </a:extLst>
          </p:cNvPr>
          <p:cNvSpPr>
            <a:spLocks noGrp="1"/>
          </p:cNvSpPr>
          <p:nvPr>
            <p:ph idx="1"/>
          </p:nvPr>
        </p:nvSpPr>
        <p:spPr/>
        <p:txBody>
          <a:bodyPr>
            <a:normAutofit fontScale="92500" lnSpcReduction="20000"/>
          </a:bodyPr>
          <a:lstStyle/>
          <a:p>
            <a:r>
              <a:rPr lang="en-GM" sz="3200" dirty="0"/>
              <a:t>Diabetes</a:t>
            </a:r>
          </a:p>
          <a:p>
            <a:r>
              <a:rPr lang="en-US" sz="3200" dirty="0"/>
              <a:t>H</a:t>
            </a:r>
            <a:r>
              <a:rPr lang="en-GM" sz="3200" dirty="0" err="1"/>
              <a:t>igh</a:t>
            </a:r>
            <a:r>
              <a:rPr lang="en-GM" sz="3200" dirty="0"/>
              <a:t> blood pressure, angina, myocardial infarction, </a:t>
            </a:r>
            <a:r>
              <a:rPr lang="en-GM" sz="3200" dirty="0" err="1"/>
              <a:t>artherosclerosis</a:t>
            </a:r>
            <a:r>
              <a:rPr lang="en-GM" sz="3200" dirty="0"/>
              <a:t> of coronary artery</a:t>
            </a:r>
          </a:p>
          <a:p>
            <a:r>
              <a:rPr lang="en-US" sz="3200" dirty="0"/>
              <a:t>H</a:t>
            </a:r>
            <a:r>
              <a:rPr lang="en-GM" sz="3200" dirty="0" err="1"/>
              <a:t>igh</a:t>
            </a:r>
            <a:r>
              <a:rPr lang="en-GM" sz="3200" dirty="0"/>
              <a:t> cholesterol</a:t>
            </a:r>
          </a:p>
          <a:p>
            <a:r>
              <a:rPr lang="en-US" sz="3200" dirty="0"/>
              <a:t>S</a:t>
            </a:r>
            <a:r>
              <a:rPr lang="en-GM" sz="3200" dirty="0" err="1"/>
              <a:t>moking</a:t>
            </a:r>
            <a:endParaRPr lang="en-GM" sz="3200" dirty="0"/>
          </a:p>
          <a:p>
            <a:r>
              <a:rPr lang="en-US" sz="3200" dirty="0"/>
              <a:t>O</a:t>
            </a:r>
            <a:r>
              <a:rPr lang="en-GM" sz="3200" dirty="0" err="1"/>
              <a:t>besity</a:t>
            </a:r>
            <a:endParaRPr lang="en-GM" sz="3200" dirty="0"/>
          </a:p>
          <a:p>
            <a:r>
              <a:rPr lang="en-US" sz="3200" dirty="0"/>
              <a:t>M</a:t>
            </a:r>
            <a:r>
              <a:rPr lang="en-GM" sz="3200" dirty="0" err="1"/>
              <a:t>alnutrition</a:t>
            </a:r>
            <a:endParaRPr lang="en-GM" sz="3200" dirty="0"/>
          </a:p>
          <a:p>
            <a:r>
              <a:rPr lang="en-US" sz="3200" dirty="0"/>
              <a:t>F</a:t>
            </a:r>
            <a:r>
              <a:rPr lang="en-GM" sz="3200" dirty="0" err="1"/>
              <a:t>amily</a:t>
            </a:r>
            <a:r>
              <a:rPr lang="en-GM" sz="3200" dirty="0"/>
              <a:t> history</a:t>
            </a:r>
          </a:p>
          <a:p>
            <a:r>
              <a:rPr lang="en-US" sz="3200" dirty="0"/>
              <a:t>A</a:t>
            </a:r>
            <a:r>
              <a:rPr lang="en-GM" sz="3200" dirty="0" err="1"/>
              <a:t>lcohol</a:t>
            </a:r>
            <a:endParaRPr lang="en-GM" sz="3200" dirty="0"/>
          </a:p>
          <a:p>
            <a:r>
              <a:rPr lang="en-GM" sz="3200" dirty="0"/>
              <a:t>stress</a:t>
            </a:r>
            <a:endParaRPr lang="en-US" sz="3200" dirty="0"/>
          </a:p>
        </p:txBody>
      </p:sp>
    </p:spTree>
    <p:extLst>
      <p:ext uri="{BB962C8B-B14F-4D97-AF65-F5344CB8AC3E}">
        <p14:creationId xmlns:p14="http://schemas.microsoft.com/office/powerpoint/2010/main" val="748028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B80-BB0F-C47F-D2F7-990AC17703B7}"/>
              </a:ext>
            </a:extLst>
          </p:cNvPr>
          <p:cNvSpPr>
            <a:spLocks noGrp="1"/>
          </p:cNvSpPr>
          <p:nvPr>
            <p:ph type="title"/>
          </p:nvPr>
        </p:nvSpPr>
        <p:spPr/>
        <p:txBody>
          <a:bodyPr/>
          <a:lstStyle/>
          <a:p>
            <a:r>
              <a:rPr lang="en-GM" b="1" dirty="0">
                <a:solidFill>
                  <a:srgbClr val="C00000"/>
                </a:solidFill>
              </a:rPr>
              <a:t>CAUSES CONTINUES...</a:t>
            </a:r>
            <a:endParaRPr lang="en-US" b="1" dirty="0">
              <a:solidFill>
                <a:srgbClr val="C00000"/>
              </a:solidFill>
            </a:endParaRPr>
          </a:p>
        </p:txBody>
      </p:sp>
      <p:sp>
        <p:nvSpPr>
          <p:cNvPr id="3" name="Content Placeholder 2">
            <a:extLst>
              <a:ext uri="{FF2B5EF4-FFF2-40B4-BE49-F238E27FC236}">
                <a16:creationId xmlns:a16="http://schemas.microsoft.com/office/drawing/2014/main" id="{222A1795-FF13-83CD-0B04-9589EB04F8F1}"/>
              </a:ext>
            </a:extLst>
          </p:cNvPr>
          <p:cNvSpPr>
            <a:spLocks noGrp="1"/>
          </p:cNvSpPr>
          <p:nvPr>
            <p:ph idx="1"/>
          </p:nvPr>
        </p:nvSpPr>
        <p:spPr/>
        <p:txBody>
          <a:bodyPr/>
          <a:lstStyle/>
          <a:p>
            <a:r>
              <a:rPr lang="en-GM" sz="3600" dirty="0"/>
              <a:t>Chronic kidney disease</a:t>
            </a:r>
          </a:p>
          <a:p>
            <a:r>
              <a:rPr lang="en-US" sz="3600" dirty="0"/>
              <a:t>A</a:t>
            </a:r>
            <a:r>
              <a:rPr lang="en-GM" sz="3600" dirty="0" err="1"/>
              <a:t>geing</a:t>
            </a:r>
            <a:r>
              <a:rPr lang="en-GM" sz="3600" dirty="0"/>
              <a:t>.</a:t>
            </a:r>
            <a:endParaRPr lang="en-US" dirty="0"/>
          </a:p>
        </p:txBody>
      </p:sp>
    </p:spTree>
    <p:extLst>
      <p:ext uri="{BB962C8B-B14F-4D97-AF65-F5344CB8AC3E}">
        <p14:creationId xmlns:p14="http://schemas.microsoft.com/office/powerpoint/2010/main" val="161118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F8DB5-4D37-37F9-4EA7-D1C96B5837CF}"/>
              </a:ext>
            </a:extLst>
          </p:cNvPr>
          <p:cNvSpPr>
            <a:spLocks noGrp="1"/>
          </p:cNvSpPr>
          <p:nvPr>
            <p:ph type="title"/>
          </p:nvPr>
        </p:nvSpPr>
        <p:spPr/>
        <p:txBody>
          <a:bodyPr/>
          <a:lstStyle/>
          <a:p>
            <a:r>
              <a:rPr lang="en-GM" b="1" dirty="0">
                <a:solidFill>
                  <a:srgbClr val="C00000"/>
                </a:solidFill>
              </a:rPr>
              <a:t>SIGNS AND SYMPTOMS</a:t>
            </a:r>
            <a:endParaRPr lang="en-US" b="1" dirty="0">
              <a:solidFill>
                <a:srgbClr val="C00000"/>
              </a:solidFill>
            </a:endParaRPr>
          </a:p>
        </p:txBody>
      </p:sp>
      <p:sp>
        <p:nvSpPr>
          <p:cNvPr id="3" name="Content Placeholder 2">
            <a:extLst>
              <a:ext uri="{FF2B5EF4-FFF2-40B4-BE49-F238E27FC236}">
                <a16:creationId xmlns:a16="http://schemas.microsoft.com/office/drawing/2014/main" id="{4D7D27BD-30E2-E872-F6F9-371575173DE7}"/>
              </a:ext>
            </a:extLst>
          </p:cNvPr>
          <p:cNvSpPr>
            <a:spLocks noGrp="1"/>
          </p:cNvSpPr>
          <p:nvPr>
            <p:ph idx="1"/>
          </p:nvPr>
        </p:nvSpPr>
        <p:spPr/>
        <p:txBody>
          <a:bodyPr>
            <a:normAutofit fontScale="92500" lnSpcReduction="20000"/>
          </a:bodyPr>
          <a:lstStyle/>
          <a:p>
            <a:r>
              <a:rPr lang="en-US" sz="3200" dirty="0"/>
              <a:t>S</a:t>
            </a:r>
            <a:r>
              <a:rPr lang="en-GM" sz="3200" dirty="0" err="1"/>
              <a:t>ometimes</a:t>
            </a:r>
            <a:r>
              <a:rPr lang="en-GM" sz="3200" dirty="0"/>
              <a:t> coronary heart disease is silent. </a:t>
            </a:r>
            <a:r>
              <a:rPr lang="en-US" sz="3200" dirty="0"/>
              <a:t>M</a:t>
            </a:r>
            <a:r>
              <a:rPr lang="en-GM" sz="3200" dirty="0" err="1"/>
              <a:t>eaning</a:t>
            </a:r>
            <a:r>
              <a:rPr lang="en-GM" sz="3200" dirty="0"/>
              <a:t> one may not have any symptoms until the individual experience heart attack or other complications. This can make coronary heart disease difficult to diagnose before a problem occurs. The symptoms of heart attack include the following:</a:t>
            </a:r>
          </a:p>
          <a:p>
            <a:r>
              <a:rPr lang="en-US" sz="3200" dirty="0"/>
              <a:t>A</a:t>
            </a:r>
            <a:r>
              <a:rPr lang="en-GM" sz="3200" dirty="0" err="1"/>
              <a:t>ngina</a:t>
            </a:r>
            <a:endParaRPr lang="en-GM" sz="3200" dirty="0"/>
          </a:p>
          <a:p>
            <a:r>
              <a:rPr lang="en-US" sz="3200" dirty="0"/>
              <a:t>C</a:t>
            </a:r>
            <a:r>
              <a:rPr lang="en-GM" sz="3200" dirty="0"/>
              <a:t>old sweats</a:t>
            </a:r>
          </a:p>
          <a:p>
            <a:r>
              <a:rPr lang="en-US" sz="3200" dirty="0"/>
              <a:t>D</a:t>
            </a:r>
            <a:r>
              <a:rPr lang="en-GM" sz="3200" dirty="0" err="1"/>
              <a:t>izziness</a:t>
            </a:r>
            <a:endParaRPr lang="en-GM" sz="3200" dirty="0"/>
          </a:p>
          <a:p>
            <a:r>
              <a:rPr lang="en-US" sz="3200" dirty="0"/>
              <a:t>L</a:t>
            </a:r>
            <a:r>
              <a:rPr lang="en-GM" sz="3200" dirty="0" err="1"/>
              <a:t>ight</a:t>
            </a:r>
            <a:r>
              <a:rPr lang="en-GM" sz="3200" dirty="0"/>
              <a:t> headedness</a:t>
            </a:r>
          </a:p>
          <a:p>
            <a:r>
              <a:rPr lang="en-US" sz="3200" dirty="0"/>
              <a:t>S</a:t>
            </a:r>
            <a:r>
              <a:rPr lang="en-GM" sz="3200" dirty="0" err="1"/>
              <a:t>hortness</a:t>
            </a:r>
            <a:r>
              <a:rPr lang="en-GM" sz="3200" dirty="0"/>
              <a:t> of breath, nausea, neck pain, </a:t>
            </a:r>
            <a:r>
              <a:rPr lang="en-GM" sz="3200" dirty="0" err="1"/>
              <a:t>fatique</a:t>
            </a:r>
            <a:r>
              <a:rPr lang="en-GM" sz="3200" dirty="0"/>
              <a:t>,  </a:t>
            </a:r>
            <a:endParaRPr lang="en-US" sz="3200" dirty="0"/>
          </a:p>
        </p:txBody>
      </p:sp>
    </p:spTree>
    <p:extLst>
      <p:ext uri="{BB962C8B-B14F-4D97-AF65-F5344CB8AC3E}">
        <p14:creationId xmlns:p14="http://schemas.microsoft.com/office/powerpoint/2010/main" val="3705507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1F0D-7D2B-8438-5323-8B14DF8427FC}"/>
              </a:ext>
            </a:extLst>
          </p:cNvPr>
          <p:cNvSpPr>
            <a:spLocks noGrp="1"/>
          </p:cNvSpPr>
          <p:nvPr>
            <p:ph type="title"/>
          </p:nvPr>
        </p:nvSpPr>
        <p:spPr>
          <a:xfrm>
            <a:off x="626301" y="365125"/>
            <a:ext cx="10727499" cy="1460500"/>
          </a:xfrm>
        </p:spPr>
        <p:txBody>
          <a:bodyPr/>
          <a:lstStyle/>
          <a:p>
            <a:r>
              <a:rPr lang="en-GM" b="1" dirty="0">
                <a:solidFill>
                  <a:srgbClr val="C00000"/>
                </a:solidFill>
              </a:rPr>
              <a:t>MEDICAL MANAGEMENT</a:t>
            </a:r>
            <a:endParaRPr lang="en-US" b="1" dirty="0">
              <a:solidFill>
                <a:srgbClr val="C00000"/>
              </a:solidFill>
            </a:endParaRPr>
          </a:p>
        </p:txBody>
      </p:sp>
      <p:sp>
        <p:nvSpPr>
          <p:cNvPr id="3" name="Content Placeholder 2">
            <a:extLst>
              <a:ext uri="{FF2B5EF4-FFF2-40B4-BE49-F238E27FC236}">
                <a16:creationId xmlns:a16="http://schemas.microsoft.com/office/drawing/2014/main" id="{94ED8927-3A98-C45D-A10B-29369524282A}"/>
              </a:ext>
            </a:extLst>
          </p:cNvPr>
          <p:cNvSpPr>
            <a:spLocks noGrp="1"/>
          </p:cNvSpPr>
          <p:nvPr>
            <p:ph idx="1"/>
          </p:nvPr>
        </p:nvSpPr>
        <p:spPr/>
        <p:txBody>
          <a:bodyPr>
            <a:normAutofit fontScale="92500" lnSpcReduction="20000"/>
          </a:bodyPr>
          <a:lstStyle/>
          <a:p>
            <a:r>
              <a:rPr lang="en-GM" sz="3200" dirty="0"/>
              <a:t>The treatment of coronary heart disease depends on how serious the symptoms are and any other health conditions attached.</a:t>
            </a:r>
          </a:p>
          <a:p>
            <a:r>
              <a:rPr lang="en-US" sz="3200" dirty="0"/>
              <a:t>S</a:t>
            </a:r>
            <a:r>
              <a:rPr lang="en-GM" sz="3200" dirty="0" err="1"/>
              <a:t>ome</a:t>
            </a:r>
            <a:r>
              <a:rPr lang="en-GM" sz="3200" dirty="0"/>
              <a:t> medicines can reduce or prevent chest pain and manage other medical conditions that may contribute to coronary heart disease.</a:t>
            </a:r>
          </a:p>
          <a:p>
            <a:r>
              <a:rPr lang="en-US" sz="3200" dirty="0"/>
              <a:t>A</a:t>
            </a:r>
            <a:r>
              <a:rPr lang="en-GM" sz="3200" dirty="0"/>
              <a:t>s part of the treatment, medicines that widen the blood vessels and help the heart beat with less force are prescribe. </a:t>
            </a:r>
            <a:r>
              <a:rPr lang="en-US" sz="3200" dirty="0"/>
              <a:t>T</a:t>
            </a:r>
            <a:r>
              <a:rPr lang="en-GM" sz="3200" dirty="0" err="1"/>
              <a:t>hese</a:t>
            </a:r>
            <a:r>
              <a:rPr lang="en-GM" sz="3200" dirty="0"/>
              <a:t> family of medicines for such treatment are: </a:t>
            </a:r>
            <a:r>
              <a:rPr lang="en-GM" sz="3200" b="1" dirty="0"/>
              <a:t>ACE inhibitors, Beta blockers, calcium channel blockers, nitrates, statins such as atorvastatin, rosuvastatin,</a:t>
            </a:r>
          </a:p>
          <a:p>
            <a:r>
              <a:rPr lang="en-GM" sz="3200" dirty="0"/>
              <a:t>Also </a:t>
            </a:r>
            <a:r>
              <a:rPr lang="en-GM" sz="3200" dirty="0" err="1"/>
              <a:t>antipl</a:t>
            </a:r>
            <a:r>
              <a:rPr lang="en-US" sz="3200" dirty="0"/>
              <a:t>a</a:t>
            </a:r>
            <a:r>
              <a:rPr lang="en-GM" sz="3200" dirty="0" err="1"/>
              <a:t>telet</a:t>
            </a:r>
            <a:r>
              <a:rPr lang="en-GM" sz="3200" dirty="0"/>
              <a:t> therapy </a:t>
            </a:r>
            <a:r>
              <a:rPr lang="en-GM" sz="3200" dirty="0" err="1"/>
              <a:t>e.g</a:t>
            </a:r>
            <a:r>
              <a:rPr lang="en-GM" sz="3200" dirty="0"/>
              <a:t>, </a:t>
            </a:r>
            <a:r>
              <a:rPr lang="en-US" sz="3200" b="1" dirty="0"/>
              <a:t>L</a:t>
            </a:r>
            <a:r>
              <a:rPr lang="en-GM" sz="3200" b="1" dirty="0"/>
              <a:t>ow dose of Aspirin 75mg, and clopidogrel 75mg daily. </a:t>
            </a:r>
            <a:endParaRPr lang="en-US" sz="3200" b="1" dirty="0"/>
          </a:p>
        </p:txBody>
      </p:sp>
    </p:spTree>
    <p:extLst>
      <p:ext uri="{BB962C8B-B14F-4D97-AF65-F5344CB8AC3E}">
        <p14:creationId xmlns:p14="http://schemas.microsoft.com/office/powerpoint/2010/main" val="114434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6FF6-1C76-81C5-9E24-9539B39DA5E9}"/>
              </a:ext>
            </a:extLst>
          </p:cNvPr>
          <p:cNvSpPr>
            <a:spLocks noGrp="1"/>
          </p:cNvSpPr>
          <p:nvPr>
            <p:ph type="title"/>
          </p:nvPr>
        </p:nvSpPr>
        <p:spPr/>
        <p:txBody>
          <a:bodyPr/>
          <a:lstStyle/>
          <a:p>
            <a:r>
              <a:rPr lang="en-GM" b="1" dirty="0">
                <a:solidFill>
                  <a:srgbClr val="C00000"/>
                </a:solidFill>
              </a:rPr>
              <a:t>MEDICAL MANAGEMENT CONTS...</a:t>
            </a:r>
            <a:endParaRPr lang="en-US" b="1" dirty="0">
              <a:solidFill>
                <a:srgbClr val="C00000"/>
              </a:solidFill>
            </a:endParaRPr>
          </a:p>
        </p:txBody>
      </p:sp>
      <p:sp>
        <p:nvSpPr>
          <p:cNvPr id="3" name="Content Placeholder 2">
            <a:extLst>
              <a:ext uri="{FF2B5EF4-FFF2-40B4-BE49-F238E27FC236}">
                <a16:creationId xmlns:a16="http://schemas.microsoft.com/office/drawing/2014/main" id="{77BC530F-5BA6-EE2F-0BAD-E924C8578AE0}"/>
              </a:ext>
            </a:extLst>
          </p:cNvPr>
          <p:cNvSpPr>
            <a:spLocks noGrp="1"/>
          </p:cNvSpPr>
          <p:nvPr>
            <p:ph idx="1"/>
          </p:nvPr>
        </p:nvSpPr>
        <p:spPr/>
        <p:txBody>
          <a:bodyPr/>
          <a:lstStyle/>
          <a:p>
            <a:r>
              <a:rPr lang="en-GM" b="1" dirty="0">
                <a:solidFill>
                  <a:srgbClr val="002060"/>
                </a:solidFill>
              </a:rPr>
              <a:t>EXAMPLES OF THE MEDICATIONS:</a:t>
            </a:r>
          </a:p>
          <a:p>
            <a:r>
              <a:rPr lang="en-GM" b="1" dirty="0">
                <a:solidFill>
                  <a:srgbClr val="002060"/>
                </a:solidFill>
              </a:rPr>
              <a:t>ACE Inhibitors: </a:t>
            </a:r>
            <a:r>
              <a:rPr lang="en-GM" dirty="0"/>
              <a:t>lisinopril 5-10mg OD, Enalapril 50-100mg OD, Captopril 25-50mg BD, </a:t>
            </a:r>
          </a:p>
          <a:p>
            <a:r>
              <a:rPr lang="en-GM" b="1" dirty="0">
                <a:solidFill>
                  <a:srgbClr val="002060"/>
                </a:solidFill>
              </a:rPr>
              <a:t>CALCIUM CHANNEL BLOCKERS: </a:t>
            </a:r>
            <a:r>
              <a:rPr lang="en-GM" dirty="0"/>
              <a:t>Amlodipine 5-10mg OD, Nicardipine 30mg OD, Nifedipine 10-20mg OD, Felodipine 10-20mg OD, isradipine2.5mg-20mg within 24hours.</a:t>
            </a:r>
          </a:p>
          <a:p>
            <a:r>
              <a:rPr lang="en-GM" b="1" dirty="0">
                <a:solidFill>
                  <a:srgbClr val="002060"/>
                </a:solidFill>
              </a:rPr>
              <a:t>NITRATES: </a:t>
            </a:r>
            <a:r>
              <a:rPr lang="en-GM" dirty="0" err="1"/>
              <a:t>Isorsobide</a:t>
            </a:r>
            <a:r>
              <a:rPr lang="en-GM" dirty="0"/>
              <a:t> dinitrate 10mg OD, </a:t>
            </a:r>
            <a:r>
              <a:rPr lang="en-GM" dirty="0" err="1"/>
              <a:t>Isorsobide</a:t>
            </a:r>
            <a:r>
              <a:rPr lang="en-GM" dirty="0"/>
              <a:t> mononitrate  10-30MG NOCT. (chronic angina pectoris treatment) </a:t>
            </a:r>
          </a:p>
          <a:p>
            <a:r>
              <a:rPr lang="en-GM" b="1" dirty="0">
                <a:solidFill>
                  <a:srgbClr val="002060"/>
                </a:solidFill>
              </a:rPr>
              <a:t>ANTIDIABETES</a:t>
            </a:r>
            <a:r>
              <a:rPr lang="en-GM" dirty="0">
                <a:solidFill>
                  <a:srgbClr val="002060"/>
                </a:solidFill>
              </a:rPr>
              <a:t>: </a:t>
            </a:r>
            <a:r>
              <a:rPr lang="en-GM" dirty="0" err="1"/>
              <a:t>Glibenclamide</a:t>
            </a:r>
            <a:r>
              <a:rPr lang="en-GM" dirty="0"/>
              <a:t> 5mg OD, Metformin 500mg TDS, </a:t>
            </a:r>
            <a:endParaRPr lang="en-US" dirty="0"/>
          </a:p>
        </p:txBody>
      </p:sp>
    </p:spTree>
    <p:extLst>
      <p:ext uri="{BB962C8B-B14F-4D97-AF65-F5344CB8AC3E}">
        <p14:creationId xmlns:p14="http://schemas.microsoft.com/office/powerpoint/2010/main" val="22848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4E49-7E80-3C20-5F0B-3F97F8D8091D}"/>
              </a:ext>
            </a:extLst>
          </p:cNvPr>
          <p:cNvSpPr>
            <a:spLocks noGrp="1"/>
          </p:cNvSpPr>
          <p:nvPr>
            <p:ph type="title"/>
          </p:nvPr>
        </p:nvSpPr>
        <p:spPr/>
        <p:txBody>
          <a:bodyPr/>
          <a:lstStyle/>
          <a:p>
            <a:r>
              <a:rPr lang="en-GM" b="1" dirty="0">
                <a:solidFill>
                  <a:srgbClr val="C00000"/>
                </a:solidFill>
              </a:rPr>
              <a:t>MEDICAL MANAGEMENT CONTS....</a:t>
            </a:r>
            <a:endParaRPr lang="en-US" b="1" dirty="0">
              <a:solidFill>
                <a:srgbClr val="C00000"/>
              </a:solidFill>
            </a:endParaRPr>
          </a:p>
        </p:txBody>
      </p:sp>
      <p:sp>
        <p:nvSpPr>
          <p:cNvPr id="3" name="Content Placeholder 2">
            <a:extLst>
              <a:ext uri="{FF2B5EF4-FFF2-40B4-BE49-F238E27FC236}">
                <a16:creationId xmlns:a16="http://schemas.microsoft.com/office/drawing/2014/main" id="{1270E447-7809-71C3-DA99-CBBF8E987B97}"/>
              </a:ext>
            </a:extLst>
          </p:cNvPr>
          <p:cNvSpPr>
            <a:spLocks noGrp="1"/>
          </p:cNvSpPr>
          <p:nvPr>
            <p:ph idx="1"/>
          </p:nvPr>
        </p:nvSpPr>
        <p:spPr/>
        <p:txBody>
          <a:bodyPr/>
          <a:lstStyle/>
          <a:p>
            <a:r>
              <a:rPr lang="en-GM" dirty="0"/>
              <a:t>The patient with coronary heart disease may need a procedure or heart surgery. </a:t>
            </a:r>
          </a:p>
          <a:p>
            <a:r>
              <a:rPr lang="en-GM" b="1" dirty="0">
                <a:solidFill>
                  <a:srgbClr val="002060"/>
                </a:solidFill>
              </a:rPr>
              <a:t>PERCUTENEOUS CORONARY INTERVENTION(PCI) </a:t>
            </a:r>
            <a:r>
              <a:rPr lang="en-GM" dirty="0"/>
              <a:t>This procedure involve opening coronary arteries that are narrowed or blocked by the build up of plaque. This procedure is done through the use of shock waves to break up the hardened plaque and may also implant a small mesh tube, or stent, in the artery to prevent it from narrowing again. </a:t>
            </a:r>
            <a:endParaRPr lang="en-US" dirty="0"/>
          </a:p>
        </p:txBody>
      </p:sp>
    </p:spTree>
    <p:extLst>
      <p:ext uri="{BB962C8B-B14F-4D97-AF65-F5344CB8AC3E}">
        <p14:creationId xmlns:p14="http://schemas.microsoft.com/office/powerpoint/2010/main" val="3120509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45FB2-489F-D3ED-2E87-A76C4B2B490D}"/>
              </a:ext>
            </a:extLst>
          </p:cNvPr>
          <p:cNvSpPr>
            <a:spLocks noGrp="1"/>
          </p:cNvSpPr>
          <p:nvPr>
            <p:ph type="title"/>
          </p:nvPr>
        </p:nvSpPr>
        <p:spPr>
          <a:xfrm>
            <a:off x="1063669" y="500062"/>
            <a:ext cx="10515600" cy="1325563"/>
          </a:xfrm>
        </p:spPr>
        <p:txBody>
          <a:bodyPr/>
          <a:lstStyle/>
          <a:p>
            <a:r>
              <a:rPr lang="en-GM" b="1" dirty="0">
                <a:solidFill>
                  <a:srgbClr val="C00000"/>
                </a:solidFill>
              </a:rPr>
              <a:t>MEDICAL MANAGEMENT CONTS...</a:t>
            </a:r>
            <a:endParaRPr lang="en-US" b="1" dirty="0">
              <a:solidFill>
                <a:srgbClr val="C00000"/>
              </a:solidFill>
            </a:endParaRPr>
          </a:p>
        </p:txBody>
      </p:sp>
      <p:sp>
        <p:nvSpPr>
          <p:cNvPr id="3" name="Content Placeholder 2">
            <a:extLst>
              <a:ext uri="{FF2B5EF4-FFF2-40B4-BE49-F238E27FC236}">
                <a16:creationId xmlns:a16="http://schemas.microsoft.com/office/drawing/2014/main" id="{FBA9FB60-A789-D244-77AD-FD92E101F516}"/>
              </a:ext>
            </a:extLst>
          </p:cNvPr>
          <p:cNvSpPr>
            <a:spLocks noGrp="1"/>
          </p:cNvSpPr>
          <p:nvPr>
            <p:ph idx="1"/>
          </p:nvPr>
        </p:nvSpPr>
        <p:spPr/>
        <p:txBody>
          <a:bodyPr/>
          <a:lstStyle/>
          <a:p>
            <a:r>
              <a:rPr lang="en-GM" b="1" dirty="0">
                <a:solidFill>
                  <a:srgbClr val="002060"/>
                </a:solidFill>
              </a:rPr>
              <a:t>Coronary artery bypass grafting (CABG): </a:t>
            </a:r>
            <a:r>
              <a:rPr lang="en-GM" dirty="0"/>
              <a:t>This improves blood flow to the heart by using the healthy arteries from the chest wall and veins from the legs to bypass the blocked arteries.</a:t>
            </a:r>
          </a:p>
          <a:p>
            <a:r>
              <a:rPr lang="en-GM" b="1" dirty="0">
                <a:solidFill>
                  <a:srgbClr val="002060"/>
                </a:solidFill>
              </a:rPr>
              <a:t>BARIATRIC SURGERY: </a:t>
            </a:r>
            <a:r>
              <a:rPr lang="en-GM" dirty="0"/>
              <a:t>This help lower the risk of coronary artery disease and other problems that affects the blood vessels for people with obesity, and also for people who has diabetes.  </a:t>
            </a:r>
            <a:endParaRPr lang="en-US" dirty="0"/>
          </a:p>
        </p:txBody>
      </p:sp>
    </p:spTree>
    <p:extLst>
      <p:ext uri="{BB962C8B-B14F-4D97-AF65-F5344CB8AC3E}">
        <p14:creationId xmlns:p14="http://schemas.microsoft.com/office/powerpoint/2010/main" val="3405020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CBD8F-9AD4-E976-6427-54DE1B326957}"/>
              </a:ext>
            </a:extLst>
          </p:cNvPr>
          <p:cNvSpPr>
            <a:spLocks noGrp="1"/>
          </p:cNvSpPr>
          <p:nvPr>
            <p:ph type="title"/>
          </p:nvPr>
        </p:nvSpPr>
        <p:spPr/>
        <p:txBody>
          <a:bodyPr>
            <a:normAutofit/>
          </a:bodyPr>
          <a:lstStyle/>
          <a:p>
            <a:r>
              <a:rPr lang="en-GM" sz="5400" b="1" dirty="0">
                <a:solidFill>
                  <a:srgbClr val="C00000"/>
                </a:solidFill>
              </a:rPr>
              <a:t>NURSING MANAGEMENT</a:t>
            </a:r>
            <a:endParaRPr lang="en-US" sz="5400" b="1" dirty="0">
              <a:solidFill>
                <a:srgbClr val="C00000"/>
              </a:solidFill>
            </a:endParaRPr>
          </a:p>
        </p:txBody>
      </p:sp>
      <p:sp>
        <p:nvSpPr>
          <p:cNvPr id="3" name="Content Placeholder 2">
            <a:extLst>
              <a:ext uri="{FF2B5EF4-FFF2-40B4-BE49-F238E27FC236}">
                <a16:creationId xmlns:a16="http://schemas.microsoft.com/office/drawing/2014/main" id="{FE27E4AA-FFA0-5FE0-A514-AA1494AFB9D9}"/>
              </a:ext>
            </a:extLst>
          </p:cNvPr>
          <p:cNvSpPr>
            <a:spLocks noGrp="1"/>
          </p:cNvSpPr>
          <p:nvPr>
            <p:ph idx="1"/>
          </p:nvPr>
        </p:nvSpPr>
        <p:spPr/>
        <p:txBody>
          <a:bodyPr>
            <a:normAutofit fontScale="92500" lnSpcReduction="10000"/>
          </a:bodyPr>
          <a:lstStyle/>
          <a:p>
            <a:r>
              <a:rPr lang="en-GM" sz="3200" dirty="0"/>
              <a:t>Monitor patient vital signs</a:t>
            </a:r>
          </a:p>
          <a:p>
            <a:r>
              <a:rPr lang="en-US" sz="3200" dirty="0"/>
              <a:t>A</a:t>
            </a:r>
            <a:r>
              <a:rPr lang="en-GM" sz="3200" dirty="0" err="1"/>
              <a:t>lleviate</a:t>
            </a:r>
            <a:r>
              <a:rPr lang="en-GM" sz="3200" dirty="0"/>
              <a:t> patient anxiety and reassure family members</a:t>
            </a:r>
          </a:p>
          <a:p>
            <a:r>
              <a:rPr lang="en-US" sz="3200" dirty="0"/>
              <a:t>C</a:t>
            </a:r>
            <a:r>
              <a:rPr lang="en-GM" sz="3200" dirty="0" err="1"/>
              <a:t>onduct</a:t>
            </a:r>
            <a:r>
              <a:rPr lang="en-GM" sz="3200" dirty="0"/>
              <a:t> general physical examination to rule out other abnormalities such as </a:t>
            </a:r>
            <a:r>
              <a:rPr lang="en-GM" sz="3200" dirty="0" err="1"/>
              <a:t>edema</a:t>
            </a:r>
            <a:endParaRPr lang="en-GM" sz="3200" dirty="0"/>
          </a:p>
          <a:p>
            <a:r>
              <a:rPr lang="en-US" sz="3200" dirty="0"/>
              <a:t>L</a:t>
            </a:r>
            <a:r>
              <a:rPr lang="en-GM" sz="3200" dirty="0" err="1"/>
              <a:t>isten</a:t>
            </a:r>
            <a:r>
              <a:rPr lang="en-GM" sz="3200" dirty="0"/>
              <a:t> or auscultate the lungs for crackle sounds</a:t>
            </a:r>
          </a:p>
          <a:p>
            <a:r>
              <a:rPr lang="en-US" sz="3200" dirty="0"/>
              <a:t>M</a:t>
            </a:r>
            <a:r>
              <a:rPr lang="en-GM" sz="3200" dirty="0" err="1"/>
              <a:t>ake</a:t>
            </a:r>
            <a:r>
              <a:rPr lang="en-GM" sz="3200" dirty="0"/>
              <a:t> the patient comfortable</a:t>
            </a:r>
          </a:p>
          <a:p>
            <a:pPr marL="0" indent="0">
              <a:buNone/>
            </a:pPr>
            <a:r>
              <a:rPr lang="en-GM" sz="3200" dirty="0"/>
              <a:t>-</a:t>
            </a:r>
            <a:r>
              <a:rPr lang="en-US" sz="3200" dirty="0"/>
              <a:t>W</a:t>
            </a:r>
            <a:r>
              <a:rPr lang="en-GM" sz="3200" dirty="0" err="1"/>
              <a:t>eigh</a:t>
            </a:r>
            <a:r>
              <a:rPr lang="en-GM" sz="3200" dirty="0"/>
              <a:t> the patient daily to ensure that they are not fluid overload</a:t>
            </a:r>
          </a:p>
          <a:p>
            <a:pPr marL="0" indent="0">
              <a:buNone/>
            </a:pPr>
            <a:r>
              <a:rPr lang="en-GM" sz="3200" dirty="0"/>
              <a:t> -Administer oxygen as prescribe</a:t>
            </a:r>
          </a:p>
          <a:p>
            <a:pPr marL="0" indent="0">
              <a:buNone/>
            </a:pPr>
            <a:r>
              <a:rPr lang="en-GM" sz="3200" dirty="0"/>
              <a:t>-Administer medications as prescribe</a:t>
            </a:r>
          </a:p>
          <a:p>
            <a:pPr marL="0" indent="0">
              <a:buNone/>
            </a:pPr>
            <a:endParaRPr lang="en-GM" dirty="0"/>
          </a:p>
          <a:p>
            <a:endParaRPr lang="en-US" dirty="0"/>
          </a:p>
        </p:txBody>
      </p:sp>
    </p:spTree>
    <p:extLst>
      <p:ext uri="{BB962C8B-B14F-4D97-AF65-F5344CB8AC3E}">
        <p14:creationId xmlns:p14="http://schemas.microsoft.com/office/powerpoint/2010/main" val="4196757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D531-66CE-BC8E-27C8-DC6FE28E649D}"/>
              </a:ext>
            </a:extLst>
          </p:cNvPr>
          <p:cNvSpPr>
            <a:spLocks noGrp="1"/>
          </p:cNvSpPr>
          <p:nvPr>
            <p:ph type="title"/>
          </p:nvPr>
        </p:nvSpPr>
        <p:spPr/>
        <p:txBody>
          <a:bodyPr>
            <a:normAutofit/>
          </a:bodyPr>
          <a:lstStyle/>
          <a:p>
            <a:r>
              <a:rPr lang="en-GM" sz="5400" b="1" dirty="0">
                <a:solidFill>
                  <a:srgbClr val="C00000"/>
                </a:solidFill>
              </a:rPr>
              <a:t>NURSING MANAGEMENT CONTS....</a:t>
            </a:r>
            <a:endParaRPr lang="en-US" sz="5400" b="1" dirty="0">
              <a:solidFill>
                <a:srgbClr val="C00000"/>
              </a:solidFill>
            </a:endParaRPr>
          </a:p>
        </p:txBody>
      </p:sp>
      <p:sp>
        <p:nvSpPr>
          <p:cNvPr id="3" name="Content Placeholder 2">
            <a:extLst>
              <a:ext uri="{FF2B5EF4-FFF2-40B4-BE49-F238E27FC236}">
                <a16:creationId xmlns:a16="http://schemas.microsoft.com/office/drawing/2014/main" id="{C7F54D58-5145-F729-7336-5FA9E503084D}"/>
              </a:ext>
            </a:extLst>
          </p:cNvPr>
          <p:cNvSpPr>
            <a:spLocks noGrp="1"/>
          </p:cNvSpPr>
          <p:nvPr>
            <p:ph idx="1"/>
          </p:nvPr>
        </p:nvSpPr>
        <p:spPr/>
        <p:txBody>
          <a:bodyPr>
            <a:normAutofit/>
          </a:bodyPr>
          <a:lstStyle/>
          <a:p>
            <a:r>
              <a:rPr lang="en-GM" sz="3600" dirty="0"/>
              <a:t>Quantify type, characteristic and intensity of pain</a:t>
            </a:r>
          </a:p>
          <a:p>
            <a:r>
              <a:rPr lang="en-US" sz="3600" dirty="0"/>
              <a:t>P</a:t>
            </a:r>
            <a:r>
              <a:rPr lang="en-GM" sz="3600" dirty="0" err="1"/>
              <a:t>rovide</a:t>
            </a:r>
            <a:r>
              <a:rPr lang="en-GM" sz="3600" dirty="0"/>
              <a:t> adequate bed rest</a:t>
            </a:r>
          </a:p>
          <a:p>
            <a:r>
              <a:rPr lang="en-US" sz="3600" dirty="0"/>
              <a:t>S</a:t>
            </a:r>
            <a:r>
              <a:rPr lang="en-GM" sz="3600" dirty="0"/>
              <a:t>et cannular for any IV </a:t>
            </a:r>
            <a:r>
              <a:rPr lang="en-GM" sz="3600" dirty="0" err="1"/>
              <a:t>fluilds</a:t>
            </a:r>
            <a:r>
              <a:rPr lang="en-GM" sz="3600" dirty="0"/>
              <a:t> or medications.</a:t>
            </a:r>
          </a:p>
          <a:p>
            <a:r>
              <a:rPr lang="en-GM" sz="3600" dirty="0"/>
              <a:t>Health educate the patient on life style, medications, and exercise.</a:t>
            </a:r>
            <a:endParaRPr lang="en-US" sz="3600" dirty="0"/>
          </a:p>
        </p:txBody>
      </p:sp>
    </p:spTree>
    <p:extLst>
      <p:ext uri="{BB962C8B-B14F-4D97-AF65-F5344CB8AC3E}">
        <p14:creationId xmlns:p14="http://schemas.microsoft.com/office/powerpoint/2010/main" val="528538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CB350-93E9-EC5A-E464-8D5D2EBB9496}"/>
              </a:ext>
            </a:extLst>
          </p:cNvPr>
          <p:cNvSpPr>
            <a:spLocks noGrp="1"/>
          </p:cNvSpPr>
          <p:nvPr>
            <p:ph type="title"/>
          </p:nvPr>
        </p:nvSpPr>
        <p:spPr/>
        <p:txBody>
          <a:bodyPr>
            <a:normAutofit/>
          </a:bodyPr>
          <a:lstStyle/>
          <a:p>
            <a:r>
              <a:rPr lang="en-GM" sz="5400" b="1" dirty="0">
                <a:solidFill>
                  <a:srgbClr val="C00000"/>
                </a:solidFill>
              </a:rPr>
              <a:t>PREVENTIONS</a:t>
            </a:r>
            <a:endParaRPr lang="en-US" sz="5400" b="1" dirty="0">
              <a:solidFill>
                <a:srgbClr val="C00000"/>
              </a:solidFill>
            </a:endParaRPr>
          </a:p>
        </p:txBody>
      </p:sp>
      <p:sp>
        <p:nvSpPr>
          <p:cNvPr id="3" name="Content Placeholder 2">
            <a:extLst>
              <a:ext uri="{FF2B5EF4-FFF2-40B4-BE49-F238E27FC236}">
                <a16:creationId xmlns:a16="http://schemas.microsoft.com/office/drawing/2014/main" id="{D89CB5BD-87B5-1F65-67D4-A52602D564FF}"/>
              </a:ext>
            </a:extLst>
          </p:cNvPr>
          <p:cNvSpPr>
            <a:spLocks noGrp="1"/>
          </p:cNvSpPr>
          <p:nvPr>
            <p:ph idx="1"/>
          </p:nvPr>
        </p:nvSpPr>
        <p:spPr/>
        <p:txBody>
          <a:bodyPr>
            <a:normAutofit fontScale="92500" lnSpcReduction="10000"/>
          </a:bodyPr>
          <a:lstStyle/>
          <a:p>
            <a:r>
              <a:rPr lang="en-GM" sz="3600" dirty="0"/>
              <a:t>Eat healthy balance diet</a:t>
            </a:r>
          </a:p>
          <a:p>
            <a:r>
              <a:rPr lang="en-US" sz="3600" dirty="0"/>
              <a:t>M</a:t>
            </a:r>
            <a:r>
              <a:rPr lang="en-GM" sz="3600" dirty="0" err="1"/>
              <a:t>aintain</a:t>
            </a:r>
            <a:r>
              <a:rPr lang="en-GM" sz="3600" dirty="0"/>
              <a:t> regular exercise</a:t>
            </a:r>
          </a:p>
          <a:p>
            <a:r>
              <a:rPr lang="en-US" sz="3600" dirty="0"/>
              <a:t>K</a:t>
            </a:r>
            <a:r>
              <a:rPr lang="en-GM" sz="3600" dirty="0" err="1"/>
              <a:t>eep</a:t>
            </a:r>
            <a:r>
              <a:rPr lang="en-GM" sz="3600" dirty="0"/>
              <a:t> to healthy weight</a:t>
            </a:r>
          </a:p>
          <a:p>
            <a:r>
              <a:rPr lang="en-US" sz="3600" dirty="0"/>
              <a:t>A</a:t>
            </a:r>
            <a:r>
              <a:rPr lang="en-GM" sz="3600" dirty="0"/>
              <a:t>void smoking</a:t>
            </a:r>
          </a:p>
          <a:p>
            <a:r>
              <a:rPr lang="en-US" sz="3600" dirty="0"/>
              <a:t>A</a:t>
            </a:r>
            <a:r>
              <a:rPr lang="en-GM" sz="3600" dirty="0"/>
              <a:t>void excessive alcohol intake</a:t>
            </a:r>
          </a:p>
          <a:p>
            <a:r>
              <a:rPr lang="en-US" sz="3600" dirty="0"/>
              <a:t>K</a:t>
            </a:r>
            <a:r>
              <a:rPr lang="en-GM" sz="3600" dirty="0" err="1"/>
              <a:t>eep</a:t>
            </a:r>
            <a:r>
              <a:rPr lang="en-GM" sz="3600" dirty="0"/>
              <a:t> your blood pressure under control</a:t>
            </a:r>
          </a:p>
          <a:p>
            <a:r>
              <a:rPr lang="en-US" sz="3600" dirty="0"/>
              <a:t>K</a:t>
            </a:r>
            <a:r>
              <a:rPr lang="en-GM" sz="3600" dirty="0" err="1"/>
              <a:t>eep</a:t>
            </a:r>
            <a:r>
              <a:rPr lang="en-GM" sz="3600" dirty="0"/>
              <a:t> your diabetes or blood sugar under control</a:t>
            </a:r>
          </a:p>
          <a:p>
            <a:r>
              <a:rPr lang="en-US" sz="3600" dirty="0"/>
              <a:t>T</a:t>
            </a:r>
            <a:r>
              <a:rPr lang="en-GM" sz="3600" dirty="0" err="1"/>
              <a:t>ake</a:t>
            </a:r>
            <a:r>
              <a:rPr lang="en-GM" sz="3600" dirty="0"/>
              <a:t> your prescribe medications regularly</a:t>
            </a:r>
            <a:endParaRPr lang="en-US" sz="3600" dirty="0"/>
          </a:p>
        </p:txBody>
      </p:sp>
    </p:spTree>
    <p:extLst>
      <p:ext uri="{BB962C8B-B14F-4D97-AF65-F5344CB8AC3E}">
        <p14:creationId xmlns:p14="http://schemas.microsoft.com/office/powerpoint/2010/main" val="598884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4455-FB14-4CCD-49E3-55C6B734E1AA}"/>
              </a:ext>
            </a:extLst>
          </p:cNvPr>
          <p:cNvSpPr>
            <a:spLocks noGrp="1"/>
          </p:cNvSpPr>
          <p:nvPr>
            <p:ph type="title"/>
          </p:nvPr>
        </p:nvSpPr>
        <p:spPr/>
        <p:txBody>
          <a:bodyPr>
            <a:normAutofit/>
          </a:bodyPr>
          <a:lstStyle/>
          <a:p>
            <a:r>
              <a:rPr lang="en-GM" sz="5400" b="1" dirty="0">
                <a:solidFill>
                  <a:srgbClr val="C00000"/>
                </a:solidFill>
              </a:rPr>
              <a:t>COMPLICATIONS</a:t>
            </a:r>
            <a:endParaRPr lang="en-US" sz="5400" b="1" dirty="0">
              <a:solidFill>
                <a:srgbClr val="C00000"/>
              </a:solidFill>
            </a:endParaRPr>
          </a:p>
        </p:txBody>
      </p:sp>
      <p:sp>
        <p:nvSpPr>
          <p:cNvPr id="3" name="Content Placeholder 2">
            <a:extLst>
              <a:ext uri="{FF2B5EF4-FFF2-40B4-BE49-F238E27FC236}">
                <a16:creationId xmlns:a16="http://schemas.microsoft.com/office/drawing/2014/main" id="{AB71A7C2-DBA2-E1D6-636D-4F26764B0E1B}"/>
              </a:ext>
            </a:extLst>
          </p:cNvPr>
          <p:cNvSpPr>
            <a:spLocks noGrp="1"/>
          </p:cNvSpPr>
          <p:nvPr>
            <p:ph idx="1"/>
          </p:nvPr>
        </p:nvSpPr>
        <p:spPr/>
        <p:txBody>
          <a:bodyPr>
            <a:normAutofit/>
          </a:bodyPr>
          <a:lstStyle/>
          <a:p>
            <a:r>
              <a:rPr lang="en-GM" sz="4000" dirty="0"/>
              <a:t>Angina</a:t>
            </a:r>
          </a:p>
          <a:p>
            <a:r>
              <a:rPr lang="en-US" sz="4000" dirty="0"/>
              <a:t>H</a:t>
            </a:r>
            <a:r>
              <a:rPr lang="en-GM" sz="4000" dirty="0" err="1"/>
              <a:t>eart</a:t>
            </a:r>
            <a:r>
              <a:rPr lang="en-GM" sz="4000" dirty="0"/>
              <a:t> attack</a:t>
            </a:r>
          </a:p>
          <a:p>
            <a:r>
              <a:rPr lang="en-US" sz="4000" dirty="0"/>
              <a:t>H</a:t>
            </a:r>
            <a:r>
              <a:rPr lang="en-GM" sz="4000" dirty="0" err="1"/>
              <a:t>eart</a:t>
            </a:r>
            <a:r>
              <a:rPr lang="en-GM" sz="4000" dirty="0"/>
              <a:t> failure</a:t>
            </a:r>
          </a:p>
          <a:p>
            <a:r>
              <a:rPr lang="en-US" sz="4000" dirty="0"/>
              <a:t>I</a:t>
            </a:r>
            <a:r>
              <a:rPr lang="en-GM" sz="4000" dirty="0" err="1"/>
              <a:t>rregular</a:t>
            </a:r>
            <a:r>
              <a:rPr lang="en-GM" sz="4000" dirty="0"/>
              <a:t> heart rhythms, called arrhythmias</a:t>
            </a:r>
            <a:endParaRPr lang="en-US" sz="4000" dirty="0"/>
          </a:p>
        </p:txBody>
      </p:sp>
    </p:spTree>
    <p:extLst>
      <p:ext uri="{BB962C8B-B14F-4D97-AF65-F5344CB8AC3E}">
        <p14:creationId xmlns:p14="http://schemas.microsoft.com/office/powerpoint/2010/main" val="1941294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FE33D-C873-0460-50DD-6D5ACA50D1F2}"/>
              </a:ext>
            </a:extLst>
          </p:cNvPr>
          <p:cNvSpPr>
            <a:spLocks noGrp="1"/>
          </p:cNvSpPr>
          <p:nvPr>
            <p:ph type="title"/>
          </p:nvPr>
        </p:nvSpPr>
        <p:spPr/>
        <p:txBody>
          <a:bodyPr>
            <a:normAutofit/>
          </a:bodyPr>
          <a:lstStyle/>
          <a:p>
            <a:r>
              <a:rPr lang="en-GM" sz="8800" b="1" dirty="0">
                <a:solidFill>
                  <a:srgbClr val="C00000"/>
                </a:solidFill>
              </a:rPr>
              <a:t>THE END</a:t>
            </a:r>
            <a:endParaRPr lang="en-US" sz="8800" b="1" dirty="0">
              <a:solidFill>
                <a:srgbClr val="C00000"/>
              </a:solidFill>
            </a:endParaRPr>
          </a:p>
        </p:txBody>
      </p:sp>
      <p:sp>
        <p:nvSpPr>
          <p:cNvPr id="3" name="Content Placeholder 2">
            <a:extLst>
              <a:ext uri="{FF2B5EF4-FFF2-40B4-BE49-F238E27FC236}">
                <a16:creationId xmlns:a16="http://schemas.microsoft.com/office/drawing/2014/main" id="{66E1A4B1-545B-002B-3DCC-54EDED969F7A}"/>
              </a:ext>
            </a:extLst>
          </p:cNvPr>
          <p:cNvSpPr>
            <a:spLocks noGrp="1"/>
          </p:cNvSpPr>
          <p:nvPr>
            <p:ph idx="1"/>
          </p:nvPr>
        </p:nvSpPr>
        <p:spPr/>
        <p:txBody>
          <a:bodyPr>
            <a:normAutofit/>
          </a:bodyPr>
          <a:lstStyle/>
          <a:p>
            <a:r>
              <a:rPr lang="en-GM" sz="6000" b="1" dirty="0">
                <a:solidFill>
                  <a:srgbClr val="002060"/>
                </a:solidFill>
              </a:rPr>
              <a:t>THANK YOU</a:t>
            </a:r>
          </a:p>
          <a:p>
            <a:r>
              <a:rPr lang="en-GM" sz="6000" b="1" dirty="0">
                <a:solidFill>
                  <a:srgbClr val="002060"/>
                </a:solidFill>
              </a:rPr>
              <a:t>ANY QUESTIONS!!!</a:t>
            </a:r>
            <a:endParaRPr lang="en-US" sz="6000" b="1" dirty="0">
              <a:solidFill>
                <a:srgbClr val="002060"/>
              </a:solidFill>
            </a:endParaRPr>
          </a:p>
        </p:txBody>
      </p:sp>
    </p:spTree>
    <p:extLst>
      <p:ext uri="{BB962C8B-B14F-4D97-AF65-F5344CB8AC3E}">
        <p14:creationId xmlns:p14="http://schemas.microsoft.com/office/powerpoint/2010/main" val="779278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692</Words>
  <Application>Microsoft Office PowerPoint</Application>
  <PresentationFormat>Widescreen</PresentationFormat>
  <Paragraphs>77</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 ISCHEMIC/CORONARY HEART DISEASE</vt:lpstr>
      <vt:lpstr>DEFINITION</vt:lpstr>
      <vt:lpstr>CAUSES</vt:lpstr>
      <vt:lpstr>CAUSES CONTINUES...</vt:lpstr>
      <vt:lpstr>SIGNS AND SYMPTOMS</vt:lpstr>
      <vt:lpstr>MEDICAL MANAGEMENT</vt:lpstr>
      <vt:lpstr>MEDICAL MANAGEMENT CONTS...</vt:lpstr>
      <vt:lpstr>MEDICAL MANAGEMENT CONTS....</vt:lpstr>
      <vt:lpstr>MEDICAL MANAGEMENT CONTS...</vt:lpstr>
      <vt:lpstr>NURSING MANAGEMENT</vt:lpstr>
      <vt:lpstr>NURSING MANAGEMENT CONTS....</vt:lpstr>
      <vt:lpstr>PREVENTIONS</vt:lpstr>
      <vt:lpstr>COMPLICATIONS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albertmendy710@gmail.com</dc:creator>
  <cp:lastModifiedBy>Albert Mendy</cp:lastModifiedBy>
  <cp:revision>5</cp:revision>
  <dcterms:created xsi:type="dcterms:W3CDTF">2024-09-03T13:19:08Z</dcterms:created>
  <dcterms:modified xsi:type="dcterms:W3CDTF">2026-07-08T14:15:50Z</dcterms:modified>
</cp:coreProperties>
</file>