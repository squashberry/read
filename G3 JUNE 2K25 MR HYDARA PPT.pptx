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3" r:id="rId8"/>
    <p:sldId id="261" r:id="rId9"/>
    <p:sldId id="262" r:id="rId10"/>
    <p:sldId id="265" r:id="rId11"/>
    <p:sldId id="266" r:id="rId12"/>
    <p:sldId id="267" r:id="rId13"/>
    <p:sldId id="264" r:id="rId14"/>
    <p:sldId id="270" r:id="rId15"/>
    <p:sldId id="269" r:id="rId16"/>
  </p:sldIdLst>
  <p:sldSz cx="12192000" cy="6858000"/>
  <p:notesSz cx="6858000" cy="9144000"/>
  <p:defaultTextStyle>
    <a:defPPr>
      <a:defRPr lang="en-G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2663-E8CA-46E1-8A97-13BB7979B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5BB1A-4E20-4F4C-888E-38C6044C1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594D3-5CDE-464D-9356-F69C2213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5109F-4AAC-47E8-BC42-CE0F758E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6D4E5-ADA0-490A-AE31-CB45D650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284672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CA3C-811B-4097-8091-B3956E29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3389B-B703-4A8F-AB8A-2E368D02A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74A6-F9D4-4555-BCB3-2B6BA5F3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F8DFB-C4DF-4AC8-9B23-E17DCD30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DE736-CABD-4568-BCFD-C7549EAF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422821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55A9-F560-4F86-AFCB-EDC13DCD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19638-A810-4C94-94D0-A154C7C68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899D8-31F0-4337-A9B5-BD49F526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C5A69-C6E2-466D-B631-84B7B6EA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065B6-4287-49CF-8340-5A0DF3D4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23363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B6DA-4591-4259-8429-D9CF58AC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AA7A5-F506-4A79-A882-8887B8C6A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045EE-09A5-4A96-ADD6-FA2801D89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BD495-C578-4967-AC76-592174B3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C84E9-8A58-4547-B075-4CE5464E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4753C-3E48-4A15-A742-450AB77C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87921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78E2-E8BD-4B70-9E25-4510A7C8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31CD4-70D6-4B32-8A5B-160C6DD7D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7EB53-4AFB-4F06-AF2C-10329B719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867D1-29E5-408E-B7CB-7CAFCF88D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01E26-8FC4-4DFE-B892-02A5CFD8A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D52859-12EF-419F-8BE0-61C74A68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968C6-5994-4849-A456-B49E4377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7827C-6BE4-49A1-858D-C48A3EC5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06004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C0F-441A-4E85-AD9B-42C0F7AD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7DE550-A65C-4D1D-B26E-5D062A0A0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0D055-34D9-490F-8264-51A4468B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7BAC9-BBE7-46C2-A768-9ABF655E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6424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C4AC5-F1BE-47F2-B6C5-24916D9C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9E376-9578-4B20-8DE2-EAC204C5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725F9-E2C6-48EA-95CD-083A06D7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0263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3DE2-2D8C-493C-9398-E089B1F1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4B2DF-B94F-43A9-BA16-B5A30182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7A1BC-F34C-4A10-A689-380BFF6E8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0058B-586D-4CC7-9700-DD539D11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90E15-2558-44F0-AE6F-F345D5BC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98B52-1611-4ECC-8161-2ADE360E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120108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C598F-6E3F-431A-B66D-86681658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CDCBA-AD3B-4BD2-B01C-5F068D9BA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1C4B6-3EB1-4244-8F25-D18D02DD0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8EB2A-E2B6-441D-A594-08D8AD77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3CBB1-9A57-4B90-9ABC-0B02B5ED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167E0-90B0-4117-980B-ECD72451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23682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4E43-66E1-4974-91E9-8184166E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5E202-95D3-4C7C-805B-236CA06A1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29BD-0340-43EC-AD42-06903869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F122-10F5-4C9E-A295-5ACEEA7E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A774C-50F5-43C8-A670-77F1CB3E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304746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D4B89-4776-400D-8F13-FAF3E5535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75950-65FF-4C38-9371-7F9E53F2E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CFE6A-AF26-4FDB-9381-A2576744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CA52B-91F0-42D1-AF94-DB15CE31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A815D-26C0-44E5-BF16-A2AE8D20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97949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7CF9A-C8B0-4945-A679-A0CE790C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32715-542A-429B-94EF-187793616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1F562-9921-441E-8232-BBBF42A0F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5DABB-6F2E-42D5-9FCC-ECF4BDD81BED}" type="datetimeFigureOut">
              <a:rPr lang="en-GM" smtClean="0"/>
              <a:t>09/09/2026</a:t>
            </a:fld>
            <a:endParaRPr lang="en-G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4DA1-9083-4152-800D-FD9321367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CF566-1C19-492D-802F-44657ACF9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9AB1C-04EB-4568-A5AE-9E50615CF868}" type="slidenum">
              <a:rPr lang="en-GM" smtClean="0"/>
              <a:t>‹#›</a:t>
            </a:fld>
            <a:endParaRPr lang="en-GM"/>
          </a:p>
        </p:txBody>
      </p:sp>
    </p:spTree>
    <p:extLst>
      <p:ext uri="{BB962C8B-B14F-4D97-AF65-F5344CB8AC3E}">
        <p14:creationId xmlns:p14="http://schemas.microsoft.com/office/powerpoint/2010/main" val="213499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127F-471B-4F02-A7A2-06B168D4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317634"/>
            <a:ext cx="9144000" cy="3827597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UNIVERSITY OF EDUCATION</a:t>
            </a:r>
            <a:br>
              <a:rPr lang="en-GB" dirty="0"/>
            </a:br>
            <a:r>
              <a:rPr lang="en-GB" dirty="0"/>
              <a:t>SCHOOL OF NURSING AND MIDWIFERY</a:t>
            </a:r>
            <a:br>
              <a:rPr lang="en-GB" dirty="0"/>
            </a:br>
            <a:r>
              <a:rPr lang="en-GB" dirty="0"/>
              <a:t>JUNE 2025 INTAKE</a:t>
            </a:r>
            <a:endParaRPr lang="en-G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B8A2A-8410-42A8-A64D-8965A110C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GB" sz="5400" dirty="0"/>
          </a:p>
          <a:p>
            <a:pPr algn="r"/>
            <a:r>
              <a:rPr lang="en-GB" sz="5400" dirty="0"/>
              <a:t>TOPIC: ATHEROSCLEROSIS</a:t>
            </a:r>
            <a:endParaRPr lang="en-GM" sz="5400" dirty="0"/>
          </a:p>
        </p:txBody>
      </p:sp>
    </p:spTree>
    <p:extLst>
      <p:ext uri="{BB962C8B-B14F-4D97-AF65-F5344CB8AC3E}">
        <p14:creationId xmlns:p14="http://schemas.microsoft.com/office/powerpoint/2010/main" val="332691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75903A3-AE53-489D-9B18-AC31A76DBB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83528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91313189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1325493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GROUP MEMBERS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GC NUMBERS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43297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ALASANA SAIDY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2431072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06335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ADEBOMEHIN RACHAEL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2431142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12400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BINTA SANYANG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2431146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46964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EBRIMA  A FATTY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2431166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92884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HARRIET ROSE JARJUE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2431076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427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ISATOU L MARONG 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2431158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13455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ISATOU TOURAY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2431159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37512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MAIMUNA BALDEH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2431056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93254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GB" dirty="0"/>
                        <a:t>SALLY HYDARA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2431105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3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F542-CCBC-4AD0-BB8B-2402998AC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OVERVIEW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63220-E73E-448F-8382-6FA5110F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INTRODUCTION</a:t>
            </a:r>
          </a:p>
          <a:p>
            <a:r>
              <a:rPr lang="en-GB" dirty="0"/>
              <a:t>DEFINITION</a:t>
            </a:r>
          </a:p>
          <a:p>
            <a:r>
              <a:rPr lang="en-GB" dirty="0"/>
              <a:t>AETIOLOGY</a:t>
            </a:r>
          </a:p>
          <a:p>
            <a:r>
              <a:rPr lang="en-GB" dirty="0"/>
              <a:t>PATHOPHYSIOLOGY</a:t>
            </a:r>
          </a:p>
          <a:p>
            <a:r>
              <a:rPr lang="en-GB" dirty="0"/>
              <a:t>SIGNS AND SYMPTOMS</a:t>
            </a:r>
          </a:p>
          <a:p>
            <a:r>
              <a:rPr lang="en-GB" dirty="0"/>
              <a:t>INVESTIGATIONS</a:t>
            </a:r>
          </a:p>
          <a:p>
            <a:r>
              <a:rPr lang="en-GB" dirty="0"/>
              <a:t>NURSING MANAGEMENT</a:t>
            </a:r>
          </a:p>
          <a:p>
            <a:r>
              <a:rPr lang="en-GB" dirty="0"/>
              <a:t>NURSING DIAGNOSIS</a:t>
            </a:r>
          </a:p>
          <a:p>
            <a:r>
              <a:rPr lang="en-GB" dirty="0"/>
              <a:t>COMPLICATIONS</a:t>
            </a:r>
          </a:p>
          <a:p>
            <a:r>
              <a:rPr lang="en-GB" dirty="0"/>
              <a:t>DIFFERENTIAL DIAGNOSIS</a:t>
            </a:r>
          </a:p>
          <a:p>
            <a:r>
              <a:rPr lang="en-GB" dirty="0"/>
              <a:t>REFERENCES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314378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27F69-4EA0-48F7-9849-64C2EFA7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D9B4-2796-4DA6-8F7C-3BA459397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circulatory system depends on healthy arteries to deliver oxygenated blood and nutrients to the heart and body tissues. </a:t>
            </a:r>
          </a:p>
          <a:p>
            <a:pPr marL="0" indent="0">
              <a:buNone/>
            </a:pPr>
            <a:r>
              <a:rPr lang="en-GB" dirty="0"/>
              <a:t>Atherosclerosis is the build up of fats, cholesterol and other substances in and on artery walls. </a:t>
            </a:r>
          </a:p>
          <a:p>
            <a:pPr marL="0" indent="0">
              <a:buNone/>
            </a:pPr>
            <a:r>
              <a:rPr lang="en-GB" dirty="0"/>
              <a:t>It is the leading cause of myocardial infarction (heart attack), stroke and peripheral vascular disease worldwide.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51717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0F83-3D1C-46A0-BA3E-D65B013E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ATHEROSCLEROSIS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1075D-9ED7-4CEE-8494-45E726874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Atherosclerosis can be classified according to the type of arterial lesion/plaque: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Fatty streaks: Early lesions caused by accumulation of lipids in the arterial wall.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Fibrous plaque: A raised lesion containing cholesterol, smooth, muscle cells, and fibrous tissue.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Artheromatous</a:t>
            </a:r>
            <a:r>
              <a:rPr lang="en-GB" dirty="0"/>
              <a:t> plaque: Advanced plaque with lipid-rich core covered by a fibrous cap.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Complicated plaque: Advanced plaque that may rupture, bleed, calcify, or develop a thrombus, potentially causing heart attack or stroke.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4158243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891F-7626-4A9B-8D41-FDA79A0D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0F4B-E868-4318-9111-03B975E48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Atherosclerosis is a specific form of arteriosclerosis characterized by the accumulation of lipids, cholesterol , calcium, cellular waste and fibrous materials within the walls of large and medium-sized arteries forming plaques that narrow and harden the arteries and reduce blood flow.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Simple explanation:</a:t>
            </a:r>
          </a:p>
          <a:p>
            <a:pPr marL="0" indent="0">
              <a:buNone/>
            </a:pPr>
            <a:r>
              <a:rPr lang="en-GB" dirty="0"/>
              <a:t>Fat builds up inside an artery &gt; plaque forms &gt; the artery becomes narrow &gt; less blood reaches tissue. 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41724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9FBE-F690-47C1-8CC7-BE9CDD541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09" y="2"/>
            <a:ext cx="11007291" cy="1193532"/>
          </a:xfrm>
        </p:spPr>
        <p:txBody>
          <a:bodyPr/>
          <a:lstStyle/>
          <a:p>
            <a:r>
              <a:rPr lang="en-GB" dirty="0"/>
              <a:t>AETIOLOGY</a:t>
            </a:r>
            <a:endParaRPr lang="en-GM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AA1258-8674-4FBA-8C2D-361EE2065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529973"/>
              </p:ext>
            </p:extLst>
          </p:nvPr>
        </p:nvGraphicFramePr>
        <p:xfrm>
          <a:off x="0" y="1193533"/>
          <a:ext cx="12192000" cy="566447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2280">
                  <a:extLst>
                    <a:ext uri="{9D8B030D-6E8A-4147-A177-3AD203B41FA5}">
                      <a16:colId xmlns:a16="http://schemas.microsoft.com/office/drawing/2014/main" val="1250755562"/>
                    </a:ext>
                  </a:extLst>
                </a:gridCol>
                <a:gridCol w="6099720">
                  <a:extLst>
                    <a:ext uri="{9D8B030D-6E8A-4147-A177-3AD203B41FA5}">
                      <a16:colId xmlns:a16="http://schemas.microsoft.com/office/drawing/2014/main" val="1524074214"/>
                    </a:ext>
                  </a:extLst>
                </a:gridCol>
              </a:tblGrid>
              <a:tr h="708059">
                <a:tc>
                  <a:txBody>
                    <a:bodyPr/>
                    <a:lstStyle/>
                    <a:p>
                      <a:r>
                        <a:rPr lang="en-GB" dirty="0"/>
                        <a:t>MODIFIABLE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NON-MODIFIABLE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371314"/>
                  </a:ext>
                </a:extLst>
              </a:tr>
              <a:tr h="708059">
                <a:tc>
                  <a:txBody>
                    <a:bodyPr/>
                    <a:lstStyle/>
                    <a:p>
                      <a:r>
                        <a:rPr lang="en-GB" dirty="0"/>
                        <a:t>Smoking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Increasing age: &gt;45 years in men, &gt;55 years in women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1480"/>
                  </a:ext>
                </a:extLst>
              </a:tr>
              <a:tr h="708059">
                <a:tc>
                  <a:txBody>
                    <a:bodyPr/>
                    <a:lstStyle/>
                    <a:p>
                      <a:r>
                        <a:rPr lang="en-GB" dirty="0"/>
                        <a:t>Hypertension 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Male sex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383895"/>
                  </a:ext>
                </a:extLst>
              </a:tr>
              <a:tr h="708059">
                <a:tc>
                  <a:txBody>
                    <a:bodyPr/>
                    <a:lstStyle/>
                    <a:p>
                      <a:r>
                        <a:rPr lang="en-GB" dirty="0" err="1"/>
                        <a:t>Dyslipidemia</a:t>
                      </a:r>
                      <a:r>
                        <a:rPr lang="en-GB" dirty="0"/>
                        <a:t>: high LDL, low HDL, high triglycerides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Family history of family CVD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11003"/>
                  </a:ext>
                </a:extLst>
              </a:tr>
              <a:tr h="708059">
                <a:tc>
                  <a:txBody>
                    <a:bodyPr/>
                    <a:lstStyle/>
                    <a:p>
                      <a:r>
                        <a:rPr lang="en-GB" dirty="0"/>
                        <a:t>Diabetes mellitus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Post menopausal status in women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577379"/>
                  </a:ext>
                </a:extLst>
              </a:tr>
              <a:tr h="708059">
                <a:tc>
                  <a:txBody>
                    <a:bodyPr/>
                    <a:lstStyle/>
                    <a:p>
                      <a:r>
                        <a:rPr lang="en-GB" dirty="0"/>
                        <a:t>Obesity and physical inactivity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450721"/>
                  </a:ext>
                </a:extLst>
              </a:tr>
              <a:tr h="708059">
                <a:tc>
                  <a:txBody>
                    <a:bodyPr/>
                    <a:lstStyle/>
                    <a:p>
                      <a:r>
                        <a:rPr lang="en-GB" dirty="0"/>
                        <a:t>Excessive alcohol use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M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9596"/>
                  </a:ext>
                </a:extLst>
              </a:tr>
              <a:tr h="708059">
                <a:tc>
                  <a:txBody>
                    <a:bodyPr/>
                    <a:lstStyle/>
                    <a:p>
                      <a:r>
                        <a:rPr lang="en-GB" dirty="0"/>
                        <a:t>Chronic stress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018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CB7A-DC7C-4D98-BE2D-A4F594D2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PATHOPHYSIOLOGY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C656-81C6-49BC-99D0-E1D6EED5D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It develops over many years: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Endothelial injury</a:t>
            </a:r>
            <a:r>
              <a:rPr lang="en-GB" dirty="0"/>
              <a:t>: High BP , smoking , high glucose and toxins damage the inner lining.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Lipid Entry</a:t>
            </a:r>
            <a:r>
              <a:rPr lang="en-GB" dirty="0"/>
              <a:t>: LDL “bad cholesterol” enters the damaged wall.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Inflammation</a:t>
            </a:r>
            <a:r>
              <a:rPr lang="en-GB" dirty="0"/>
              <a:t>: Monocytes become macrophages &gt; ingest LDL &gt; become “foam cells.”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Fatty Streak: </a:t>
            </a:r>
            <a:r>
              <a:rPr lang="en-GB" dirty="0"/>
              <a:t>Early lesions forms.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Plaque Formation: </a:t>
            </a:r>
            <a:r>
              <a:rPr lang="en-GB" dirty="0"/>
              <a:t>Smooth muscle cells + collagen + calcium make a fibrous cap over the fatty core.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Arterial Narrowing : </a:t>
            </a:r>
            <a:r>
              <a:rPr lang="en-GB" dirty="0"/>
              <a:t>Reduced blood flow and oxygen to tissues.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Plaque rupture + Thrombosis: </a:t>
            </a:r>
            <a:r>
              <a:rPr lang="en-GB" dirty="0"/>
              <a:t>If the cap ruptures, a blood clot forms which can completely block the artery .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309318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C7315-9040-4C01-B36A-D4160E9C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SIGNS AND SYMPTOMS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8EA9-A002-41A8-98AD-D5C5AC444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Atherosclerosis is “ silent” until an artery is &gt;70% blocked. </a:t>
            </a:r>
          </a:p>
          <a:p>
            <a:pPr marL="0" indent="0">
              <a:buNone/>
            </a:pPr>
            <a:r>
              <a:rPr lang="en-GB" dirty="0"/>
              <a:t>Symptoms depend on the artery affected:</a:t>
            </a:r>
          </a:p>
          <a:p>
            <a:pPr marL="0" indent="0">
              <a:buNone/>
            </a:pPr>
            <a:endParaRPr lang="en-GM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1E507AE-2020-4D23-8CE3-E93A29BA6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54628"/>
              </p:ext>
            </p:extLst>
          </p:nvPr>
        </p:nvGraphicFramePr>
        <p:xfrm>
          <a:off x="0" y="2866100"/>
          <a:ext cx="12192000" cy="39919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82728">
                  <a:extLst>
                    <a:ext uri="{9D8B030D-6E8A-4147-A177-3AD203B41FA5}">
                      <a16:colId xmlns:a16="http://schemas.microsoft.com/office/drawing/2014/main" val="3372869355"/>
                    </a:ext>
                  </a:extLst>
                </a:gridCol>
                <a:gridCol w="4345272">
                  <a:extLst>
                    <a:ext uri="{9D8B030D-6E8A-4147-A177-3AD203B41FA5}">
                      <a16:colId xmlns:a16="http://schemas.microsoft.com/office/drawing/2014/main" val="17295308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57033747"/>
                    </a:ext>
                  </a:extLst>
                </a:gridCol>
              </a:tblGrid>
              <a:tr h="798380">
                <a:tc>
                  <a:txBody>
                    <a:bodyPr/>
                    <a:lstStyle/>
                    <a:p>
                      <a:r>
                        <a:rPr lang="en-GB" dirty="0"/>
                        <a:t>ARTERY AFFECTED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CONDITION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SIGNS AND SYMPTOMS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78466"/>
                  </a:ext>
                </a:extLst>
              </a:tr>
              <a:tr h="798380">
                <a:tc>
                  <a:txBody>
                    <a:bodyPr/>
                    <a:lstStyle/>
                    <a:p>
                      <a:r>
                        <a:rPr lang="en-GB" dirty="0"/>
                        <a:t>Coronary 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Coronary artery disease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Chest pain/angina , SOB, fatigue, MI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001317"/>
                  </a:ext>
                </a:extLst>
              </a:tr>
              <a:tr h="798380">
                <a:tc>
                  <a:txBody>
                    <a:bodyPr/>
                    <a:lstStyle/>
                    <a:p>
                      <a:r>
                        <a:rPr lang="en-GB" dirty="0"/>
                        <a:t>Cerebral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Cerebrovascular Disease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Weakness, slurred speech, facial droop, stroke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910772"/>
                  </a:ext>
                </a:extLst>
              </a:tr>
              <a:tr h="798380">
                <a:tc>
                  <a:txBody>
                    <a:bodyPr/>
                    <a:lstStyle/>
                    <a:p>
                      <a:r>
                        <a:rPr lang="en-GB" dirty="0"/>
                        <a:t>Peripheral 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Peripheral artery disease (PAD)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Leg pain when walking, cold limbs, weak pulses, ulcers, gangrene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010827"/>
                  </a:ext>
                </a:extLst>
              </a:tr>
              <a:tr h="798380">
                <a:tc>
                  <a:txBody>
                    <a:bodyPr/>
                    <a:lstStyle/>
                    <a:p>
                      <a:r>
                        <a:rPr lang="en-GB" dirty="0"/>
                        <a:t>Renal 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Renal artery stenosis</a:t>
                      </a:r>
                      <a:endParaRPr lang="en-G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Hypertension, reduced kidney function</a:t>
                      </a:r>
                      <a:endParaRPr lang="en-G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980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384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AC55-6934-4A7B-A1B4-E69B7550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INVESTIGATIONS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A3EF-7BB7-4958-93D9-1568AD600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Blood tests : Lipid profile, fasting blood glucose, kidney function test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Physical exam: BP measurement, listening for bruits, checking peripheral pulses.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Imaging 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ECG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Carotid ultrasound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Ankle –Brachial index ABI for PAD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Doppler ultrasound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CT Angiography, coronary angiography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418378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34B0-D17A-46A3-8414-C795884F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NURSING MANAGEMENT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D4EC2-8FAE-4464-BAB5-144113D03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ASSESSMENT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Monitor: pain, peripheral pulses, capillary refill, skin colour and temperature.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Assess: chest pain, SOB, neuro status, claudication, wound healing.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Review: lipids, blood glucose, BP readings</a:t>
            </a:r>
          </a:p>
          <a:p>
            <a:pPr marL="514350" indent="-514350">
              <a:buAutoNum type="arabicPeriod" startAt="2"/>
            </a:pPr>
            <a:r>
              <a:rPr lang="en-GB" b="1" dirty="0"/>
              <a:t>NURSING INTERVENTIONS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Promote tissue perfusion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Pain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Medication adherence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Blood glucose monitoring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Risk factor reduction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Wound care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2833302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312E-A2A4-4592-A3BF-748B7250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NURSING DIAGNOSIS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0036C-4430-42FC-8DD7-99F44DF44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INEFFECTIVE TISSUE PERFUSION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Related to</a:t>
            </a:r>
            <a:r>
              <a:rPr lang="en-GB" dirty="0"/>
              <a:t>: Narrowing of arteries by atherosclerotic plaque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As evidenced by</a:t>
            </a:r>
            <a:r>
              <a:rPr lang="en-GB" dirty="0"/>
              <a:t>: Diminished peripheral pulses, cool extremities, leg pain with walking, skin colour changes.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Goal</a:t>
            </a:r>
            <a:r>
              <a:rPr lang="en-GB" dirty="0"/>
              <a:t>: Patient will maintain adequate peripheral circulation. </a:t>
            </a:r>
          </a:p>
          <a:p>
            <a:pPr marL="514350" indent="-514350">
              <a:buAutoNum type="arabicPeriod" startAt="2"/>
            </a:pPr>
            <a:r>
              <a:rPr lang="en-GB" dirty="0"/>
              <a:t>ACUTE PAIN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Related to</a:t>
            </a:r>
            <a:r>
              <a:rPr lang="en-GB" dirty="0"/>
              <a:t>: Reduced blood flow and oxygen to cardiac or peripheral tissues 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As evidenced by</a:t>
            </a:r>
            <a:r>
              <a:rPr lang="en-GB" dirty="0"/>
              <a:t>: chest pain/angina, leg pain with walking , facial grimacing, guarding.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Goal</a:t>
            </a:r>
            <a:r>
              <a:rPr lang="en-GB" dirty="0"/>
              <a:t>: Patient will report pain reduced to 0-2/10</a:t>
            </a:r>
          </a:p>
          <a:p>
            <a:pPr marL="514350" indent="-514350">
              <a:buAutoNum type="arabicPeriod" startAt="3"/>
            </a:pPr>
            <a:r>
              <a:rPr lang="en-GB" dirty="0"/>
              <a:t>RISK FOR ACUTE CORONARY SYNDROME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Related to </a:t>
            </a:r>
            <a:r>
              <a:rPr lang="en-GB" dirty="0"/>
              <a:t>: Atherosclerotic plaque in coronary arteries and risk for plaque rupture.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As evidenced by </a:t>
            </a:r>
            <a:r>
              <a:rPr lang="en-GB" dirty="0"/>
              <a:t>: History of CAD , risk factors ( diabetes, smoking, hypertension)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Goal</a:t>
            </a:r>
            <a:r>
              <a:rPr lang="en-GB" dirty="0"/>
              <a:t> : Patient will remain free of MI</a:t>
            </a:r>
          </a:p>
        </p:txBody>
      </p:sp>
    </p:spTree>
    <p:extLst>
      <p:ext uri="{BB962C8B-B14F-4D97-AF65-F5344CB8AC3E}">
        <p14:creationId xmlns:p14="http://schemas.microsoft.com/office/powerpoint/2010/main" val="2344800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3FF2D-94A3-48D9-B24E-B3B14263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COMPLICATIONS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7788-5F39-4E3B-A2B4-FEEB4F6CD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Angina</a:t>
            </a:r>
            <a:r>
              <a:rPr lang="en-GB" dirty="0"/>
              <a:t>: chest pain due to reduced blood flow.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Myocardial infarction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Stroke</a:t>
            </a:r>
            <a:r>
              <a:rPr lang="en-GB" dirty="0"/>
              <a:t>: brain tissue death.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Peripheral artery disease </a:t>
            </a:r>
            <a:r>
              <a:rPr lang="en-GB" dirty="0"/>
              <a:t>: limb ischemia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Gangrene</a:t>
            </a:r>
            <a:r>
              <a:rPr lang="en-GB" dirty="0"/>
              <a:t>: tissue death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Chronic kidney disease</a:t>
            </a:r>
            <a:r>
              <a:rPr lang="en-GB" dirty="0"/>
              <a:t>: due to renal artery narrowing.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Aneurysm</a:t>
            </a:r>
            <a:r>
              <a:rPr lang="en-GB" dirty="0"/>
              <a:t>: vessel weakness due to severe plaque. 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208422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4516-F3F2-4608-822E-BE4C030F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DIFFERENTIAL DIAGNOSIS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E96E4-5A17-44CC-BC58-F84B24425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Fibromuscular dysplasia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Coronary artery spasm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Deep vein thrombosis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Musculoskeletal disorders </a:t>
            </a:r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4252416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1F59-E8A7-4590-B85C-D6417C0E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G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CB30-B10B-48C7-96FB-D48193930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NANDA International.(2021).NANDA-I Nursing Diagnoses . Definitions and classification 2021-2023. </a:t>
            </a:r>
          </a:p>
          <a:p>
            <a:pPr marL="514350" indent="-514350">
              <a:buAutoNum type="arabicPeriod" startAt="2"/>
            </a:pPr>
            <a:r>
              <a:rPr lang="en-GB" dirty="0"/>
              <a:t>World Health Organization. (2021).Cardiovascular diseases fact sheet.</a:t>
            </a:r>
          </a:p>
          <a:p>
            <a:pPr marL="514350" indent="-514350">
              <a:buAutoNum type="arabicPeriod" startAt="3"/>
            </a:pPr>
            <a:r>
              <a:rPr lang="en-GB" dirty="0"/>
              <a:t>Centres for disease control and prevention.(2023). Heart disease.</a:t>
            </a:r>
          </a:p>
          <a:p>
            <a:pPr marL="514350" indent="-514350">
              <a:buAutoNum type="arabicPeriod" startAt="3"/>
            </a:pPr>
            <a:r>
              <a:rPr lang="en-GB" dirty="0"/>
              <a:t>American college of cardiology/AHA.(2018). Guideline on the management of blood cholesterol. </a:t>
            </a:r>
          </a:p>
          <a:p>
            <a:pPr marL="514350" indent="-514350">
              <a:buAutoNum type="arabicPeriod" startAt="3"/>
            </a:pPr>
            <a:r>
              <a:rPr lang="en-GB" dirty="0"/>
              <a:t>World Health Organization. (2020). WHO guidelines on physical activity and sedentary behaviour.</a:t>
            </a:r>
          </a:p>
          <a:p>
            <a:endParaRPr lang="en-GM" dirty="0"/>
          </a:p>
        </p:txBody>
      </p:sp>
    </p:spTree>
    <p:extLst>
      <p:ext uri="{BB962C8B-B14F-4D97-AF65-F5344CB8AC3E}">
        <p14:creationId xmlns:p14="http://schemas.microsoft.com/office/powerpoint/2010/main" val="248850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901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UNIVERSITY OF EDUCATION SCHOOL OF NURSING AND MIDWIFERY JUNE 2025 INTAKE</vt:lpstr>
      <vt:lpstr>PowerPoint Presentation</vt:lpstr>
      <vt:lpstr>                              OVERVIEW</vt:lpstr>
      <vt:lpstr>INTRODUCTION</vt:lpstr>
      <vt:lpstr>TYPES OF ATHEROSCLEROSIS</vt:lpstr>
      <vt:lpstr>DEFINITION</vt:lpstr>
      <vt:lpstr>AETIOLOGY</vt:lpstr>
      <vt:lpstr>PATHOPHYSIOLOGY</vt:lpstr>
      <vt:lpstr>SIGNS AND SYMPTOMS</vt:lpstr>
      <vt:lpstr>INVESTIGATIONS</vt:lpstr>
      <vt:lpstr>NURSING MANAGEMENT</vt:lpstr>
      <vt:lpstr>NURSING DIAGNOSIS</vt:lpstr>
      <vt:lpstr>COMPLICATIONS</vt:lpstr>
      <vt:lpstr>DIFFERENTIAL DIAGNOSIS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EDUCATION SCHOOL OF NURSING AND MIDWIFERY JUNE 2025 INTAKE</dc:title>
  <dc:creator>mariamsarr2323@outlook.com</dc:creator>
  <cp:lastModifiedBy>mariamsarr2323@outlook.com</cp:lastModifiedBy>
  <cp:revision>20</cp:revision>
  <dcterms:created xsi:type="dcterms:W3CDTF">2026-09-01T21:28:07Z</dcterms:created>
  <dcterms:modified xsi:type="dcterms:W3CDTF">2026-09-09T11:07:03Z</dcterms:modified>
</cp:coreProperties>
</file>