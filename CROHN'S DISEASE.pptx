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1543955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2815326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1464980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3428225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1543816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558095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4028345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3241295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589062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3136885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1FDCA1E-2200-469B-93F9-B2ADEE4DEA6E}" type="datetimeFigureOut">
              <a:rPr lang="en-GB" smtClean="0"/>
              <a:t>31/08/2026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842314E-A7DC-43A9-89A9-3BC198BAE6B9}" type="slidenum">
              <a:rPr lang="en-GB" smtClean="0"/>
              <a:t>‹#›</a:t>
            </a:fld>
            <a:endParaRPr lang="en-GB" dirty="0"/>
          </a:p>
        </p:txBody>
      </p:sp>
    </p:spTree>
    <p:extLst>
      <p:ext uri="{BB962C8B-B14F-4D97-AF65-F5344CB8AC3E}">
        <p14:creationId xmlns:p14="http://schemas.microsoft.com/office/powerpoint/2010/main" val="2931963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FDCA1E-2200-469B-93F9-B2ADEE4DEA6E}" type="datetimeFigureOut">
              <a:rPr lang="en-GB" smtClean="0"/>
              <a:t>31/08/2026</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2314E-A7DC-43A9-89A9-3BC198BAE6B9}" type="slidenum">
              <a:rPr lang="en-GB" smtClean="0"/>
              <a:t>‹#›</a:t>
            </a:fld>
            <a:endParaRPr lang="en-GB" dirty="0"/>
          </a:p>
        </p:txBody>
      </p:sp>
    </p:spTree>
    <p:extLst>
      <p:ext uri="{BB962C8B-B14F-4D97-AF65-F5344CB8AC3E}">
        <p14:creationId xmlns:p14="http://schemas.microsoft.com/office/powerpoint/2010/main" val="18429816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2069"/>
            <a:ext cx="9144000" cy="1319348"/>
          </a:xfrm>
        </p:spPr>
        <p:txBody>
          <a:bodyPr>
            <a:normAutofit/>
          </a:bodyPr>
          <a:lstStyle/>
          <a:p>
            <a:r>
              <a:rPr lang="en-GB" sz="3600" b="1" dirty="0"/>
              <a:t>GROUP 2 PRESENTATION</a:t>
            </a:r>
            <a:br>
              <a:rPr lang="en-GB" sz="3600" b="1" dirty="0"/>
            </a:br>
            <a:r>
              <a:rPr lang="en-GB" sz="3600" b="1" dirty="0"/>
              <a:t>TOPIC: CROHN’S DISEASE </a:t>
            </a:r>
          </a:p>
        </p:txBody>
      </p:sp>
      <p:sp>
        <p:nvSpPr>
          <p:cNvPr id="3" name="Subtitle 2"/>
          <p:cNvSpPr>
            <a:spLocks noGrp="1"/>
          </p:cNvSpPr>
          <p:nvPr>
            <p:ph type="subTitle" idx="1"/>
          </p:nvPr>
        </p:nvSpPr>
        <p:spPr>
          <a:xfrm>
            <a:off x="1524000" y="2508069"/>
            <a:ext cx="9144000" cy="4140925"/>
          </a:xfrm>
        </p:spPr>
        <p:txBody>
          <a:bodyPr/>
          <a:lstStyle/>
          <a:p>
            <a:pPr algn="l"/>
            <a:endParaRPr lang="en-GB" dirty="0"/>
          </a:p>
          <a:p>
            <a:pPr algn="l"/>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2481662310"/>
              </p:ext>
            </p:extLst>
          </p:nvPr>
        </p:nvGraphicFramePr>
        <p:xfrm>
          <a:off x="1927497" y="2909751"/>
          <a:ext cx="8128000" cy="33375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4623079"/>
                    </a:ext>
                  </a:extLst>
                </a:gridCol>
                <a:gridCol w="4064000">
                  <a:extLst>
                    <a:ext uri="{9D8B030D-6E8A-4147-A177-3AD203B41FA5}">
                      <a16:colId xmlns:a16="http://schemas.microsoft.com/office/drawing/2014/main" val="3216140233"/>
                    </a:ext>
                  </a:extLst>
                </a:gridCol>
              </a:tblGrid>
              <a:tr h="370840">
                <a:tc>
                  <a:txBody>
                    <a:bodyPr/>
                    <a:lstStyle/>
                    <a:p>
                      <a:r>
                        <a:rPr lang="en-GB" dirty="0">
                          <a:solidFill>
                            <a:schemeClr val="tx1"/>
                          </a:solidFill>
                        </a:rPr>
                        <a:t>NAMES</a:t>
                      </a:r>
                    </a:p>
                  </a:txBody>
                  <a:tcPr/>
                </a:tc>
                <a:tc>
                  <a:txBody>
                    <a:bodyPr/>
                    <a:lstStyle/>
                    <a:p>
                      <a:r>
                        <a:rPr lang="en-GB" dirty="0">
                          <a:solidFill>
                            <a:schemeClr val="tx1"/>
                          </a:solidFill>
                        </a:rPr>
                        <a:t>GC</a:t>
                      </a:r>
                      <a:r>
                        <a:rPr lang="en-GB" baseline="0" dirty="0">
                          <a:solidFill>
                            <a:schemeClr val="tx1"/>
                          </a:solidFill>
                        </a:rPr>
                        <a:t> NUMBERS</a:t>
                      </a:r>
                      <a:endParaRPr lang="en-GB" dirty="0">
                        <a:solidFill>
                          <a:schemeClr val="tx1"/>
                        </a:solidFill>
                      </a:endParaRPr>
                    </a:p>
                  </a:txBody>
                  <a:tcPr/>
                </a:tc>
                <a:extLst>
                  <a:ext uri="{0D108BD9-81ED-4DB2-BD59-A6C34878D82A}">
                    <a16:rowId xmlns:a16="http://schemas.microsoft.com/office/drawing/2014/main" val="23777201"/>
                  </a:ext>
                </a:extLst>
              </a:tr>
              <a:tr h="370840">
                <a:tc>
                  <a:txBody>
                    <a:bodyPr/>
                    <a:lstStyle/>
                    <a:p>
                      <a:r>
                        <a:rPr lang="en-GB" dirty="0"/>
                        <a:t>ISATOU KODOU KAH</a:t>
                      </a:r>
                    </a:p>
                  </a:txBody>
                  <a:tcPr/>
                </a:tc>
                <a:tc>
                  <a:txBody>
                    <a:bodyPr/>
                    <a:lstStyle/>
                    <a:p>
                      <a:r>
                        <a:rPr lang="en-GB" dirty="0"/>
                        <a:t>2431100</a:t>
                      </a:r>
                    </a:p>
                  </a:txBody>
                  <a:tcPr/>
                </a:tc>
                <a:extLst>
                  <a:ext uri="{0D108BD9-81ED-4DB2-BD59-A6C34878D82A}">
                    <a16:rowId xmlns:a16="http://schemas.microsoft.com/office/drawing/2014/main" val="3510513183"/>
                  </a:ext>
                </a:extLst>
              </a:tr>
              <a:tr h="370840">
                <a:tc>
                  <a:txBody>
                    <a:bodyPr/>
                    <a:lstStyle/>
                    <a:p>
                      <a:r>
                        <a:rPr lang="en-GB" dirty="0"/>
                        <a:t>ABUBACARR DRAMMEH</a:t>
                      </a:r>
                    </a:p>
                  </a:txBody>
                  <a:tcPr/>
                </a:tc>
                <a:tc>
                  <a:txBody>
                    <a:bodyPr/>
                    <a:lstStyle/>
                    <a:p>
                      <a:r>
                        <a:rPr lang="en-GB" dirty="0"/>
                        <a:t>2431099</a:t>
                      </a:r>
                    </a:p>
                  </a:txBody>
                  <a:tcPr/>
                </a:tc>
                <a:extLst>
                  <a:ext uri="{0D108BD9-81ED-4DB2-BD59-A6C34878D82A}">
                    <a16:rowId xmlns:a16="http://schemas.microsoft.com/office/drawing/2014/main" val="2834103304"/>
                  </a:ext>
                </a:extLst>
              </a:tr>
              <a:tr h="370840">
                <a:tc>
                  <a:txBody>
                    <a:bodyPr/>
                    <a:lstStyle/>
                    <a:p>
                      <a:r>
                        <a:rPr lang="en-GB" dirty="0"/>
                        <a:t>BAILO BAH</a:t>
                      </a:r>
                    </a:p>
                  </a:txBody>
                  <a:tcPr/>
                </a:tc>
                <a:tc>
                  <a:txBody>
                    <a:bodyPr/>
                    <a:lstStyle/>
                    <a:p>
                      <a:r>
                        <a:rPr lang="en-GB" dirty="0"/>
                        <a:t>2431012</a:t>
                      </a:r>
                    </a:p>
                  </a:txBody>
                  <a:tcPr/>
                </a:tc>
                <a:extLst>
                  <a:ext uri="{0D108BD9-81ED-4DB2-BD59-A6C34878D82A}">
                    <a16:rowId xmlns:a16="http://schemas.microsoft.com/office/drawing/2014/main" val="1800194487"/>
                  </a:ext>
                </a:extLst>
              </a:tr>
              <a:tr h="370840">
                <a:tc>
                  <a:txBody>
                    <a:bodyPr/>
                    <a:lstStyle/>
                    <a:p>
                      <a:r>
                        <a:rPr lang="en-GB" dirty="0"/>
                        <a:t>HADDIJAH KORITA</a:t>
                      </a:r>
                    </a:p>
                  </a:txBody>
                  <a:tcPr/>
                </a:tc>
                <a:tc>
                  <a:txBody>
                    <a:bodyPr/>
                    <a:lstStyle/>
                    <a:p>
                      <a:r>
                        <a:rPr lang="en-GB" dirty="0"/>
                        <a:t>2431111</a:t>
                      </a:r>
                    </a:p>
                  </a:txBody>
                  <a:tcPr/>
                </a:tc>
                <a:extLst>
                  <a:ext uri="{0D108BD9-81ED-4DB2-BD59-A6C34878D82A}">
                    <a16:rowId xmlns:a16="http://schemas.microsoft.com/office/drawing/2014/main" val="2237969781"/>
                  </a:ext>
                </a:extLst>
              </a:tr>
              <a:tr h="370840">
                <a:tc>
                  <a:txBody>
                    <a:bodyPr/>
                    <a:lstStyle/>
                    <a:p>
                      <a:r>
                        <a:rPr lang="en-GB" dirty="0"/>
                        <a:t>ISATOU</a:t>
                      </a:r>
                      <a:r>
                        <a:rPr lang="en-GB" baseline="0" dirty="0"/>
                        <a:t> M. BAH</a:t>
                      </a:r>
                      <a:endParaRPr lang="en-GB" dirty="0"/>
                    </a:p>
                  </a:txBody>
                  <a:tcPr/>
                </a:tc>
                <a:tc>
                  <a:txBody>
                    <a:bodyPr/>
                    <a:lstStyle/>
                    <a:p>
                      <a:r>
                        <a:rPr lang="en-GB" dirty="0"/>
                        <a:t>2431108</a:t>
                      </a:r>
                    </a:p>
                  </a:txBody>
                  <a:tcPr/>
                </a:tc>
                <a:extLst>
                  <a:ext uri="{0D108BD9-81ED-4DB2-BD59-A6C34878D82A}">
                    <a16:rowId xmlns:a16="http://schemas.microsoft.com/office/drawing/2014/main" val="1944915872"/>
                  </a:ext>
                </a:extLst>
              </a:tr>
              <a:tr h="370840">
                <a:tc>
                  <a:txBody>
                    <a:bodyPr/>
                    <a:lstStyle/>
                    <a:p>
                      <a:r>
                        <a:rPr lang="en-GB" dirty="0"/>
                        <a:t>MARIAMA KOMMA</a:t>
                      </a:r>
                    </a:p>
                  </a:txBody>
                  <a:tcPr/>
                </a:tc>
                <a:tc>
                  <a:txBody>
                    <a:bodyPr/>
                    <a:lstStyle/>
                    <a:p>
                      <a:r>
                        <a:rPr lang="en-GB" dirty="0"/>
                        <a:t>2431107</a:t>
                      </a:r>
                    </a:p>
                  </a:txBody>
                  <a:tcPr/>
                </a:tc>
                <a:extLst>
                  <a:ext uri="{0D108BD9-81ED-4DB2-BD59-A6C34878D82A}">
                    <a16:rowId xmlns:a16="http://schemas.microsoft.com/office/drawing/2014/main" val="311838421"/>
                  </a:ext>
                </a:extLst>
              </a:tr>
              <a:tr h="370840">
                <a:tc>
                  <a:txBody>
                    <a:bodyPr/>
                    <a:lstStyle/>
                    <a:p>
                      <a:r>
                        <a:rPr lang="en-GB" dirty="0"/>
                        <a:t>OUSMAN</a:t>
                      </a:r>
                      <a:r>
                        <a:rPr lang="en-GB" baseline="0" dirty="0"/>
                        <a:t> SAIDYKNAN </a:t>
                      </a:r>
                      <a:endParaRPr lang="en-GB" dirty="0"/>
                    </a:p>
                  </a:txBody>
                  <a:tcPr/>
                </a:tc>
                <a:tc>
                  <a:txBody>
                    <a:bodyPr/>
                    <a:lstStyle/>
                    <a:p>
                      <a:r>
                        <a:rPr lang="en-GB" dirty="0"/>
                        <a:t>2431152</a:t>
                      </a:r>
                    </a:p>
                  </a:txBody>
                  <a:tcPr/>
                </a:tc>
                <a:extLst>
                  <a:ext uri="{0D108BD9-81ED-4DB2-BD59-A6C34878D82A}">
                    <a16:rowId xmlns:a16="http://schemas.microsoft.com/office/drawing/2014/main" val="1966068471"/>
                  </a:ext>
                </a:extLst>
              </a:tr>
              <a:tr h="370840">
                <a:tc>
                  <a:txBody>
                    <a:bodyPr/>
                    <a:lstStyle/>
                    <a:p>
                      <a:r>
                        <a:rPr lang="en-GB" dirty="0"/>
                        <a:t>EBRIMA</a:t>
                      </a:r>
                      <a:r>
                        <a:rPr lang="en-GB" baseline="0" dirty="0"/>
                        <a:t> SAIDY</a:t>
                      </a:r>
                      <a:endParaRPr lang="en-GB" dirty="0"/>
                    </a:p>
                  </a:txBody>
                  <a:tcPr/>
                </a:tc>
                <a:tc>
                  <a:txBody>
                    <a:bodyPr/>
                    <a:lstStyle/>
                    <a:p>
                      <a:r>
                        <a:rPr lang="en-GB" dirty="0"/>
                        <a:t>2431151</a:t>
                      </a:r>
                    </a:p>
                  </a:txBody>
                  <a:tcPr/>
                </a:tc>
                <a:extLst>
                  <a:ext uri="{0D108BD9-81ED-4DB2-BD59-A6C34878D82A}">
                    <a16:rowId xmlns:a16="http://schemas.microsoft.com/office/drawing/2014/main" val="2836820144"/>
                  </a:ext>
                </a:extLst>
              </a:tr>
            </a:tbl>
          </a:graphicData>
        </a:graphic>
      </p:graphicFrame>
      <p:sp>
        <p:nvSpPr>
          <p:cNvPr id="6" name="TextBox 5"/>
          <p:cNvSpPr txBox="1"/>
          <p:nvPr/>
        </p:nvSpPr>
        <p:spPr>
          <a:xfrm>
            <a:off x="3905793" y="1870669"/>
            <a:ext cx="3605348" cy="461665"/>
          </a:xfrm>
          <a:prstGeom prst="rect">
            <a:avLst/>
          </a:prstGeom>
          <a:noFill/>
        </p:spPr>
        <p:txBody>
          <a:bodyPr wrap="square" rtlCol="0">
            <a:spAutoFit/>
          </a:bodyPr>
          <a:lstStyle/>
          <a:p>
            <a:pPr algn="ctr"/>
            <a:r>
              <a:rPr lang="en-GB" dirty="0"/>
              <a:t> </a:t>
            </a:r>
            <a:r>
              <a:rPr lang="en-GB" sz="2400" b="1" dirty="0"/>
              <a:t>GROUP MEMBERS</a:t>
            </a:r>
          </a:p>
        </p:txBody>
      </p:sp>
    </p:spTree>
    <p:extLst>
      <p:ext uri="{BB962C8B-B14F-4D97-AF65-F5344CB8AC3E}">
        <p14:creationId xmlns:p14="http://schemas.microsoft.com/office/powerpoint/2010/main" val="1774733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lstStyle/>
          <a:p>
            <a:r>
              <a:rPr lang="en-GB" b="1" dirty="0">
                <a:latin typeface="Times New Roman" panose="02020603050405020304" pitchFamily="18" charset="0"/>
                <a:cs typeface="Times New Roman" panose="02020603050405020304" pitchFamily="18" charset="0"/>
              </a:rPr>
              <a:t>TABLE OF CONTENT</a:t>
            </a:r>
          </a:p>
        </p:txBody>
      </p:sp>
      <p:sp>
        <p:nvSpPr>
          <p:cNvPr id="3" name="Content Placeholder 2"/>
          <p:cNvSpPr>
            <a:spLocks noGrp="1"/>
          </p:cNvSpPr>
          <p:nvPr>
            <p:ph idx="1"/>
          </p:nvPr>
        </p:nvSpPr>
        <p:spPr>
          <a:xfrm>
            <a:off x="838200" y="1136470"/>
            <a:ext cx="10515600" cy="5564776"/>
          </a:xfrm>
        </p:spPr>
        <p:txBody>
          <a:bodyPr>
            <a:normAutofit fontScale="92500" lnSpcReduction="10000"/>
          </a:bodyPr>
          <a:lstStyle/>
          <a:p>
            <a:r>
              <a:rPr lang="en-GB" dirty="0">
                <a:latin typeface="Times New Roman" panose="02020603050405020304" pitchFamily="18" charset="0"/>
                <a:cs typeface="Times New Roman" panose="02020603050405020304" pitchFamily="18" charset="0"/>
              </a:rPr>
              <a:t>INTRODUCTION</a:t>
            </a:r>
          </a:p>
          <a:p>
            <a:r>
              <a:rPr lang="en-GB" dirty="0">
                <a:latin typeface="Times New Roman" panose="02020603050405020304" pitchFamily="18" charset="0"/>
                <a:cs typeface="Times New Roman" panose="02020603050405020304" pitchFamily="18" charset="0"/>
              </a:rPr>
              <a:t>DEFINITION OF CROHN’S DISEASE</a:t>
            </a:r>
          </a:p>
          <a:p>
            <a:r>
              <a:rPr lang="en-GB" dirty="0">
                <a:latin typeface="Times New Roman" panose="02020603050405020304" pitchFamily="18" charset="0"/>
                <a:cs typeface="Times New Roman" panose="02020603050405020304" pitchFamily="18" charset="0"/>
              </a:rPr>
              <a:t>AETIOLOGY</a:t>
            </a:r>
          </a:p>
          <a:p>
            <a:r>
              <a:rPr lang="en-GB" dirty="0">
                <a:latin typeface="Times New Roman" panose="02020603050405020304" pitchFamily="18" charset="0"/>
                <a:cs typeface="Times New Roman" panose="02020603050405020304" pitchFamily="18" charset="0"/>
              </a:rPr>
              <a:t>PATHOPHYSIOLOGY</a:t>
            </a:r>
          </a:p>
          <a:p>
            <a:r>
              <a:rPr lang="en-GB" dirty="0">
                <a:latin typeface="Times New Roman" panose="02020603050405020304" pitchFamily="18" charset="0"/>
                <a:cs typeface="Times New Roman" panose="02020603050405020304" pitchFamily="18" charset="0"/>
              </a:rPr>
              <a:t>TYPES</a:t>
            </a:r>
          </a:p>
          <a:p>
            <a:r>
              <a:rPr lang="en-GB" dirty="0">
                <a:latin typeface="Times New Roman" panose="02020603050405020304" pitchFamily="18" charset="0"/>
                <a:cs typeface="Times New Roman" panose="02020603050405020304" pitchFamily="18" charset="0"/>
              </a:rPr>
              <a:t>SIGNS AND SYMPTOMS</a:t>
            </a:r>
          </a:p>
          <a:p>
            <a:r>
              <a:rPr lang="en-GB" dirty="0">
                <a:latin typeface="Times New Roman" panose="02020603050405020304" pitchFamily="18" charset="0"/>
                <a:cs typeface="Times New Roman" panose="02020603050405020304" pitchFamily="18" charset="0"/>
              </a:rPr>
              <a:t>INVESTIGATIONS</a:t>
            </a:r>
          </a:p>
          <a:p>
            <a:r>
              <a:rPr lang="en-GB" dirty="0">
                <a:latin typeface="Times New Roman" panose="02020603050405020304" pitchFamily="18" charset="0"/>
                <a:cs typeface="Times New Roman" panose="02020603050405020304" pitchFamily="18" charset="0"/>
              </a:rPr>
              <a:t>MEDICAL/NURSING MANAGEMENT </a:t>
            </a:r>
          </a:p>
          <a:p>
            <a:r>
              <a:rPr lang="en-GB" dirty="0">
                <a:latin typeface="Times New Roman" panose="02020603050405020304" pitchFamily="18" charset="0"/>
                <a:cs typeface="Times New Roman" panose="02020603050405020304" pitchFamily="18" charset="0"/>
              </a:rPr>
              <a:t>NURSING DIAGNOSIS </a:t>
            </a:r>
          </a:p>
          <a:p>
            <a:r>
              <a:rPr lang="en-GB" dirty="0">
                <a:latin typeface="Times New Roman" panose="02020603050405020304" pitchFamily="18" charset="0"/>
                <a:cs typeface="Times New Roman" panose="02020603050405020304" pitchFamily="18" charset="0"/>
              </a:rPr>
              <a:t>COMPLICATIONS</a:t>
            </a:r>
          </a:p>
          <a:p>
            <a:r>
              <a:rPr lang="en-GB" dirty="0">
                <a:latin typeface="Times New Roman" panose="02020603050405020304" pitchFamily="18" charset="0"/>
                <a:cs typeface="Times New Roman" panose="02020603050405020304" pitchFamily="18" charset="0"/>
              </a:rPr>
              <a:t>DIFFERENTIAL DIAGNOSIS</a:t>
            </a:r>
          </a:p>
          <a:p>
            <a:r>
              <a:rPr lang="en-GB"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264649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0"/>
            <a:ext cx="10515600" cy="718457"/>
          </a:xfrm>
        </p:spPr>
        <p:txBody>
          <a:bodyPr>
            <a:normAutofit/>
          </a:bodyPr>
          <a:lstStyle/>
          <a:p>
            <a:pPr algn="ctr"/>
            <a:r>
              <a:rPr lang="en-GB" sz="36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838200" y="1018903"/>
            <a:ext cx="10515600" cy="5525588"/>
          </a:xfrm>
        </p:spPr>
        <p:txBody>
          <a:bodyPr>
            <a:normAutofit fontScale="77500" lnSpcReduction="20000"/>
          </a:bodyPr>
          <a:lstStyle/>
          <a:p>
            <a:pPr marL="0" indent="0" algn="ctr">
              <a:buNone/>
            </a:pPr>
            <a:r>
              <a:rPr lang="en-GB" b="1" dirty="0">
                <a:latin typeface="Times New Roman" panose="02020603050405020304" pitchFamily="18" charset="0"/>
                <a:cs typeface="Times New Roman" panose="02020603050405020304" pitchFamily="18" charset="0"/>
              </a:rPr>
              <a:t>INTRODUCTION  </a:t>
            </a:r>
          </a:p>
          <a:p>
            <a:r>
              <a:rPr lang="en-GB" dirty="0">
                <a:latin typeface="Times New Roman" panose="02020603050405020304" pitchFamily="18" charset="0"/>
                <a:cs typeface="Times New Roman" panose="02020603050405020304" pitchFamily="18" charset="0"/>
              </a:rPr>
              <a:t>Crohn’s disease is a chronic inflammatory bowel disease (IBD) that causes inflammation of the digestive tract. It can affect any part of the gastrointestinal tract, from the mouth to the anus, but commonly affects the terminal ileum and colon. The inflammation may occur in patches, with healthy areas between affected sections. Crohn’s disease usually has periods of flare-ups, when symptoms become worse, and remission, when symptoms improve or disappear.</a:t>
            </a:r>
          </a:p>
          <a:p>
            <a:pPr marL="0" indent="0" algn="ctr">
              <a:buNone/>
            </a:pPr>
            <a:endParaRPr lang="en-GB" dirty="0">
              <a:latin typeface="Times New Roman" panose="02020603050405020304" pitchFamily="18" charset="0"/>
              <a:cs typeface="Times New Roman" panose="02020603050405020304" pitchFamily="18" charset="0"/>
            </a:endParaRPr>
          </a:p>
          <a:p>
            <a:pPr marL="0" indent="0" algn="ctr">
              <a:buNone/>
            </a:pPr>
            <a:r>
              <a:rPr lang="en-GB" b="1" dirty="0">
                <a:latin typeface="Times New Roman" panose="02020603050405020304" pitchFamily="18" charset="0"/>
                <a:cs typeface="Times New Roman" panose="02020603050405020304" pitchFamily="18" charset="0"/>
              </a:rPr>
              <a:t>DEFINITIONS</a:t>
            </a:r>
          </a:p>
          <a:p>
            <a:r>
              <a:rPr lang="en-GB" b="1" dirty="0">
                <a:latin typeface="Times New Roman" panose="02020603050405020304" pitchFamily="18" charset="0"/>
                <a:cs typeface="Times New Roman" panose="02020603050405020304" pitchFamily="18" charset="0"/>
              </a:rPr>
              <a:t>CROHN’S DISEASE: </a:t>
            </a:r>
            <a:r>
              <a:rPr lang="en-GB" dirty="0">
                <a:latin typeface="Times New Roman" panose="02020603050405020304" pitchFamily="18" charset="0"/>
                <a:cs typeface="Times New Roman" panose="02020603050405020304" pitchFamily="18" charset="0"/>
              </a:rPr>
              <a:t>A chronic, relapsing inflammatory disease of the gastrointestinal tract caused by an abnormal immune response.</a:t>
            </a:r>
          </a:p>
          <a:p>
            <a:r>
              <a:rPr lang="en-GB" b="1" dirty="0">
                <a:latin typeface="Times New Roman" panose="02020603050405020304" pitchFamily="18" charset="0"/>
                <a:cs typeface="Times New Roman" panose="02020603050405020304" pitchFamily="18" charset="0"/>
              </a:rPr>
              <a:t> INFLAMMATORY BOWEL DISEASE (IBD): </a:t>
            </a:r>
            <a:r>
              <a:rPr lang="en-GB" dirty="0">
                <a:latin typeface="Times New Roman" panose="02020603050405020304" pitchFamily="18" charset="0"/>
                <a:cs typeface="Times New Roman" panose="02020603050405020304" pitchFamily="18" charset="0"/>
              </a:rPr>
              <a:t>A group of chronic disorders characterized by inflammation of the digestive tract, mainly Crohn’s disease and ulcerative colitis.</a:t>
            </a:r>
          </a:p>
          <a:p>
            <a:r>
              <a:rPr lang="en-GB" b="1" dirty="0">
                <a:latin typeface="Times New Roman" panose="02020603050405020304" pitchFamily="18" charset="0"/>
                <a:cs typeface="Times New Roman" panose="02020603050405020304" pitchFamily="18" charset="0"/>
              </a:rPr>
              <a:t>FLARE-UP: </a:t>
            </a:r>
            <a:r>
              <a:rPr lang="en-GB" dirty="0">
                <a:latin typeface="Times New Roman" panose="02020603050405020304" pitchFamily="18" charset="0"/>
                <a:cs typeface="Times New Roman" panose="02020603050405020304" pitchFamily="18" charset="0"/>
              </a:rPr>
              <a:t>A period when Crohn’s symptoms and intestinal inflammation become active or worsen.</a:t>
            </a:r>
          </a:p>
          <a:p>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REMISSION: </a:t>
            </a:r>
            <a:r>
              <a:rPr lang="en-GB" dirty="0">
                <a:latin typeface="Times New Roman" panose="02020603050405020304" pitchFamily="18" charset="0"/>
                <a:cs typeface="Times New Roman" panose="02020603050405020304" pitchFamily="18" charset="0"/>
              </a:rPr>
              <a:t>A period when symptoms are minimal or absent and inflammation is reduced.</a:t>
            </a:r>
          </a:p>
        </p:txBody>
      </p:sp>
    </p:spTree>
    <p:extLst>
      <p:ext uri="{BB962C8B-B14F-4D97-AF65-F5344CB8AC3E}">
        <p14:creationId xmlns:p14="http://schemas.microsoft.com/office/powerpoint/2010/main" val="895067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1"/>
            <a:ext cx="10515600" cy="849085"/>
          </a:xfrm>
        </p:spPr>
        <p:txBody>
          <a:bodyPr/>
          <a:lstStyle/>
          <a:p>
            <a:pPr algn="ctr"/>
            <a:r>
              <a:rPr lang="en-GB" b="1" dirty="0">
                <a:latin typeface="Times New Roman" panose="02020603050405020304" pitchFamily="18" charset="0"/>
                <a:cs typeface="Times New Roman" panose="02020603050405020304" pitchFamily="18" charset="0"/>
              </a:rPr>
              <a:t>AETIOLOGY</a:t>
            </a:r>
          </a:p>
        </p:txBody>
      </p:sp>
      <p:sp>
        <p:nvSpPr>
          <p:cNvPr id="3" name="Content Placeholder 2"/>
          <p:cNvSpPr>
            <a:spLocks noGrp="1"/>
          </p:cNvSpPr>
          <p:nvPr>
            <p:ph idx="1"/>
          </p:nvPr>
        </p:nvSpPr>
        <p:spPr>
          <a:xfrm>
            <a:off x="838200" y="1123406"/>
            <a:ext cx="10515600" cy="5053557"/>
          </a:xfrm>
        </p:spPr>
        <p:txBody>
          <a:bodyPr>
            <a:normAutofit fontScale="77500" lnSpcReduction="20000"/>
          </a:bodyPr>
          <a:lstStyle/>
          <a:p>
            <a:pPr marL="0" indent="0">
              <a:buNone/>
            </a:pPr>
            <a:r>
              <a:rPr lang="en-GB" dirty="0">
                <a:latin typeface="Times New Roman" panose="02020603050405020304" pitchFamily="18" charset="0"/>
                <a:cs typeface="Times New Roman" panose="02020603050405020304" pitchFamily="18" charset="0"/>
              </a:rPr>
              <a:t>Crohn’s disease has a multifactorial aetiology, meaning there is no single known cause. It results from the interaction of:</a:t>
            </a:r>
          </a:p>
          <a:p>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Genetic susceptibility : e.g., family history and NOD2 gene variations</a:t>
            </a:r>
          </a:p>
          <a:p>
            <a:r>
              <a:rPr lang="en-GB" dirty="0">
                <a:latin typeface="Times New Roman" panose="02020603050405020304" pitchFamily="18" charset="0"/>
                <a:cs typeface="Times New Roman" panose="02020603050405020304" pitchFamily="18" charset="0"/>
              </a:rPr>
              <a:t>Abnormal immune response : excessive immune reaction causes intestinal inflammation</a:t>
            </a:r>
          </a:p>
          <a:p>
            <a:r>
              <a:rPr lang="en-GB" dirty="0">
                <a:latin typeface="Times New Roman" panose="02020603050405020304" pitchFamily="18" charset="0"/>
                <a:cs typeface="Times New Roman" panose="02020603050405020304" pitchFamily="18" charset="0"/>
              </a:rPr>
              <a:t>Altered gut microbiome (dysbiosis) : imbalance of normal intestinal microorganisms</a:t>
            </a:r>
          </a:p>
          <a:p>
            <a:r>
              <a:rPr lang="en-GB" dirty="0">
                <a:latin typeface="Times New Roman" panose="02020603050405020304" pitchFamily="18" charset="0"/>
                <a:cs typeface="Times New Roman" panose="02020603050405020304" pitchFamily="18" charset="0"/>
              </a:rPr>
              <a:t>Intestinal barrier dysfunction ; increased exposure of immune cells to bacterial substances</a:t>
            </a:r>
          </a:p>
          <a:p>
            <a:r>
              <a:rPr lang="en-GB" dirty="0">
                <a:latin typeface="Times New Roman" panose="02020603050405020304" pitchFamily="18" charset="0"/>
                <a:cs typeface="Times New Roman" panose="02020603050405020304" pitchFamily="18" charset="0"/>
              </a:rPr>
              <a:t>Environmental factors : especially smoking, diet, infections, lifestyle, and some medications</a:t>
            </a:r>
          </a:p>
          <a:p>
            <a:r>
              <a:rPr lang="en-GB" dirty="0">
                <a:latin typeface="Times New Roman" panose="02020603050405020304" pitchFamily="18" charset="0"/>
                <a:cs typeface="Times New Roman" panose="02020603050405020304" pitchFamily="18" charset="0"/>
              </a:rPr>
              <a:t>Stress : may worsen symptoms but is not a direct cause</a:t>
            </a:r>
          </a:p>
          <a:p>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Genetic susceptibility + Environmental triggers + Altered microbiome/barrier + Abnormal immune response → Chronic intestinal inflammation → Crohn’s disease</a:t>
            </a:r>
          </a:p>
        </p:txBody>
      </p:sp>
    </p:spTree>
    <p:extLst>
      <p:ext uri="{BB962C8B-B14F-4D97-AF65-F5344CB8AC3E}">
        <p14:creationId xmlns:p14="http://schemas.microsoft.com/office/powerpoint/2010/main" val="202606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lstStyle/>
          <a:p>
            <a:pPr algn="ctr"/>
            <a:r>
              <a:rPr lang="en-GB" b="1" dirty="0">
                <a:latin typeface="Times New Roman" panose="02020603050405020304" pitchFamily="18" charset="0"/>
                <a:cs typeface="Times New Roman" panose="02020603050405020304" pitchFamily="18" charset="0"/>
              </a:rPr>
              <a:t>PATHOPYSIOLOGY</a:t>
            </a:r>
          </a:p>
        </p:txBody>
      </p:sp>
      <p:sp>
        <p:nvSpPr>
          <p:cNvPr id="3" name="Content Placeholder 2"/>
          <p:cNvSpPr>
            <a:spLocks noGrp="1"/>
          </p:cNvSpPr>
          <p:nvPr>
            <p:ph idx="1"/>
          </p:nvPr>
        </p:nvSpPr>
        <p:spPr>
          <a:xfrm>
            <a:off x="838200" y="1476102"/>
            <a:ext cx="10515600" cy="5042263"/>
          </a:xfrm>
        </p:spPr>
        <p:txBody>
          <a:bodyPr>
            <a:normAutofit fontScale="92500" lnSpcReduction="10000"/>
          </a:bodyPr>
          <a:lstStyle/>
          <a:p>
            <a:r>
              <a:rPr lang="en-GB" dirty="0">
                <a:latin typeface="Times New Roman" panose="02020603050405020304" pitchFamily="18" charset="0"/>
                <a:cs typeface="Times New Roman" panose="02020603050405020304" pitchFamily="18" charset="0"/>
              </a:rPr>
              <a:t>Genetic susceptibility + environmental factors trigger an abnormal immune response to intestinal microorganisms.</a:t>
            </a:r>
          </a:p>
          <a:p>
            <a:r>
              <a:rPr lang="en-GB" dirty="0">
                <a:latin typeface="Times New Roman" panose="02020603050405020304" pitchFamily="18" charset="0"/>
                <a:cs typeface="Times New Roman" panose="02020603050405020304" pitchFamily="18" charset="0"/>
              </a:rPr>
              <a:t>Disruption of the intestinal barrier and altered gut microbiome lead to persistent inflammation.</a:t>
            </a:r>
          </a:p>
          <a:p>
            <a:r>
              <a:rPr lang="en-GB" dirty="0">
                <a:latin typeface="Times New Roman" panose="02020603050405020304" pitchFamily="18" charset="0"/>
                <a:cs typeface="Times New Roman" panose="02020603050405020304" pitchFamily="18" charset="0"/>
              </a:rPr>
              <a:t>Inflammatory cells release cytokines such as TNF-</a:t>
            </a:r>
            <a:r>
              <a:rPr lang="el-GR" dirty="0">
                <a:latin typeface="Times New Roman" panose="02020603050405020304" pitchFamily="18" charset="0"/>
                <a:cs typeface="Times New Roman" panose="02020603050405020304" pitchFamily="18" charset="0"/>
              </a:rPr>
              <a:t>α, </a:t>
            </a:r>
            <a:r>
              <a:rPr lang="en-GB" dirty="0">
                <a:latin typeface="Times New Roman" panose="02020603050405020304" pitchFamily="18" charset="0"/>
                <a:cs typeface="Times New Roman" panose="02020603050405020304" pitchFamily="18" charset="0"/>
              </a:rPr>
              <a:t>IL-12, and IL-23, causing chronic intestinal inflammation.</a:t>
            </a:r>
          </a:p>
          <a:p>
            <a:r>
              <a:rPr lang="en-GB" dirty="0">
                <a:latin typeface="Times New Roman" panose="02020603050405020304" pitchFamily="18" charset="0"/>
                <a:cs typeface="Times New Roman" panose="02020603050405020304" pitchFamily="18" charset="0"/>
              </a:rPr>
              <a:t>The inflammation is transmural (affects all layers of the bowel wall) and occurs in skip lesions.</a:t>
            </a:r>
          </a:p>
          <a:p>
            <a:r>
              <a:rPr lang="en-GB" dirty="0">
                <a:latin typeface="Times New Roman" panose="02020603050405020304" pitchFamily="18" charset="0"/>
                <a:cs typeface="Times New Roman" panose="02020603050405020304" pitchFamily="18" charset="0"/>
              </a:rPr>
              <a:t>This results in ulcers, bowel-wall thickening, strictures, fistulas, abscesses, and malabsorption.</a:t>
            </a:r>
          </a:p>
          <a:p>
            <a:r>
              <a:rPr lang="en-GB" dirty="0">
                <a:latin typeface="Times New Roman" panose="02020603050405020304" pitchFamily="18" charset="0"/>
                <a:cs typeface="Times New Roman" panose="02020603050405020304" pitchFamily="18" charset="0"/>
              </a:rPr>
              <a:t>Flow:</a:t>
            </a:r>
          </a:p>
          <a:p>
            <a:r>
              <a:rPr lang="en-GB" dirty="0">
                <a:latin typeface="Times New Roman" panose="02020603050405020304" pitchFamily="18" charset="0"/>
                <a:cs typeface="Times New Roman" panose="02020603050405020304" pitchFamily="18" charset="0"/>
              </a:rPr>
              <a:t>Genetic &amp; Environmental Factors → Abnormal Immune Response → Chronic Transmural Inflammation → Intestinal Damage &amp; Complications</a:t>
            </a:r>
          </a:p>
        </p:txBody>
      </p:sp>
    </p:spTree>
    <p:extLst>
      <p:ext uri="{BB962C8B-B14F-4D97-AF65-F5344CB8AC3E}">
        <p14:creationId xmlns:p14="http://schemas.microsoft.com/office/powerpoint/2010/main" val="407923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93685-A34A-4CB9-B92A-B98F62B4AF46}"/>
              </a:ext>
            </a:extLst>
          </p:cNvPr>
          <p:cNvSpPr>
            <a:spLocks noGrp="1"/>
          </p:cNvSpPr>
          <p:nvPr>
            <p:ph type="title"/>
          </p:nvPr>
        </p:nvSpPr>
        <p:spPr>
          <a:xfrm>
            <a:off x="838200" y="365125"/>
            <a:ext cx="10515600" cy="1325563"/>
          </a:xfrm>
        </p:spPr>
        <p:txBody>
          <a:bodyPr/>
          <a:lstStyle/>
          <a:p>
            <a:r>
              <a:rPr lang="en-US" b="1" dirty="0">
                <a:latin typeface="Times New Roman" panose="02020603050405020304" pitchFamily="18" charset="0"/>
                <a:ea typeface="Yu Gothic" panose="020B0400000000000000" pitchFamily="34" charset="-128"/>
                <a:cs typeface="Times New Roman" panose="02020603050405020304" pitchFamily="18" charset="0"/>
              </a:rPr>
              <a:t>TYPES</a:t>
            </a:r>
          </a:p>
        </p:txBody>
      </p:sp>
      <p:sp>
        <p:nvSpPr>
          <p:cNvPr id="3" name="Content Placeholder 2">
            <a:extLst>
              <a:ext uri="{FF2B5EF4-FFF2-40B4-BE49-F238E27FC236}">
                <a16:creationId xmlns:a16="http://schemas.microsoft.com/office/drawing/2014/main" id="{A7F7B144-0762-4DC0-A000-721DA07A1662}"/>
              </a:ext>
            </a:extLst>
          </p:cNvPr>
          <p:cNvSpPr>
            <a:spLocks noGrp="1"/>
          </p:cNvSpPr>
          <p:nvPr>
            <p:ph idx="1"/>
          </p:nvPr>
        </p:nvSpPr>
        <p:spPr/>
        <p:txBody>
          <a:bodyPr>
            <a:normAutofit/>
          </a:bodyPr>
          <a:lstStyle/>
          <a:p>
            <a:r>
              <a:rPr lang="en-US" sz="3200" dirty="0">
                <a:latin typeface="Times New Roman" panose="02020603050405020304" pitchFamily="18" charset="0"/>
                <a:cs typeface="Times New Roman" panose="02020603050405020304" pitchFamily="18" charset="0"/>
              </a:rPr>
              <a:t>Ileocolitis (most common): Affects the terminal ileum and colon.</a:t>
            </a:r>
          </a:p>
          <a:p>
            <a:r>
              <a:rPr lang="en-US" sz="3200" dirty="0">
                <a:latin typeface="Times New Roman" panose="02020603050405020304" pitchFamily="18" charset="0"/>
                <a:cs typeface="Times New Roman" panose="02020603050405020304" pitchFamily="18" charset="0"/>
              </a:rPr>
              <a:t>Ileitis: Affects only the ileum.</a:t>
            </a:r>
          </a:p>
          <a:p>
            <a:r>
              <a:rPr lang="en-US" sz="3200" dirty="0">
                <a:latin typeface="Times New Roman" panose="02020603050405020304" pitchFamily="18" charset="0"/>
                <a:cs typeface="Times New Roman" panose="02020603050405020304" pitchFamily="18" charset="0"/>
              </a:rPr>
              <a:t>Crohn’s Colitis: Affects only the colon.</a:t>
            </a:r>
          </a:p>
          <a:p>
            <a:r>
              <a:rPr lang="en-US" sz="3200" dirty="0">
                <a:latin typeface="Times New Roman" panose="02020603050405020304" pitchFamily="18" charset="0"/>
                <a:cs typeface="Times New Roman" panose="02020603050405020304" pitchFamily="18" charset="0"/>
              </a:rPr>
              <a:t>Gastroduodenal Crohn’s Disease: Affects the stomach and duodenum.</a:t>
            </a:r>
          </a:p>
          <a:p>
            <a:r>
              <a:rPr lang="en-US" sz="3200" dirty="0">
                <a:latin typeface="Times New Roman" panose="02020603050405020304" pitchFamily="18" charset="0"/>
                <a:cs typeface="Times New Roman" panose="02020603050405020304" pitchFamily="18" charset="0"/>
              </a:rPr>
              <a:t>Jejunoileitis: Affects the jejunum and ileum.</a:t>
            </a:r>
          </a:p>
        </p:txBody>
      </p:sp>
    </p:spTree>
    <p:extLst>
      <p:ext uri="{BB962C8B-B14F-4D97-AF65-F5344CB8AC3E}">
        <p14:creationId xmlns:p14="http://schemas.microsoft.com/office/powerpoint/2010/main" val="1605037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521B3-856D-43B2-8E6B-95F134FEEA6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SIGN AND SYMOTOMS</a:t>
            </a:r>
          </a:p>
        </p:txBody>
      </p:sp>
      <p:sp>
        <p:nvSpPr>
          <p:cNvPr id="3" name="Content Placeholder 2">
            <a:extLst>
              <a:ext uri="{FF2B5EF4-FFF2-40B4-BE49-F238E27FC236}">
                <a16:creationId xmlns:a16="http://schemas.microsoft.com/office/drawing/2014/main" id="{D52B2AE0-AC73-428E-A964-2D16158E2035}"/>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Persistent diarrhea</a:t>
            </a:r>
          </a:p>
          <a:p>
            <a:r>
              <a:rPr lang="en-US" dirty="0">
                <a:latin typeface="Times New Roman" panose="02020603050405020304" pitchFamily="18" charset="0"/>
                <a:cs typeface="Times New Roman" panose="02020603050405020304" pitchFamily="18" charset="0"/>
              </a:rPr>
              <a:t>Abdominal pain and cramping</a:t>
            </a:r>
          </a:p>
          <a:p>
            <a:r>
              <a:rPr lang="en-US" dirty="0">
                <a:latin typeface="Times New Roman" panose="02020603050405020304" pitchFamily="18" charset="0"/>
                <a:cs typeface="Times New Roman" panose="02020603050405020304" pitchFamily="18" charset="0"/>
              </a:rPr>
              <a:t>Weight loss and loss of appetite</a:t>
            </a:r>
          </a:p>
          <a:p>
            <a:r>
              <a:rPr lang="en-US" dirty="0">
                <a:latin typeface="Times New Roman" panose="02020603050405020304" pitchFamily="18" charset="0"/>
                <a:cs typeface="Times New Roman" panose="02020603050405020304" pitchFamily="18" charset="0"/>
              </a:rPr>
              <a:t>Fatigue and weakness</a:t>
            </a:r>
          </a:p>
          <a:p>
            <a:r>
              <a:rPr lang="en-US" dirty="0">
                <a:latin typeface="Times New Roman" panose="02020603050405020304" pitchFamily="18" charset="0"/>
                <a:cs typeface="Times New Roman" panose="02020603050405020304" pitchFamily="18" charset="0"/>
              </a:rPr>
              <a:t>Fever</a:t>
            </a:r>
          </a:p>
          <a:p>
            <a:r>
              <a:rPr lang="en-US" dirty="0">
                <a:latin typeface="Times New Roman" panose="02020603050405020304" pitchFamily="18" charset="0"/>
                <a:cs typeface="Times New Roman" panose="02020603050405020304" pitchFamily="18" charset="0"/>
              </a:rPr>
              <a:t>Blood or mucus in stool</a:t>
            </a:r>
          </a:p>
          <a:p>
            <a:r>
              <a:rPr lang="en-US" dirty="0">
                <a:latin typeface="Times New Roman" panose="02020603050405020304" pitchFamily="18" charset="0"/>
                <a:cs typeface="Times New Roman" panose="02020603050405020304" pitchFamily="18" charset="0"/>
              </a:rPr>
              <a:t>Mouth sores</a:t>
            </a:r>
          </a:p>
          <a:p>
            <a:r>
              <a:rPr lang="en-US" dirty="0">
                <a:latin typeface="Times New Roman" panose="02020603050405020304" pitchFamily="18" charset="0"/>
                <a:cs typeface="Times New Roman" panose="02020603050405020304" pitchFamily="18" charset="0"/>
              </a:rPr>
              <a:t>Nausea and vomiting</a:t>
            </a:r>
          </a:p>
          <a:p>
            <a:r>
              <a:rPr lang="en-US" dirty="0">
                <a:latin typeface="Times New Roman" panose="02020603050405020304" pitchFamily="18" charset="0"/>
                <a:cs typeface="Times New Roman" panose="02020603050405020304" pitchFamily="18" charset="0"/>
              </a:rPr>
              <a:t>In severe cases: fistulas, intestinal obstruction, and malnutrition</a:t>
            </a:r>
            <a:r>
              <a:rPr lang="en-US" dirty="0"/>
              <a:t>.</a:t>
            </a:r>
          </a:p>
        </p:txBody>
      </p:sp>
    </p:spTree>
    <p:extLst>
      <p:ext uri="{BB962C8B-B14F-4D97-AF65-F5344CB8AC3E}">
        <p14:creationId xmlns:p14="http://schemas.microsoft.com/office/powerpoint/2010/main" val="53008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B4E3A-E9E2-4DC3-8F56-921B8D46F7E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INVESTIGATION </a:t>
            </a:r>
          </a:p>
        </p:txBody>
      </p:sp>
      <p:sp>
        <p:nvSpPr>
          <p:cNvPr id="3" name="Content Placeholder 2">
            <a:extLst>
              <a:ext uri="{FF2B5EF4-FFF2-40B4-BE49-F238E27FC236}">
                <a16:creationId xmlns:a16="http://schemas.microsoft.com/office/drawing/2014/main" id="{6B2E7FE5-4575-44DA-84AF-6A805C3FCE5C}"/>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Blood tests: Detect anemia, infection, and inflammation.</a:t>
            </a:r>
          </a:p>
          <a:p>
            <a:r>
              <a:rPr lang="en-US" dirty="0">
                <a:latin typeface="Times New Roman" panose="02020603050405020304" pitchFamily="18" charset="0"/>
                <a:cs typeface="Times New Roman" panose="02020603050405020304" pitchFamily="18" charset="0"/>
              </a:rPr>
              <a:t>Stool tests: Rule out infection and detect intestinal inflammation.</a:t>
            </a:r>
          </a:p>
          <a:p>
            <a:r>
              <a:rPr lang="en-US" dirty="0">
                <a:latin typeface="Times New Roman" panose="02020603050405020304" pitchFamily="18" charset="0"/>
                <a:cs typeface="Times New Roman" panose="02020603050405020304" pitchFamily="18" charset="0"/>
              </a:rPr>
              <a:t>Colonoscopy with biopsy: Examines the colon and confirms the diagnosis.</a:t>
            </a:r>
          </a:p>
          <a:p>
            <a:r>
              <a:rPr lang="en-US" dirty="0">
                <a:latin typeface="Times New Roman" panose="02020603050405020304" pitchFamily="18" charset="0"/>
                <a:cs typeface="Times New Roman" panose="02020603050405020304" pitchFamily="18" charset="0"/>
              </a:rPr>
              <a:t>Endoscopy: Examines the upper gastrointestinal tract.</a:t>
            </a:r>
          </a:p>
          <a:p>
            <a:r>
              <a:rPr lang="en-US" dirty="0">
                <a:latin typeface="Times New Roman" panose="02020603050405020304" pitchFamily="18" charset="0"/>
                <a:cs typeface="Times New Roman" panose="02020603050405020304" pitchFamily="18" charset="0"/>
              </a:rPr>
              <a:t>CT or MRI scan: Detects inflammation, strictures, fistulas, and other complications.</a:t>
            </a:r>
          </a:p>
          <a:p>
            <a:r>
              <a:rPr lang="en-US" dirty="0">
                <a:latin typeface="Times New Roman" panose="02020603050405020304" pitchFamily="18" charset="0"/>
                <a:cs typeface="Times New Roman" panose="02020603050405020304" pitchFamily="18" charset="0"/>
              </a:rPr>
              <a:t>Capsule endoscopy: Helps examine the small intestine.</a:t>
            </a:r>
          </a:p>
        </p:txBody>
      </p:sp>
    </p:spTree>
    <p:extLst>
      <p:ext uri="{BB962C8B-B14F-4D97-AF65-F5344CB8AC3E}">
        <p14:creationId xmlns:p14="http://schemas.microsoft.com/office/powerpoint/2010/main" val="3862398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D4E6-25BC-4EE7-88CE-0E881F1CE2F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MEDICAL MANAGEMENT </a:t>
            </a:r>
          </a:p>
        </p:txBody>
      </p:sp>
      <p:sp>
        <p:nvSpPr>
          <p:cNvPr id="3" name="Content Placeholder 2">
            <a:extLst>
              <a:ext uri="{FF2B5EF4-FFF2-40B4-BE49-F238E27FC236}">
                <a16:creationId xmlns:a16="http://schemas.microsoft.com/office/drawing/2014/main" id="{9691B159-7111-4273-9C39-ADD162F36D32}"/>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Medical Management</a:t>
            </a:r>
          </a:p>
          <a:p>
            <a:r>
              <a:rPr lang="en-US" dirty="0">
                <a:latin typeface="Times New Roman" panose="02020603050405020304" pitchFamily="18" charset="0"/>
                <a:cs typeface="Times New Roman" panose="02020603050405020304" pitchFamily="18" charset="0"/>
              </a:rPr>
              <a:t>Anti-inflammatory drugs and corticosteroids to reduce inflammation.</a:t>
            </a:r>
          </a:p>
          <a:p>
            <a:r>
              <a:rPr lang="en-US" dirty="0">
                <a:latin typeface="Times New Roman" panose="02020603050405020304" pitchFamily="18" charset="0"/>
                <a:cs typeface="Times New Roman" panose="02020603050405020304" pitchFamily="18" charset="0"/>
              </a:rPr>
              <a:t>Immunomodulators and biologic therapy to control the immune response.</a:t>
            </a:r>
          </a:p>
          <a:p>
            <a:r>
              <a:rPr lang="en-US" dirty="0">
                <a:latin typeface="Times New Roman" panose="02020603050405020304" pitchFamily="18" charset="0"/>
                <a:cs typeface="Times New Roman" panose="02020603050405020304" pitchFamily="18" charset="0"/>
              </a:rPr>
              <a:t>Antibiotics when infection or fistulas are present.</a:t>
            </a:r>
          </a:p>
          <a:p>
            <a:r>
              <a:rPr lang="en-US" dirty="0">
                <a:latin typeface="Times New Roman" panose="02020603050405020304" pitchFamily="18" charset="0"/>
                <a:cs typeface="Times New Roman" panose="02020603050405020304" pitchFamily="18" charset="0"/>
              </a:rPr>
              <a:t>Nutritional support and vitamin/mineral supplements.</a:t>
            </a:r>
          </a:p>
          <a:p>
            <a:r>
              <a:rPr lang="en-US" dirty="0">
                <a:latin typeface="Times New Roman" panose="02020603050405020304" pitchFamily="18" charset="0"/>
                <a:cs typeface="Times New Roman" panose="02020603050405020304" pitchFamily="18" charset="0"/>
              </a:rPr>
              <a:t>Surgery for complications such as obstruction, fistulas, or severe disease.</a:t>
            </a:r>
          </a:p>
        </p:txBody>
      </p:sp>
    </p:spTree>
    <p:extLst>
      <p:ext uri="{BB962C8B-B14F-4D97-AF65-F5344CB8AC3E}">
        <p14:creationId xmlns:p14="http://schemas.microsoft.com/office/powerpoint/2010/main" val="532232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B202-8FAF-4EB4-9213-484E3213220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NURSING MANAGEMENT </a:t>
            </a:r>
          </a:p>
        </p:txBody>
      </p:sp>
      <p:sp>
        <p:nvSpPr>
          <p:cNvPr id="3" name="Content Placeholder 2">
            <a:extLst>
              <a:ext uri="{FF2B5EF4-FFF2-40B4-BE49-F238E27FC236}">
                <a16:creationId xmlns:a16="http://schemas.microsoft.com/office/drawing/2014/main" id="{4CC4510B-183F-4570-90F8-62A28683C807}"/>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Monitor abdominal pain, bowel movements, weight, and vital signs.</a:t>
            </a:r>
          </a:p>
          <a:p>
            <a:r>
              <a:rPr lang="en-US" dirty="0">
                <a:latin typeface="Times New Roman" panose="02020603050405020304" pitchFamily="18" charset="0"/>
                <a:cs typeface="Times New Roman" panose="02020603050405020304" pitchFamily="18" charset="0"/>
              </a:rPr>
              <a:t>Maintain fluid and electrolyte balance.</a:t>
            </a:r>
          </a:p>
          <a:p>
            <a:r>
              <a:rPr lang="en-US" dirty="0">
                <a:latin typeface="Times New Roman" panose="02020603050405020304" pitchFamily="18" charset="0"/>
                <a:cs typeface="Times New Roman" panose="02020603050405020304" pitchFamily="18" charset="0"/>
              </a:rPr>
              <a:t>Encourage adequate nutrition and small frequent meals.</a:t>
            </a:r>
          </a:p>
          <a:p>
            <a:r>
              <a:rPr lang="en-US" dirty="0">
                <a:latin typeface="Times New Roman" panose="02020603050405020304" pitchFamily="18" charset="0"/>
                <a:cs typeface="Times New Roman" panose="02020603050405020304" pitchFamily="18" charset="0"/>
              </a:rPr>
              <a:t>Administer prescribed medications and monitor side effects.</a:t>
            </a:r>
          </a:p>
          <a:p>
            <a:r>
              <a:rPr lang="en-US" dirty="0">
                <a:latin typeface="Times New Roman" panose="02020603050405020304" pitchFamily="18" charset="0"/>
                <a:cs typeface="Times New Roman" panose="02020603050405020304" pitchFamily="18" charset="0"/>
              </a:rPr>
              <a:t>Provide emotional support and educate the patient about disease management</a:t>
            </a:r>
          </a:p>
          <a:p>
            <a:endParaRPr lang="en-US" dirty="0"/>
          </a:p>
        </p:txBody>
      </p:sp>
    </p:spTree>
    <p:extLst>
      <p:ext uri="{BB962C8B-B14F-4D97-AF65-F5344CB8AC3E}">
        <p14:creationId xmlns:p14="http://schemas.microsoft.com/office/powerpoint/2010/main" val="376996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14CFA-7D00-4A0A-9B4D-CBDFB398AFC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NURSING DIAGNOSIS</a:t>
            </a:r>
          </a:p>
        </p:txBody>
      </p:sp>
      <p:sp>
        <p:nvSpPr>
          <p:cNvPr id="3" name="Content Placeholder 2">
            <a:extLst>
              <a:ext uri="{FF2B5EF4-FFF2-40B4-BE49-F238E27FC236}">
                <a16:creationId xmlns:a16="http://schemas.microsoft.com/office/drawing/2014/main" id="{4C1375D2-3C91-45E1-AD80-8AEE94F9A14A}"/>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Acute Pain related to intestinal inflammation and abdominal cramping.</a:t>
            </a:r>
          </a:p>
          <a:p>
            <a:r>
              <a:rPr lang="en-US" dirty="0">
                <a:latin typeface="Times New Roman" panose="02020603050405020304" pitchFamily="18" charset="0"/>
                <a:cs typeface="Times New Roman" panose="02020603050405020304" pitchFamily="18" charset="0"/>
              </a:rPr>
              <a:t>Diarrhea related to intestinal inflammation.</a:t>
            </a:r>
          </a:p>
          <a:p>
            <a:r>
              <a:rPr lang="en-US" dirty="0">
                <a:latin typeface="Times New Roman" panose="02020603050405020304" pitchFamily="18" charset="0"/>
                <a:cs typeface="Times New Roman" panose="02020603050405020304" pitchFamily="18" charset="0"/>
              </a:rPr>
              <a:t>Imbalanced Nutrition: Less Than Body Requirements related to poor absorption and loss of appetite.</a:t>
            </a:r>
          </a:p>
          <a:p>
            <a:r>
              <a:rPr lang="en-US" dirty="0">
                <a:latin typeface="Times New Roman" panose="02020603050405020304" pitchFamily="18" charset="0"/>
                <a:cs typeface="Times New Roman" panose="02020603050405020304" pitchFamily="18" charset="0"/>
              </a:rPr>
              <a:t>Deficient Fluid Volume related to frequent diarrhea and vomiting.</a:t>
            </a:r>
          </a:p>
          <a:p>
            <a:r>
              <a:rPr lang="en-US" dirty="0">
                <a:latin typeface="Times New Roman" panose="02020603050405020304" pitchFamily="18" charset="0"/>
                <a:cs typeface="Times New Roman" panose="02020603050405020304" pitchFamily="18" charset="0"/>
              </a:rPr>
              <a:t>Fatigue related to anemia and chronic illness.</a:t>
            </a:r>
          </a:p>
          <a:p>
            <a:r>
              <a:rPr lang="en-US" dirty="0">
                <a:latin typeface="Times New Roman" panose="02020603050405020304" pitchFamily="18" charset="0"/>
                <a:cs typeface="Times New Roman" panose="02020603050405020304" pitchFamily="18" charset="0"/>
              </a:rPr>
              <a:t>Risk for Infection related to immunosuppressive therapy and impaired intestinal integrity.</a:t>
            </a:r>
          </a:p>
          <a:p>
            <a:r>
              <a:rPr lang="en-US" dirty="0">
                <a:latin typeface="Times New Roman" panose="02020603050405020304" pitchFamily="18" charset="0"/>
                <a:cs typeface="Times New Roman" panose="02020603050405020304" pitchFamily="18" charset="0"/>
              </a:rPr>
              <a:t>Anxiety related to chronic illness and changes in lifestyle/body image.</a:t>
            </a:r>
          </a:p>
        </p:txBody>
      </p:sp>
    </p:spTree>
    <p:extLst>
      <p:ext uri="{BB962C8B-B14F-4D97-AF65-F5344CB8AC3E}">
        <p14:creationId xmlns:p14="http://schemas.microsoft.com/office/powerpoint/2010/main" val="994329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C4752-527D-469B-9CBB-656A476742C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COMPLICATIONS</a:t>
            </a:r>
          </a:p>
        </p:txBody>
      </p:sp>
      <p:sp>
        <p:nvSpPr>
          <p:cNvPr id="3" name="Content Placeholder 2">
            <a:extLst>
              <a:ext uri="{FF2B5EF4-FFF2-40B4-BE49-F238E27FC236}">
                <a16:creationId xmlns:a16="http://schemas.microsoft.com/office/drawing/2014/main" id="{EBE9E6B1-A567-457B-9169-90109096DBCA}"/>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Intestinal obstruction – narrowing of the bowel due to inflammation or scarring (strictures).</a:t>
            </a:r>
          </a:p>
          <a:p>
            <a:r>
              <a:rPr lang="en-US" dirty="0">
                <a:latin typeface="Times New Roman" panose="02020603050405020304" pitchFamily="18" charset="0"/>
                <a:cs typeface="Times New Roman" panose="02020603050405020304" pitchFamily="18" charset="0"/>
              </a:rPr>
              <a:t>Fistulas – abnormal connections between the intestine and other organs or the skin.</a:t>
            </a:r>
          </a:p>
          <a:p>
            <a:r>
              <a:rPr lang="en-US" dirty="0">
                <a:latin typeface="Times New Roman" panose="02020603050405020304" pitchFamily="18" charset="0"/>
                <a:cs typeface="Times New Roman" panose="02020603050405020304" pitchFamily="18" charset="0"/>
              </a:rPr>
              <a:t>Abscesses – collections of pus caused by infection.</a:t>
            </a:r>
          </a:p>
          <a:p>
            <a:r>
              <a:rPr lang="en-US" dirty="0">
                <a:latin typeface="Times New Roman" panose="02020603050405020304" pitchFamily="18" charset="0"/>
                <a:cs typeface="Times New Roman" panose="02020603050405020304" pitchFamily="18" charset="0"/>
              </a:rPr>
              <a:t>Malnutrition and weight loss – due to poor nutrient absorption.</a:t>
            </a:r>
          </a:p>
          <a:p>
            <a:r>
              <a:rPr lang="en-US" dirty="0">
                <a:latin typeface="Times New Roman" panose="02020603050405020304" pitchFamily="18" charset="0"/>
                <a:cs typeface="Times New Roman" panose="02020603050405020304" pitchFamily="18" charset="0"/>
              </a:rPr>
              <a:t>Anemia – caused by intestinal bleeding or poor absorption of nutrients.</a:t>
            </a:r>
          </a:p>
          <a:p>
            <a:r>
              <a:rPr lang="en-US" dirty="0">
                <a:latin typeface="Times New Roman" panose="02020603050405020304" pitchFamily="18" charset="0"/>
                <a:cs typeface="Times New Roman" panose="02020603050405020304" pitchFamily="18" charset="0"/>
              </a:rPr>
              <a:t>Perforation – a hole in the intestinal wall.</a:t>
            </a:r>
          </a:p>
          <a:p>
            <a:r>
              <a:rPr lang="en-US" dirty="0">
                <a:latin typeface="Times New Roman" panose="02020603050405020304" pitchFamily="18" charset="0"/>
                <a:cs typeface="Times New Roman" panose="02020603050405020304" pitchFamily="18" charset="0"/>
              </a:rPr>
              <a:t>Increased risk of colorectal cancer – especially with long-standing colonic disease.</a:t>
            </a:r>
          </a:p>
        </p:txBody>
      </p:sp>
    </p:spTree>
    <p:extLst>
      <p:ext uri="{BB962C8B-B14F-4D97-AF65-F5344CB8AC3E}">
        <p14:creationId xmlns:p14="http://schemas.microsoft.com/office/powerpoint/2010/main" val="191052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1DC1F-D4D1-47FD-B43C-32C91ABE187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DIFFERENTIAL DIAGNOSIS </a:t>
            </a:r>
          </a:p>
        </p:txBody>
      </p:sp>
      <p:sp>
        <p:nvSpPr>
          <p:cNvPr id="3" name="Content Placeholder 2">
            <a:extLst>
              <a:ext uri="{FF2B5EF4-FFF2-40B4-BE49-F238E27FC236}">
                <a16:creationId xmlns:a16="http://schemas.microsoft.com/office/drawing/2014/main" id="{4E938C3A-FFCC-4664-A580-EB9401336B60}"/>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Ulcerative colitis</a:t>
            </a:r>
          </a:p>
          <a:p>
            <a:r>
              <a:rPr lang="en-US" dirty="0">
                <a:latin typeface="Times New Roman" panose="02020603050405020304" pitchFamily="18" charset="0"/>
                <a:cs typeface="Times New Roman" panose="02020603050405020304" pitchFamily="18" charset="0"/>
              </a:rPr>
              <a:t>Irritable bowel syndrome (IBS)</a:t>
            </a:r>
          </a:p>
          <a:p>
            <a:r>
              <a:rPr lang="en-US" dirty="0">
                <a:latin typeface="Times New Roman" panose="02020603050405020304" pitchFamily="18" charset="0"/>
                <a:cs typeface="Times New Roman" panose="02020603050405020304" pitchFamily="18" charset="0"/>
              </a:rPr>
              <a:t>Intestinal infections (e.g., tuberculosis or bacterial infections)</a:t>
            </a:r>
          </a:p>
          <a:p>
            <a:r>
              <a:rPr lang="en-US" dirty="0">
                <a:latin typeface="Times New Roman" panose="02020603050405020304" pitchFamily="18" charset="0"/>
                <a:cs typeface="Times New Roman" panose="02020603050405020304" pitchFamily="18" charset="0"/>
              </a:rPr>
              <a:t>Celiac disease</a:t>
            </a:r>
          </a:p>
          <a:p>
            <a:r>
              <a:rPr lang="en-US" dirty="0">
                <a:latin typeface="Times New Roman" panose="02020603050405020304" pitchFamily="18" charset="0"/>
                <a:cs typeface="Times New Roman" panose="02020603050405020304" pitchFamily="18" charset="0"/>
              </a:rPr>
              <a:t>Appendicitis</a:t>
            </a:r>
          </a:p>
          <a:p>
            <a:r>
              <a:rPr lang="en-US" dirty="0">
                <a:latin typeface="Times New Roman" panose="02020603050405020304" pitchFamily="18" charset="0"/>
                <a:cs typeface="Times New Roman" panose="02020603050405020304" pitchFamily="18" charset="0"/>
              </a:rPr>
              <a:t>Colorectal cancer</a:t>
            </a:r>
          </a:p>
          <a:p>
            <a:r>
              <a:rPr lang="en-US" dirty="0">
                <a:latin typeface="Times New Roman" panose="02020603050405020304" pitchFamily="18" charset="0"/>
                <a:cs typeface="Times New Roman" panose="02020603050405020304" pitchFamily="18" charset="0"/>
              </a:rPr>
              <a:t>Diverticulitis</a:t>
            </a:r>
          </a:p>
          <a:p>
            <a:r>
              <a:rPr lang="en-US" dirty="0">
                <a:latin typeface="Times New Roman" panose="02020603050405020304" pitchFamily="18" charset="0"/>
                <a:cs typeface="Times New Roman" panose="02020603050405020304" pitchFamily="18" charset="0"/>
              </a:rPr>
              <a:t>Key point: These conditions may cause similar symptoms such as abdominal pain, diarrhea, weight loss, and bowel changes, so investigations are needed to confirm Crohn's disease.</a:t>
            </a:r>
          </a:p>
        </p:txBody>
      </p:sp>
    </p:spTree>
    <p:extLst>
      <p:ext uri="{BB962C8B-B14F-4D97-AF65-F5344CB8AC3E}">
        <p14:creationId xmlns:p14="http://schemas.microsoft.com/office/powerpoint/2010/main" val="2854323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BEF6-7FCF-4AC5-845D-020EF0C38867}"/>
              </a:ext>
            </a:extLst>
          </p:cNvPr>
          <p:cNvSpPr>
            <a:spLocks noGrp="1"/>
          </p:cNvSpPr>
          <p:nvPr>
            <p:ph type="title"/>
          </p:nvPr>
        </p:nvSpPr>
        <p:spPr>
          <a:xfrm>
            <a:off x="838200" y="1"/>
            <a:ext cx="10515600" cy="1048870"/>
          </a:xfrm>
        </p:spPr>
        <p:txBody>
          <a:bodyPr/>
          <a:lstStyle/>
          <a:p>
            <a:r>
              <a:rPr lang="en-US"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D35C8194-DEF6-4F66-B13E-151244D914E4}"/>
              </a:ext>
            </a:extLst>
          </p:cNvPr>
          <p:cNvSpPr>
            <a:spLocks noGrp="1"/>
          </p:cNvSpPr>
          <p:nvPr>
            <p:ph idx="1"/>
          </p:nvPr>
        </p:nvSpPr>
        <p:spPr>
          <a:xfrm>
            <a:off x="838200" y="847165"/>
            <a:ext cx="10515600" cy="5768788"/>
          </a:xfrm>
        </p:spPr>
        <p:txBody>
          <a:bodyPr>
            <a:normAutofit fontScale="70000" lnSpcReduction="20000"/>
          </a:bodyPr>
          <a:lstStyle/>
          <a:p>
            <a:r>
              <a:rPr lang="en-US" dirty="0"/>
              <a:t>References</a:t>
            </a:r>
          </a:p>
          <a:p>
            <a:r>
              <a:rPr lang="en-US" dirty="0"/>
              <a:t>National Institute of Diabetes and Digestive and Kidney Diseases. (2024). Crohn’s disease. U.S. Department of Health and Human Services. https://www.niddk.nih.gov/health-information/digestive-diseases/crohns-disease⁠�</a:t>
            </a:r>
          </a:p>
          <a:p>
            <a:r>
              <a:rPr lang="en-US" dirty="0"/>
              <a:t>Crohn’s &amp; Colitis Foundation. (n.d.). Crohn’s disease.    https://www.crohnscolitisfoundation.org/crohns-disease⁠�</a:t>
            </a:r>
          </a:p>
          <a:p>
            <a:r>
              <a:rPr lang="en-US" dirty="0"/>
              <a:t>Feuerstein, J. D., Ho, E. Y., Shmidt, E., Singh, H., Falck-Ytter, Y., Sultan, S., &amp; Terdiman, J. P. (2021). AGA clinical practice guidelines on the management of moderate to severe Crohn’s disease. Gastroenterology, 160(7), 2496–2508. https://doi.org/10.1053/j.gastro.2021.04.022⁠�</a:t>
            </a:r>
          </a:p>
          <a:p>
            <a:r>
              <a:rPr lang="en-US" dirty="0"/>
              <a:t>Torres, J., Bonovas, S., Doherty, G., Kucharzik, T., Gasull, M. A., Lee, M. J., ... Peyrin-Biroulet, L. (2020). ECCO guidelines on therapeutics in Crohn’s disease: Medical treatment. Journal of Crohn’s and Colitis, 14(1), 4–22. https://doi.org/10.1093/ecco-jcc/jjz180⁠�</a:t>
            </a:r>
          </a:p>
          <a:p>
            <a:r>
              <a:rPr lang="en-US" dirty="0"/>
              <a:t>Gordon, M., Sinopoulou, V., &amp; Akobeng, A. K. (2023). Enteral nutrition for induction of remission in Crohn’s disease. Cochrane Database of Systematic Reviews. https://doi.org/10.1002/14651858.CD000542.pub4⁠�</a:t>
            </a:r>
          </a:p>
          <a:p>
            <a:r>
              <a:rPr lang="en-US" dirty="0"/>
              <a:t>McCance, K. L., Huether, S. E., Brashers, V. L., &amp; Rote, N. S. (Eds.). (2019). Pathophysiology: The biologic basis for disease in adults and children (8th ed.). Elsevier.</a:t>
            </a:r>
          </a:p>
          <a:p>
            <a:r>
              <a:rPr lang="en-US" dirty="0"/>
              <a:t>Hinkle, J. L., &amp; Cheever, K. H. (Eds.). (2022). Brunner &amp; Suddarth’s textbook of medical-surgical nursing (15th ed.). Wolters Kluwer.</a:t>
            </a:r>
          </a:p>
        </p:txBody>
      </p:sp>
    </p:spTree>
    <p:extLst>
      <p:ext uri="{BB962C8B-B14F-4D97-AF65-F5344CB8AC3E}">
        <p14:creationId xmlns:p14="http://schemas.microsoft.com/office/powerpoint/2010/main" val="3740366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1257</Words>
  <Application>Microsoft Office PowerPoint</Application>
  <PresentationFormat>Widescreen</PresentationFormat>
  <Paragraphs>131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GROUP 2 PRESENTATION TOPIC: CROHN’S DISEASE </vt:lpstr>
      <vt:lpstr>TABLE OF CONTENT</vt:lpstr>
      <vt:lpstr>INTRODUCTION</vt:lpstr>
      <vt:lpstr>AETIOLOGY</vt:lpstr>
      <vt:lpstr>PATHOPYSIOLOGY</vt:lpstr>
      <vt:lpstr>TYPES</vt:lpstr>
      <vt:lpstr>SIGN AND SYMOTOMS</vt:lpstr>
      <vt:lpstr>INVESTIGATION </vt:lpstr>
      <vt:lpstr>MEDICAL MANAGEMENT </vt:lpstr>
      <vt:lpstr>NURSING MANAGEMENT </vt:lpstr>
      <vt:lpstr>NURSING DIAGNOSIS</vt:lpstr>
      <vt:lpstr>COMPLICATIONS</vt:lpstr>
      <vt:lpstr>DIFFERENTIAL DIAGNOSIS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Lenovo_X240</dc:creator>
  <cp:lastModifiedBy>fatou jagne</cp:lastModifiedBy>
  <cp:revision>13</cp:revision>
  <dcterms:created xsi:type="dcterms:W3CDTF">2026-08-28T22:26:05Z</dcterms:created>
  <dcterms:modified xsi:type="dcterms:W3CDTF">2026-08-31T15:31:32Z</dcterms:modified>
</cp:coreProperties>
</file>