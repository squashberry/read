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74" r:id="rId6"/>
    <p:sldId id="259" r:id="rId7"/>
    <p:sldId id="260" r:id="rId8"/>
    <p:sldId id="264" r:id="rId9"/>
    <p:sldId id="269" r:id="rId10"/>
    <p:sldId id="275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raham conteh" userId="4d5792f64356c0a9" providerId="LiveId" clId="{E416D1DD-A237-426C-9EB5-A5B857EA4CEF}"/>
    <pc:docChg chg="undo custSel addSld delSld modSld sldOrd">
      <pc:chgData name="Abraham conteh" userId="4d5792f64356c0a9" providerId="LiveId" clId="{E416D1DD-A237-426C-9EB5-A5B857EA4CEF}" dt="2026-09-01T18:02:38.765" v="2370" actId="2711"/>
      <pc:docMkLst>
        <pc:docMk/>
      </pc:docMkLst>
      <pc:sldChg chg="modSp mod">
        <pc:chgData name="Abraham conteh" userId="4d5792f64356c0a9" providerId="LiveId" clId="{E416D1DD-A237-426C-9EB5-A5B857EA4CEF}" dt="2026-09-01T16:41:33.467" v="775" actId="20577"/>
        <pc:sldMkLst>
          <pc:docMk/>
          <pc:sldMk cId="0" sldId="256"/>
        </pc:sldMkLst>
        <pc:spChg chg="mod">
          <ac:chgData name="Abraham conteh" userId="4d5792f64356c0a9" providerId="LiveId" clId="{E416D1DD-A237-426C-9EB5-A5B857EA4CEF}" dt="2026-09-01T16:41:33.467" v="775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Abraham conteh" userId="4d5792f64356c0a9" providerId="LiveId" clId="{E416D1DD-A237-426C-9EB5-A5B857EA4CEF}" dt="2026-09-01T17:00:18.534" v="961" actId="20577"/>
        <pc:sldMkLst>
          <pc:docMk/>
          <pc:sldMk cId="0" sldId="257"/>
        </pc:sldMkLst>
        <pc:spChg chg="mod">
          <ac:chgData name="Abraham conteh" userId="4d5792f64356c0a9" providerId="LiveId" clId="{E416D1DD-A237-426C-9EB5-A5B857EA4CEF}" dt="2026-09-01T17:00:18.534" v="961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Abraham conteh" userId="4d5792f64356c0a9" providerId="LiveId" clId="{E416D1DD-A237-426C-9EB5-A5B857EA4CEF}" dt="2026-09-01T16:56:39.899" v="924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Abraham conteh" userId="4d5792f64356c0a9" providerId="LiveId" clId="{E416D1DD-A237-426C-9EB5-A5B857EA4CEF}" dt="2026-09-01T17:04:50.764" v="1044" actId="20577"/>
        <pc:sldMkLst>
          <pc:docMk/>
          <pc:sldMk cId="0" sldId="258"/>
        </pc:sldMkLst>
        <pc:spChg chg="mod">
          <ac:chgData name="Abraham conteh" userId="4d5792f64356c0a9" providerId="LiveId" clId="{E416D1DD-A237-426C-9EB5-A5B857EA4CEF}" dt="2026-09-01T17:04:50.764" v="1044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Abraham conteh" userId="4d5792f64356c0a9" providerId="LiveId" clId="{E416D1DD-A237-426C-9EB5-A5B857EA4CEF}" dt="2026-09-01T17:04:24.961" v="102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Abraham conteh" userId="4d5792f64356c0a9" providerId="LiveId" clId="{E416D1DD-A237-426C-9EB5-A5B857EA4CEF}" dt="2026-09-01T09:25:59.866" v="116" actId="115"/>
        <pc:sldMkLst>
          <pc:docMk/>
          <pc:sldMk cId="0" sldId="259"/>
        </pc:sldMkLst>
        <pc:spChg chg="mod">
          <ac:chgData name="Abraham conteh" userId="4d5792f64356c0a9" providerId="LiveId" clId="{E416D1DD-A237-426C-9EB5-A5B857EA4CEF}" dt="2026-09-01T09:25:59.866" v="116" actId="115"/>
          <ac:spMkLst>
            <pc:docMk/>
            <pc:sldMk cId="0" sldId="259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2:15.309" v="59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2:26.735" v="60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3:03.124" v="61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3:11.427" v="62" actId="255"/>
          <ac:spMkLst>
            <pc:docMk/>
            <pc:sldMk cId="0" sldId="259"/>
            <ac:spMk id="10" creationId="{00000000-0000-0000-0000-000000000000}"/>
          </ac:spMkLst>
        </pc:spChg>
      </pc:sldChg>
      <pc:sldChg chg="addSp delSp modSp mod">
        <pc:chgData name="Abraham conteh" userId="4d5792f64356c0a9" providerId="LiveId" clId="{E416D1DD-A237-426C-9EB5-A5B857EA4CEF}" dt="2026-09-01T17:42:44.207" v="1395" actId="1076"/>
        <pc:sldMkLst>
          <pc:docMk/>
          <pc:sldMk cId="0" sldId="260"/>
        </pc:sldMkLst>
        <pc:spChg chg="mod">
          <ac:chgData name="Abraham conteh" userId="4d5792f64356c0a9" providerId="LiveId" clId="{E416D1DD-A237-426C-9EB5-A5B857EA4CEF}" dt="2026-09-01T17:42:38.354" v="1394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17:42:44.207" v="1395" actId="1076"/>
          <ac:spMkLst>
            <pc:docMk/>
            <pc:sldMk cId="0" sldId="260"/>
            <ac:spMk id="4" creationId="{00000000-0000-0000-0000-000000000000}"/>
          </ac:spMkLst>
        </pc:spChg>
        <pc:spChg chg="add del mod">
          <ac:chgData name="Abraham conteh" userId="4d5792f64356c0a9" providerId="LiveId" clId="{E416D1DD-A237-426C-9EB5-A5B857EA4CEF}" dt="2026-09-01T17:34:47.829" v="1238"/>
          <ac:spMkLst>
            <pc:docMk/>
            <pc:sldMk cId="0" sldId="260"/>
            <ac:spMk id="6" creationId="{A45733F5-17F6-BDF4-E9E7-50A9458B53C7}"/>
          </ac:spMkLst>
        </pc:spChg>
        <pc:spChg chg="add mod">
          <ac:chgData name="Abraham conteh" userId="4d5792f64356c0a9" providerId="LiveId" clId="{E416D1DD-A237-426C-9EB5-A5B857EA4CEF}" dt="2026-09-01T17:42:25.867" v="1393" actId="1076"/>
          <ac:spMkLst>
            <pc:docMk/>
            <pc:sldMk cId="0" sldId="260"/>
            <ac:spMk id="7" creationId="{ADD973FC-495D-A0A9-126A-86B525383D95}"/>
          </ac:spMkLst>
        </pc:spChg>
        <pc:spChg chg="add mod">
          <ac:chgData name="Abraham conteh" userId="4d5792f64356c0a9" providerId="LiveId" clId="{E416D1DD-A237-426C-9EB5-A5B857EA4CEF}" dt="2026-09-01T17:42:19.651" v="1392" actId="1076"/>
          <ac:spMkLst>
            <pc:docMk/>
            <pc:sldMk cId="0" sldId="260"/>
            <ac:spMk id="8" creationId="{BE787FEF-A218-A14D-CE9B-F14803A6C572}"/>
          </ac:spMkLst>
        </pc:spChg>
        <pc:spChg chg="add mod">
          <ac:chgData name="Abraham conteh" userId="4d5792f64356c0a9" providerId="LiveId" clId="{E416D1DD-A237-426C-9EB5-A5B857EA4CEF}" dt="2026-09-01T17:42:14.960" v="1391" actId="1076"/>
          <ac:spMkLst>
            <pc:docMk/>
            <pc:sldMk cId="0" sldId="260"/>
            <ac:spMk id="9" creationId="{96AAFDC4-65DB-A4D2-EDC9-8448375A6815}"/>
          </ac:spMkLst>
        </pc:spChg>
        <pc:spChg chg="add mod">
          <ac:chgData name="Abraham conteh" userId="4d5792f64356c0a9" providerId="LiveId" clId="{E416D1DD-A237-426C-9EB5-A5B857EA4CEF}" dt="2026-09-01T17:42:02.161" v="1390" actId="1076"/>
          <ac:spMkLst>
            <pc:docMk/>
            <pc:sldMk cId="0" sldId="260"/>
            <ac:spMk id="10" creationId="{0EA48034-580D-7F62-DE34-D26EBE91F836}"/>
          </ac:spMkLst>
        </pc:spChg>
      </pc:sldChg>
      <pc:sldChg chg="modSp del mod">
        <pc:chgData name="Abraham conteh" userId="4d5792f64356c0a9" providerId="LiveId" clId="{E416D1DD-A237-426C-9EB5-A5B857EA4CEF}" dt="2026-09-01T17:37:46.344" v="1362" actId="2696"/>
        <pc:sldMkLst>
          <pc:docMk/>
          <pc:sldMk cId="0" sldId="261"/>
        </pc:sldMkLst>
        <pc:spChg chg="mod">
          <ac:chgData name="Abraham conteh" userId="4d5792f64356c0a9" providerId="LiveId" clId="{E416D1DD-A237-426C-9EB5-A5B857EA4CEF}" dt="2026-09-01T09:25:45.099" v="114" actId="115"/>
          <ac:spMkLst>
            <pc:docMk/>
            <pc:sldMk cId="0" sldId="261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5:28.714" v="113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del mod">
        <pc:chgData name="Abraham conteh" userId="4d5792f64356c0a9" providerId="LiveId" clId="{E416D1DD-A237-426C-9EB5-A5B857EA4CEF}" dt="2026-09-01T17:42:49.680" v="1396" actId="2696"/>
        <pc:sldMkLst>
          <pc:docMk/>
          <pc:sldMk cId="0" sldId="262"/>
        </pc:sldMkLst>
        <pc:spChg chg="mod">
          <ac:chgData name="Abraham conteh" userId="4d5792f64356c0a9" providerId="LiveId" clId="{E416D1DD-A237-426C-9EB5-A5B857EA4CEF}" dt="2026-09-01T09:26:31.124" v="12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7:28.667" v="150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del mod">
        <pc:chgData name="Abraham conteh" userId="4d5792f64356c0a9" providerId="LiveId" clId="{E416D1DD-A237-426C-9EB5-A5B857EA4CEF}" dt="2026-09-01T17:42:58.708" v="1397" actId="2696"/>
        <pc:sldMkLst>
          <pc:docMk/>
          <pc:sldMk cId="0" sldId="263"/>
        </pc:sldMkLst>
        <pc:spChg chg="mod">
          <ac:chgData name="Abraham conteh" userId="4d5792f64356c0a9" providerId="LiveId" clId="{E416D1DD-A237-426C-9EB5-A5B857EA4CEF}" dt="2026-09-01T09:27:46.632" v="154" actId="115"/>
          <ac:spMkLst>
            <pc:docMk/>
            <pc:sldMk cId="0" sldId="263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8:17.292" v="162" actId="255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Abraham conteh" userId="4d5792f64356c0a9" providerId="LiveId" clId="{E416D1DD-A237-426C-9EB5-A5B857EA4CEF}" dt="2026-09-01T09:29:00.994" v="170" actId="20577"/>
        <pc:sldMkLst>
          <pc:docMk/>
          <pc:sldMk cId="0" sldId="264"/>
        </pc:sldMkLst>
        <pc:spChg chg="mod">
          <ac:chgData name="Abraham conteh" userId="4d5792f64356c0a9" providerId="LiveId" clId="{E416D1DD-A237-426C-9EB5-A5B857EA4CEF}" dt="2026-09-01T09:28:29.240" v="166" actId="115"/>
          <ac:spMkLst>
            <pc:docMk/>
            <pc:sldMk cId="0" sldId="264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9:00.994" v="170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del mod">
        <pc:chgData name="Abraham conteh" userId="4d5792f64356c0a9" providerId="LiveId" clId="{E416D1DD-A237-426C-9EB5-A5B857EA4CEF}" dt="2026-09-01T17:43:35.106" v="1398" actId="2696"/>
        <pc:sldMkLst>
          <pc:docMk/>
          <pc:sldMk cId="0" sldId="265"/>
        </pc:sldMkLst>
        <pc:spChg chg="mod">
          <ac:chgData name="Abraham conteh" userId="4d5792f64356c0a9" providerId="LiveId" clId="{E416D1DD-A237-426C-9EB5-A5B857EA4CEF}" dt="2026-09-01T09:29:31.094" v="174" actId="115"/>
          <ac:spMkLst>
            <pc:docMk/>
            <pc:sldMk cId="0" sldId="265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29:47.456" v="176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del mod">
        <pc:chgData name="Abraham conteh" userId="4d5792f64356c0a9" providerId="LiveId" clId="{E416D1DD-A237-426C-9EB5-A5B857EA4CEF}" dt="2026-09-01T17:43:39.209" v="1399" actId="2696"/>
        <pc:sldMkLst>
          <pc:docMk/>
          <pc:sldMk cId="0" sldId="266"/>
        </pc:sldMkLst>
        <pc:spChg chg="mod">
          <ac:chgData name="Abraham conteh" userId="4d5792f64356c0a9" providerId="LiveId" clId="{E416D1DD-A237-426C-9EB5-A5B857EA4CEF}" dt="2026-09-01T09:30:05.311" v="181" actId="115"/>
          <ac:spMkLst>
            <pc:docMk/>
            <pc:sldMk cId="0" sldId="266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30:49.403" v="259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add del mod">
        <pc:chgData name="Abraham conteh" userId="4d5792f64356c0a9" providerId="LiveId" clId="{E416D1DD-A237-426C-9EB5-A5B857EA4CEF}" dt="2026-09-01T17:45:36.737" v="1406" actId="2696"/>
        <pc:sldMkLst>
          <pc:docMk/>
          <pc:sldMk cId="0" sldId="267"/>
        </pc:sldMkLst>
        <pc:spChg chg="mod">
          <ac:chgData name="Abraham conteh" userId="4d5792f64356c0a9" providerId="LiveId" clId="{E416D1DD-A237-426C-9EB5-A5B857EA4CEF}" dt="2026-09-01T09:31:03.285" v="264" actId="115"/>
          <ac:spMkLst>
            <pc:docMk/>
            <pc:sldMk cId="0" sldId="267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31:57.198" v="280" actId="255"/>
          <ac:spMkLst>
            <pc:docMk/>
            <pc:sldMk cId="0" sldId="267"/>
            <ac:spMk id="4" creationId="{00000000-0000-0000-0000-000000000000}"/>
          </ac:spMkLst>
        </pc:spChg>
      </pc:sldChg>
      <pc:sldChg chg="modSp add del mod">
        <pc:chgData name="Abraham conteh" userId="4d5792f64356c0a9" providerId="LiveId" clId="{E416D1DD-A237-426C-9EB5-A5B857EA4CEF}" dt="2026-09-01T17:45:43.369" v="1407" actId="2696"/>
        <pc:sldMkLst>
          <pc:docMk/>
          <pc:sldMk cId="0" sldId="268"/>
        </pc:sldMkLst>
        <pc:spChg chg="mod">
          <ac:chgData name="Abraham conteh" userId="4d5792f64356c0a9" providerId="LiveId" clId="{E416D1DD-A237-426C-9EB5-A5B857EA4CEF}" dt="2026-09-01T09:32:10.055" v="285" actId="115"/>
          <ac:spMkLst>
            <pc:docMk/>
            <pc:sldMk cId="0" sldId="268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32:40.483" v="295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 ord">
        <pc:chgData name="Abraham conteh" userId="4d5792f64356c0a9" providerId="LiveId" clId="{E416D1DD-A237-426C-9EB5-A5B857EA4CEF}" dt="2026-09-01T17:44:55.780" v="1405"/>
        <pc:sldMkLst>
          <pc:docMk/>
          <pc:sldMk cId="0" sldId="269"/>
        </pc:sldMkLst>
        <pc:spChg chg="mod">
          <ac:chgData name="Abraham conteh" userId="4d5792f64356c0a9" providerId="LiveId" clId="{E416D1DD-A237-426C-9EB5-A5B857EA4CEF}" dt="2026-09-01T09:33:01.063" v="300" actId="115"/>
          <ac:spMkLst>
            <pc:docMk/>
            <pc:sldMk cId="0" sldId="269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33:15.419" v="302" actId="255"/>
          <ac:spMkLst>
            <pc:docMk/>
            <pc:sldMk cId="0" sldId="269"/>
            <ac:spMk id="4" creationId="{00000000-0000-0000-0000-000000000000}"/>
          </ac:spMkLst>
        </pc:spChg>
      </pc:sldChg>
      <pc:sldChg chg="modSp del mod">
        <pc:chgData name="Abraham conteh" userId="4d5792f64356c0a9" providerId="LiveId" clId="{E416D1DD-A237-426C-9EB5-A5B857EA4CEF}" dt="2026-09-01T17:45:49.562" v="1408" actId="2696"/>
        <pc:sldMkLst>
          <pc:docMk/>
          <pc:sldMk cId="0" sldId="270"/>
        </pc:sldMkLst>
        <pc:spChg chg="mod">
          <ac:chgData name="Abraham conteh" userId="4d5792f64356c0a9" providerId="LiveId" clId="{E416D1DD-A237-426C-9EB5-A5B857EA4CEF}" dt="2026-09-01T09:33:28.104" v="307" actId="115"/>
          <ac:spMkLst>
            <pc:docMk/>
            <pc:sldMk cId="0" sldId="270"/>
            <ac:spMk id="3" creationId="{00000000-0000-0000-0000-000000000000}"/>
          </ac:spMkLst>
        </pc:spChg>
        <pc:spChg chg="mod">
          <ac:chgData name="Abraham conteh" userId="4d5792f64356c0a9" providerId="LiveId" clId="{E416D1DD-A237-426C-9EB5-A5B857EA4CEF}" dt="2026-09-01T09:34:01.379" v="315"/>
          <ac:spMkLst>
            <pc:docMk/>
            <pc:sldMk cId="0" sldId="270"/>
            <ac:spMk id="4" creationId="{00000000-0000-0000-0000-000000000000}"/>
          </ac:spMkLst>
        </pc:spChg>
      </pc:sldChg>
      <pc:sldChg chg="addSp delSp modSp mod">
        <pc:chgData name="Abraham conteh" userId="4d5792f64356c0a9" providerId="LiveId" clId="{E416D1DD-A237-426C-9EB5-A5B857EA4CEF}" dt="2026-09-01T17:58:44.963" v="2203" actId="20577"/>
        <pc:sldMkLst>
          <pc:docMk/>
          <pc:sldMk cId="0" sldId="271"/>
        </pc:sldMkLst>
        <pc:spChg chg="add del mod">
          <ac:chgData name="Abraham conteh" userId="4d5792f64356c0a9" providerId="LiveId" clId="{E416D1DD-A237-426C-9EB5-A5B857EA4CEF}" dt="2026-09-01T17:58:44.963" v="2203" actId="20577"/>
          <ac:spMkLst>
            <pc:docMk/>
            <pc:sldMk cId="0" sldId="271"/>
            <ac:spMk id="3" creationId="{00000000-0000-0000-0000-000000000000}"/>
          </ac:spMkLst>
        </pc:spChg>
        <pc:spChg chg="add del mod">
          <ac:chgData name="Abraham conteh" userId="4d5792f64356c0a9" providerId="LiveId" clId="{E416D1DD-A237-426C-9EB5-A5B857EA4CEF}" dt="2026-09-01T17:55:57.322" v="2100" actId="1076"/>
          <ac:spMkLst>
            <pc:docMk/>
            <pc:sldMk cId="0" sldId="271"/>
            <ac:spMk id="4" creationId="{00000000-0000-0000-0000-000000000000}"/>
          </ac:spMkLst>
        </pc:spChg>
      </pc:sldChg>
      <pc:sldChg chg="delSp modSp mod">
        <pc:chgData name="Abraham conteh" userId="4d5792f64356c0a9" providerId="LiveId" clId="{E416D1DD-A237-426C-9EB5-A5B857EA4CEF}" dt="2026-09-01T18:02:38.765" v="2370" actId="2711"/>
        <pc:sldMkLst>
          <pc:docMk/>
          <pc:sldMk cId="0" sldId="272"/>
        </pc:sldMkLst>
        <pc:spChg chg="mod">
          <ac:chgData name="Abraham conteh" userId="4d5792f64356c0a9" providerId="LiveId" clId="{E416D1DD-A237-426C-9EB5-A5B857EA4CEF}" dt="2026-09-01T18:02:38.765" v="2370" actId="2711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Abraham conteh" userId="4d5792f64356c0a9" providerId="LiveId" clId="{E416D1DD-A237-426C-9EB5-A5B857EA4CEF}" dt="2026-09-01T18:02:17.652" v="2368"/>
          <ac:spMkLst>
            <pc:docMk/>
            <pc:sldMk cId="0" sldId="272"/>
            <ac:spMk id="4" creationId="{00000000-0000-0000-0000-000000000000}"/>
          </ac:spMkLst>
        </pc:spChg>
      </pc:sldChg>
      <pc:sldChg chg="addSp modSp new mod">
        <pc:chgData name="Abraham conteh" userId="4d5792f64356c0a9" providerId="LiveId" clId="{E416D1DD-A237-426C-9EB5-A5B857EA4CEF}" dt="2026-09-01T16:55:15.521" v="908" actId="115"/>
        <pc:sldMkLst>
          <pc:docMk/>
          <pc:sldMk cId="3524427310" sldId="273"/>
        </pc:sldMkLst>
        <pc:spChg chg="add mod">
          <ac:chgData name="Abraham conteh" userId="4d5792f64356c0a9" providerId="LiveId" clId="{E416D1DD-A237-426C-9EB5-A5B857EA4CEF}" dt="2026-09-01T16:55:15.521" v="908" actId="115"/>
          <ac:spMkLst>
            <pc:docMk/>
            <pc:sldMk cId="3524427310" sldId="273"/>
            <ac:spMk id="2" creationId="{D0F83B4A-81C2-23C1-A023-65B13F88A9B7}"/>
          </ac:spMkLst>
        </pc:spChg>
      </pc:sldChg>
      <pc:sldChg chg="addSp modSp new mod">
        <pc:chgData name="Abraham conteh" userId="4d5792f64356c0a9" providerId="LiveId" clId="{E416D1DD-A237-426C-9EB5-A5B857EA4CEF}" dt="2026-09-01T17:28:14.125" v="1214" actId="113"/>
        <pc:sldMkLst>
          <pc:docMk/>
          <pc:sldMk cId="2017669218" sldId="274"/>
        </pc:sldMkLst>
        <pc:spChg chg="add mod">
          <ac:chgData name="Abraham conteh" userId="4d5792f64356c0a9" providerId="LiveId" clId="{E416D1DD-A237-426C-9EB5-A5B857EA4CEF}" dt="2026-09-01T17:28:14.125" v="1214" actId="113"/>
          <ac:spMkLst>
            <pc:docMk/>
            <pc:sldMk cId="2017669218" sldId="274"/>
            <ac:spMk id="2" creationId="{7E7A8457-ED8A-109B-7EA1-95F6F8F968CD}"/>
          </ac:spMkLst>
        </pc:spChg>
      </pc:sldChg>
      <pc:sldChg chg="addSp modSp new mod">
        <pc:chgData name="Abraham conteh" userId="4d5792f64356c0a9" providerId="LiveId" clId="{E416D1DD-A237-426C-9EB5-A5B857EA4CEF}" dt="2026-09-01T17:52:40.783" v="1644" actId="2711"/>
        <pc:sldMkLst>
          <pc:docMk/>
          <pc:sldMk cId="186830074" sldId="275"/>
        </pc:sldMkLst>
        <pc:spChg chg="add mod">
          <ac:chgData name="Abraham conteh" userId="4d5792f64356c0a9" providerId="LiveId" clId="{E416D1DD-A237-426C-9EB5-A5B857EA4CEF}" dt="2026-09-01T17:52:40.783" v="1644" actId="2711"/>
          <ac:spMkLst>
            <pc:docMk/>
            <pc:sldMk cId="186830074" sldId="275"/>
            <ac:spMk id="2" creationId="{C2F936CA-C663-7207-0274-0F2AF2F011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913111" cy="47243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FFFFFF"/>
                </a:solidFill>
              </a:rPr>
              <a:t>GLASGOW COMA SCALE (GCS)</a:t>
            </a:r>
          </a:p>
          <a:p>
            <a:r>
              <a:rPr sz="2300" dirty="0">
                <a:solidFill>
                  <a:srgbClr val="DCEBEB"/>
                </a:solidFill>
              </a:rPr>
              <a:t>Assessment of Level of Consciousness</a:t>
            </a:r>
          </a:p>
          <a:p>
            <a:r>
              <a:rPr sz="1600" dirty="0">
                <a:solidFill>
                  <a:srgbClr val="D7E1EB"/>
                </a:solidFill>
              </a:rPr>
              <a:t>
</a:t>
            </a:r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Presented by: Marie Gomez             GC# 2431036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Sarjo </a:t>
            </a:r>
            <a:r>
              <a:rPr lang="en-US" sz="2000" dirty="0" err="1">
                <a:solidFill>
                  <a:srgbClr val="D7E1EB"/>
                </a:solidFill>
                <a:latin typeface="Arial Rounded MT Bold" panose="020F0704030504030204" pitchFamily="34" charset="0"/>
              </a:rPr>
              <a:t>sonko</a:t>
            </a:r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GC#2431032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Fatoumata Gakou      GC#2431108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Jainaba Ceesay          GC#2431106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Jainaba </a:t>
            </a:r>
            <a:r>
              <a:rPr lang="en-US" sz="2000" dirty="0" err="1">
                <a:solidFill>
                  <a:srgbClr val="D7E1EB"/>
                </a:solidFill>
                <a:latin typeface="Arial Rounded MT Bold" panose="020F0704030504030204" pitchFamily="34" charset="0"/>
              </a:rPr>
              <a:t>Bajinka</a:t>
            </a:r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GC#2431025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Fatou Touray               GC#2431006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Saffie </a:t>
            </a:r>
            <a:r>
              <a:rPr lang="en-US" sz="2000" dirty="0" err="1">
                <a:solidFill>
                  <a:srgbClr val="D7E1EB"/>
                </a:solidFill>
                <a:latin typeface="Arial Rounded MT Bold" panose="020F0704030504030204" pitchFamily="34" charset="0"/>
              </a:rPr>
              <a:t>Sankareh</a:t>
            </a:r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GC# 2431030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                         Abraham Conteh        GC# 2431019</a:t>
            </a:r>
          </a:p>
          <a:p>
            <a:endParaRPr lang="en-US" sz="2000" dirty="0">
              <a:solidFill>
                <a:srgbClr val="D7E1EB"/>
              </a:solidFill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Lecturer: Mr. Hydara</a:t>
            </a:r>
          </a:p>
          <a:p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Date: 1</a:t>
            </a:r>
            <a:r>
              <a:rPr lang="en-US" sz="2000" baseline="30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st</a:t>
            </a:r>
            <a:r>
              <a:rPr lang="en-US" sz="2000" dirty="0">
                <a:solidFill>
                  <a:srgbClr val="D7E1EB"/>
                </a:solidFill>
                <a:latin typeface="Arial Rounded MT Bold" panose="020F0704030504030204" pitchFamily="34" charset="0"/>
              </a:rPr>
              <a:t> September,2026.</a:t>
            </a:r>
            <a:endParaRPr sz="2000" dirty="0">
              <a:solidFill>
                <a:srgbClr val="D7E1EB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83B4A-81C2-23C1-A023-65B13F88A9B7}"/>
              </a:ext>
            </a:extLst>
          </p:cNvPr>
          <p:cNvSpPr txBox="1"/>
          <p:nvPr/>
        </p:nvSpPr>
        <p:spPr>
          <a:xfrm>
            <a:off x="226143" y="304800"/>
            <a:ext cx="1081777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rial Black" panose="020B0A04020102020204" pitchFamily="34" charset="0"/>
              </a:rPr>
              <a:t>INTRODUCTION / OVERVIEW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>
                <a:latin typeface="Arial Rounded MT Bold" panose="020F0704030504030204" pitchFamily="34" charset="0"/>
              </a:rPr>
              <a:t>• The Glasgow Coma Scale is a standardized neurological assessment tool used to assess a patient’s level of consciousness.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• It was developed in 1974 by Graham Teasdale and Bryan Jennett.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• The GCS evaluates a patient’s response through three components:    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 =&gt; Eye Opening (E)    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 =&gt; Verbal Response (V)    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 =&gt; Motor Response (M)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• The scores from the three components are combined to produce a total score ranging from 3 to 15.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• It is commonly used in patients with head injuries, altered consciousness, neurological conditions and critically ill patients.</a:t>
            </a:r>
          </a:p>
          <a:p>
            <a:r>
              <a:rPr lang="en-US" sz="2000" dirty="0">
                <a:latin typeface="Arial Rounded MT Bold" panose="020F0704030504030204" pitchFamily="34" charset="0"/>
              </a:rPr>
              <a:t>• Repeated GCS assessments help healthcare professionals identify changes in neurological status.</a:t>
            </a:r>
          </a:p>
          <a:p>
            <a:endParaRPr lang="en-US" sz="2000" dirty="0">
              <a:latin typeface="Arial Rounded MT Bold" panose="020F0704030504030204" pitchFamily="34" charset="0"/>
            </a:endParaRPr>
          </a:p>
          <a:p>
            <a:r>
              <a:rPr lang="en-US" sz="2000" u="sng" dirty="0">
                <a:latin typeface="Arial Rounded MT Bold" panose="020F0704030504030204" pitchFamily="34" charset="0"/>
              </a:rPr>
              <a:t>Note:</a:t>
            </a:r>
            <a:r>
              <a:rPr lang="en-US" sz="2000" dirty="0">
                <a:latin typeface="Arial Rounded MT Bold" panose="020F0704030504030204" pitchFamily="34" charset="0"/>
              </a:rPr>
              <a:t> The GCS does not diagnose the cause of unconsciousness. Instead, it provides a standardized way of describing and monitoring the patient’s level of consciousness.</a:t>
            </a:r>
          </a:p>
        </p:txBody>
      </p:sp>
    </p:spTree>
    <p:extLst>
      <p:ext uri="{BB962C8B-B14F-4D97-AF65-F5344CB8AC3E}">
        <p14:creationId xmlns:p14="http://schemas.microsoft.com/office/powerpoint/2010/main" val="352442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568" y="137160"/>
            <a:ext cx="1083563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>
                <a:solidFill>
                  <a:srgbClr val="162D46"/>
                </a:solidFill>
                <a:latin typeface="Arial Black" panose="020B0A04020102020204" pitchFamily="34" charset="0"/>
              </a:rPr>
              <a:t>DEFINITION</a:t>
            </a:r>
          </a:p>
          <a:p>
            <a:endParaRPr lang="en-US" sz="2800" dirty="0">
              <a:solidFill>
                <a:srgbClr val="162D46"/>
              </a:solidFill>
              <a:latin typeface="Aptos Display"/>
            </a:endParaRP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What is the Glasgow Coma Scale?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The Glasgow Coma Scale (GCS) is a clinical scoring system used to objectively assess the level of consciousness and responsiveness of a patient.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It assesses three areas: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E = Eye Opening: 1–4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V = Verbal Response: 1–5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M = Motor Response: 1–6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Formula: GCS = E + V + M</a:t>
            </a:r>
          </a:p>
          <a:p>
            <a:endParaRPr lang="en-US"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Score range: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Minimum = 3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Maximum = 15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A higher score generally indicates a higher level of consciousness, while a lower score indicates a greater impairment of consciousness.</a:t>
            </a:r>
            <a:endParaRPr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9225" y="241381"/>
            <a:ext cx="11191239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162D46"/>
                </a:solidFill>
                <a:latin typeface="Arial Black" panose="020B0A04020102020204" pitchFamily="34" charset="0"/>
              </a:rPr>
              <a:t>PURPOSE OF GLASGOW COMA SCALE</a:t>
            </a:r>
          </a:p>
          <a:p>
            <a:endParaRPr lang="en-US"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The GCS is used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Assess the patient’s initial level of consciousness.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Establish a neurological baseline.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Monitor changes in the patient’s neurological condition.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Identify neurological deterioration.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Monitor recovery or improvement.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Provide a standardized method of communicating a patient’s neurological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Assist healthcare professionals in determining the severity of impaired consciousness.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Help monitor patients following trauma or head injury.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Important: Serial/ repeated GCS assessments are important because a change in score may indicate deterioration or improvement.</a:t>
            </a:r>
            <a:endParaRPr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A8457-ED8A-109B-7EA1-95F6F8F968CD}"/>
              </a:ext>
            </a:extLst>
          </p:cNvPr>
          <p:cNvSpPr txBox="1"/>
          <p:nvPr/>
        </p:nvSpPr>
        <p:spPr>
          <a:xfrm>
            <a:off x="216310" y="157315"/>
            <a:ext cx="10374343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rial Black" panose="020B0A04020102020204" pitchFamily="34" charset="0"/>
              </a:rPr>
              <a:t>TYPES OF STIMULUS USED IN GCS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b="1" u="sng" dirty="0">
                <a:latin typeface="Arial Rounded MT Bold" panose="020F0704030504030204" pitchFamily="34" charset="0"/>
              </a:rPr>
              <a:t>Verbal stimulus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The patient is spoken to using: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A normal voice initially.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Clear questions.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Simple commands.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Examples: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“Can you open your eyes?”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“What is your name?”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“Can you lift your arm?”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The patient’s response is observed and scored.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2</a:t>
            </a:r>
            <a:r>
              <a:rPr lang="en-US" b="1" dirty="0">
                <a:latin typeface="Arial Rounded MT Bold" panose="020F0704030504030204" pitchFamily="34" charset="0"/>
              </a:rPr>
              <a:t>. </a:t>
            </a:r>
            <a:r>
              <a:rPr lang="en-US" b="1" u="sng" dirty="0">
                <a:latin typeface="Arial Rounded MT Bold" panose="020F0704030504030204" pitchFamily="34" charset="0"/>
              </a:rPr>
              <a:t>Physical pressure stimulus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If the patient does not respond adequately to voice, an appropriate physical pressure stimulus may be used according to clinical protocol.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The purpose is to determine whether the patient can produce a response to stimulation.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Physical stimulation can include: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b="1" dirty="0">
                <a:latin typeface="Arial Rounded MT Bold" panose="020F0704030504030204" pitchFamily="34" charset="0"/>
              </a:rPr>
              <a:t>Central stimulation </a:t>
            </a:r>
            <a:r>
              <a:rPr lang="en-US" dirty="0">
                <a:latin typeface="Arial Rounded MT Bold" panose="020F0704030504030204" pitchFamily="34" charset="0"/>
              </a:rPr>
              <a:t>— used to assess an overall response, such as appropriate pressure to a central area according to clinical protocol.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</a:t>
            </a:r>
            <a:r>
              <a:rPr lang="en-US" b="1" dirty="0">
                <a:latin typeface="Arial Rounded MT Bold" panose="020F0704030504030204" pitchFamily="34" charset="0"/>
              </a:rPr>
              <a:t>Peripheral stimulation</a:t>
            </a:r>
            <a:r>
              <a:rPr lang="en-US" dirty="0">
                <a:latin typeface="Arial Rounded MT Bold" panose="020F0704030504030204" pitchFamily="34" charset="0"/>
              </a:rPr>
              <a:t> — applied to a limb, such as pressure to the fingertip/nail bed when appropriate.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Note: The term “</a:t>
            </a:r>
            <a:r>
              <a:rPr lang="en-US" b="1" dirty="0">
                <a:latin typeface="Arial Rounded MT Bold" panose="020F0704030504030204" pitchFamily="34" charset="0"/>
              </a:rPr>
              <a:t>painful stimulus</a:t>
            </a:r>
            <a:r>
              <a:rPr lang="en-US" dirty="0">
                <a:latin typeface="Arial Rounded MT Bold" panose="020F0704030504030204" pitchFamily="34" charset="0"/>
              </a:rPr>
              <a:t>” is commonly used in older teaching, but “pressure stimulus” is preferred in modern GCS terminology.</a:t>
            </a:r>
          </a:p>
        </p:txBody>
      </p:sp>
    </p:spTree>
    <p:extLst>
      <p:ext uri="{BB962C8B-B14F-4D97-AF65-F5344CB8AC3E}">
        <p14:creationId xmlns:p14="http://schemas.microsoft.com/office/powerpoint/2010/main" val="201766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7128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>
                <a:solidFill>
                  <a:srgbClr val="162D46"/>
                </a:solidFill>
                <a:latin typeface="Aptos Display"/>
              </a:rPr>
              <a:t>The Three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21130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5F6C7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GCS = E + V + 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4480560"/>
          </a:xfrm>
          <a:prstGeom prst="roundRect">
            <a:avLst/>
          </a:prstGeom>
          <a:solidFill>
            <a:srgbClr val="F4F7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2114681" cy="22852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3787D"/>
                </a:solidFill>
              </a:rPr>
              <a:t>👁️ EYE • 1–4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4  Spontaneous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3  To voice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2  To pressure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1  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4480560"/>
          </a:xfrm>
          <a:prstGeom prst="roundRect">
            <a:avLst/>
          </a:prstGeom>
          <a:solidFill>
            <a:srgbClr val="F4F7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1645920"/>
            <a:ext cx="3393878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DCA546"/>
                </a:solidFill>
              </a:rPr>
              <a:t>🗣️ VERBAL • 1–5</a:t>
            </a:r>
          </a:p>
          <a:p>
            <a:pPr>
              <a:spcAft>
                <a:spcPts val="900"/>
              </a:spcAft>
            </a:pPr>
            <a:r>
              <a:rPr sz="2200" dirty="0">
                <a:solidFill>
                  <a:srgbClr val="1E252D"/>
                </a:solidFill>
              </a:rPr>
              <a:t>5  Oriented</a:t>
            </a:r>
          </a:p>
          <a:p>
            <a:pPr>
              <a:spcAft>
                <a:spcPts val="900"/>
              </a:spcAft>
            </a:pPr>
            <a:r>
              <a:rPr sz="2200" dirty="0">
                <a:solidFill>
                  <a:srgbClr val="1E252D"/>
                </a:solidFill>
              </a:rPr>
              <a:t>4  Confused</a:t>
            </a:r>
          </a:p>
          <a:p>
            <a:pPr>
              <a:spcAft>
                <a:spcPts val="900"/>
              </a:spcAft>
            </a:pPr>
            <a:r>
              <a:rPr sz="2200" dirty="0">
                <a:solidFill>
                  <a:srgbClr val="1E252D"/>
                </a:solidFill>
              </a:rPr>
              <a:t>3  Inappropriate words</a:t>
            </a:r>
          </a:p>
          <a:p>
            <a:pPr>
              <a:spcAft>
                <a:spcPts val="900"/>
              </a:spcAft>
            </a:pPr>
            <a:r>
              <a:rPr sz="2200" dirty="0">
                <a:solidFill>
                  <a:srgbClr val="1E252D"/>
                </a:solidFill>
              </a:rPr>
              <a:t>2  Incomprehensible sounds</a:t>
            </a:r>
          </a:p>
          <a:p>
            <a:pPr>
              <a:spcAft>
                <a:spcPts val="900"/>
              </a:spcAft>
            </a:pPr>
            <a:r>
              <a:rPr sz="2200" dirty="0">
                <a:solidFill>
                  <a:srgbClr val="1E252D"/>
                </a:solidFill>
              </a:rPr>
              <a:t>1 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20440" cy="4480560"/>
          </a:xfrm>
          <a:prstGeom prst="roundRect">
            <a:avLst/>
          </a:prstGeom>
          <a:solidFill>
            <a:srgbClr val="F4F7F8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45920"/>
            <a:ext cx="2699778" cy="32547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62D46"/>
                </a:solidFill>
              </a:rPr>
              <a:t>✋ MOTOR • 1–6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6  Obeys commands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5  Localizes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4  Withdraws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3  Abnormal flexion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2  Extension</a:t>
            </a:r>
          </a:p>
          <a:p>
            <a:pPr>
              <a:spcAft>
                <a:spcPts val="900"/>
              </a:spcAft>
            </a:pPr>
            <a:r>
              <a:rPr sz="2400" dirty="0">
                <a:solidFill>
                  <a:srgbClr val="1E252D"/>
                </a:solidFill>
              </a:rPr>
              <a:t>1  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69005"/>
            <a:ext cx="3503267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162D46"/>
                </a:solidFill>
                <a:latin typeface="Aptos Display"/>
              </a:rPr>
              <a:t>SCORING SYSTEM </a:t>
            </a:r>
          </a:p>
          <a:p>
            <a:r>
              <a:rPr sz="2000" b="1" u="sng" dirty="0">
                <a:solidFill>
                  <a:srgbClr val="162D46"/>
                </a:solidFill>
                <a:latin typeface="Aptos Display"/>
              </a:rPr>
              <a:t>Eye Openi</a:t>
            </a:r>
            <a:r>
              <a:rPr lang="en-US" sz="2000" b="1" u="sng" dirty="0">
                <a:solidFill>
                  <a:srgbClr val="162D46"/>
                </a:solidFill>
                <a:latin typeface="Aptos Display"/>
              </a:rPr>
              <a:t>ng = E</a:t>
            </a:r>
            <a:endParaRPr sz="2000" b="1" u="sng" dirty="0">
              <a:solidFill>
                <a:srgbClr val="162D46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921055"/>
            <a:ext cx="1065276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</a:t>
            </a:r>
            <a:r>
              <a:rPr sz="1600" dirty="0">
                <a:latin typeface="Arial Rounded MT Bold" panose="020F0704030504030204" pitchFamily="34" charset="0"/>
              </a:rPr>
              <a:t> E4 </a:t>
            </a:r>
            <a:r>
              <a:rPr lang="en-US" sz="1600" dirty="0">
                <a:latin typeface="Arial Rounded MT Bold" panose="020F0704030504030204" pitchFamily="34" charset="0"/>
              </a:rPr>
              <a:t>=</a:t>
            </a:r>
            <a:r>
              <a:rPr sz="1600" dirty="0">
                <a:latin typeface="Arial Rounded MT Bold" panose="020F0704030504030204" pitchFamily="34" charset="0"/>
              </a:rPr>
              <a:t> Spontaneous: Eyes are open without stimulation.</a:t>
            </a:r>
          </a:p>
          <a:p>
            <a:pPr>
              <a:spcAft>
                <a:spcPts val="900"/>
              </a:spcAft>
              <a:defRPr sz="19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</a:t>
            </a:r>
            <a:r>
              <a:rPr sz="1600" dirty="0">
                <a:latin typeface="Arial Rounded MT Bold" panose="020F0704030504030204" pitchFamily="34" charset="0"/>
              </a:rPr>
              <a:t> E3 </a:t>
            </a:r>
            <a:r>
              <a:rPr lang="en-US" sz="1600" dirty="0">
                <a:latin typeface="Arial Rounded MT Bold" panose="020F0704030504030204" pitchFamily="34" charset="0"/>
              </a:rPr>
              <a:t>=</a:t>
            </a:r>
            <a:r>
              <a:rPr sz="1600" dirty="0">
                <a:latin typeface="Arial Rounded MT Bold" panose="020F0704030504030204" pitchFamily="34" charset="0"/>
              </a:rPr>
              <a:t> To voice: Eyes open when the patient is spoken to.</a:t>
            </a:r>
          </a:p>
          <a:p>
            <a:pPr>
              <a:spcAft>
                <a:spcPts val="900"/>
              </a:spcAft>
              <a:defRPr sz="19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</a:t>
            </a:r>
            <a:r>
              <a:rPr sz="1600" dirty="0">
                <a:latin typeface="Arial Rounded MT Bold" panose="020F0704030504030204" pitchFamily="34" charset="0"/>
              </a:rPr>
              <a:t> E2 </a:t>
            </a:r>
            <a:r>
              <a:rPr lang="en-US" sz="1600" dirty="0">
                <a:latin typeface="Arial Rounded MT Bold" panose="020F0704030504030204" pitchFamily="34" charset="0"/>
              </a:rPr>
              <a:t>=</a:t>
            </a:r>
            <a:r>
              <a:rPr sz="1600" dirty="0">
                <a:latin typeface="Arial Rounded MT Bold" panose="020F0704030504030204" pitchFamily="34" charset="0"/>
              </a:rPr>
              <a:t> To pressure: Eyes open only after physical stimulation.</a:t>
            </a:r>
          </a:p>
          <a:p>
            <a:pPr>
              <a:spcAft>
                <a:spcPts val="900"/>
              </a:spcAft>
              <a:defRPr sz="19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</a:t>
            </a:r>
            <a:r>
              <a:rPr sz="1600" dirty="0">
                <a:latin typeface="Arial Rounded MT Bold" panose="020F0704030504030204" pitchFamily="34" charset="0"/>
              </a:rPr>
              <a:t> E1 </a:t>
            </a:r>
            <a:r>
              <a:rPr lang="en-US" sz="1600" dirty="0">
                <a:latin typeface="Arial Rounded MT Bold" panose="020F0704030504030204" pitchFamily="34" charset="0"/>
              </a:rPr>
              <a:t>=</a:t>
            </a:r>
            <a:r>
              <a:rPr sz="1600" dirty="0">
                <a:latin typeface="Arial Rounded MT Bold" panose="020F0704030504030204" pitchFamily="34" charset="0"/>
              </a:rPr>
              <a:t> None: No eye opening despite appropriate stimulation.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973FC-495D-A0A9-126A-86B525383D95}"/>
              </a:ext>
            </a:extLst>
          </p:cNvPr>
          <p:cNvSpPr txBox="1"/>
          <p:nvPr/>
        </p:nvSpPr>
        <p:spPr>
          <a:xfrm>
            <a:off x="228600" y="2267434"/>
            <a:ext cx="28292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162D46"/>
                </a:solidFill>
                <a:latin typeface="Aptos Display"/>
              </a:rPr>
              <a:t>Verbal Response = V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87FEF-A218-A14D-CE9B-F14803A6C572}"/>
              </a:ext>
            </a:extLst>
          </p:cNvPr>
          <p:cNvSpPr txBox="1"/>
          <p:nvPr/>
        </p:nvSpPr>
        <p:spPr>
          <a:xfrm>
            <a:off x="228600" y="2611755"/>
            <a:ext cx="12272811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V5 = Oriented: Patient communicates appropriately and is oriented.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V4 = Confused: Patient can talk but is disoriented or confused.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V3 = Inappropriate words: Recognizable words are spoken, but they are not appropriate or meaningful conversation.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V2 = Incomprehensible sounds: Moaning, groaning or other sounds without recognizable words.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V1 = None: No verbal response.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AFDC4-65DB-A4D2-EDC9-8448375A6815}"/>
              </a:ext>
            </a:extLst>
          </p:cNvPr>
          <p:cNvSpPr txBox="1"/>
          <p:nvPr/>
        </p:nvSpPr>
        <p:spPr>
          <a:xfrm>
            <a:off x="228600" y="4323228"/>
            <a:ext cx="41455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162D46"/>
                </a:solidFill>
                <a:latin typeface="Aptos Display"/>
              </a:rPr>
              <a:t>Motor Response = M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48034-580D-7F62-DE34-D26EBE91F836}"/>
              </a:ext>
            </a:extLst>
          </p:cNvPr>
          <p:cNvSpPr txBox="1"/>
          <p:nvPr/>
        </p:nvSpPr>
        <p:spPr>
          <a:xfrm>
            <a:off x="154981" y="4661782"/>
            <a:ext cx="1065816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M6 = Obeys commands: Performs a simple command appropriately.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M5 = Localizes to pressure: Makes a purposeful movement toward the stimulus.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M4 = Withdraws from pressure: Pulls the limb away from the stimulus.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M3 = Abnormal flexion: Abnormal flexor posturing (decorticate pattern).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M2 = Extension: Abnormal extensor posturing (decerebrate pattern).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• M1 = None: No motor response.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29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>
                <a:solidFill>
                  <a:srgbClr val="162D46"/>
                </a:solidFill>
                <a:latin typeface="Aptos Display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527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🟢 13–15: Generally categorized as mild impairment.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🟡 9–12: Generally categorized as moderate impairment.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🔴 ≤8: Generally categorized as severe impairment and warrants urgent clinical assessment.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These categories are general guides, not stand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sz="2800" dirty="0">
                <a:latin typeface="Arial Rounded MT Bold" panose="020F0704030504030204" pitchFamily="34" charset="0"/>
              </a:rPr>
              <a:t>alone diagnoses or management rules.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Always consider the individual components, clinical context and the patient's trend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8779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>
                <a:solidFill>
                  <a:srgbClr val="162D46"/>
                </a:solidFill>
                <a:latin typeface="Aptos Display"/>
              </a:rPr>
              <a:t>Nursing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5276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Establish and record a baseline GCS.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Perform assessments consistently and compare with previous findings.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Record E, V and M separately.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Monitor vital signs, pupils and other neurological findings.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Recognize and promptly report deterioration in consciousness.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Maintain patient safety.</a:t>
            </a:r>
          </a:p>
          <a:p>
            <a:pPr>
              <a:spcAft>
                <a:spcPts val="900"/>
              </a:spcAft>
              <a:defRPr sz="1800">
                <a:solidFill>
                  <a:srgbClr val="1E252D"/>
                </a:solidFill>
                <a:latin typeface="Aptos"/>
              </a:defRPr>
            </a:pPr>
            <a:r>
              <a:rPr sz="2800" dirty="0">
                <a:latin typeface="Arial Rounded MT Bold" panose="020F0704030504030204" pitchFamily="34" charset="0"/>
              </a:rPr>
              <a:t>• Document factors that could affect the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936CA-C663-7207-0274-0F2AF2F011CE}"/>
              </a:ext>
            </a:extLst>
          </p:cNvPr>
          <p:cNvSpPr txBox="1"/>
          <p:nvPr/>
        </p:nvSpPr>
        <p:spPr>
          <a:xfrm>
            <a:off x="231057" y="83574"/>
            <a:ext cx="11144865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rial Black" panose="020B0A04020102020204" pitchFamily="34" charset="0"/>
              </a:rPr>
              <a:t>LIMITATIONS OF GCS</a:t>
            </a:r>
          </a:p>
          <a:p>
            <a:endParaRPr lang="en-US" dirty="0"/>
          </a:p>
          <a:p>
            <a:r>
              <a:rPr lang="en-US" dirty="0">
                <a:latin typeface="Arial Rounded MT Bold" panose="020F0704030504030204" pitchFamily="34" charset="0"/>
              </a:rPr>
              <a:t>Although GCS is very useful, it has limitations.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Factors that may affect the score: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Sedative or analgesic medications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Alcohol or drug intoxication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Language barriers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Hearing impairment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Speech impairment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Aphasia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Pre-existing neurological or cognitive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Eye or facial injuries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Endotracheal intubation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Young age/developmental limitations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    </a:t>
            </a:r>
            <a:r>
              <a:rPr lang="en-US" b="1" dirty="0">
                <a:latin typeface="Arial Rounded MT Bold" panose="020F0704030504030204" pitchFamily="34" charset="0"/>
              </a:rPr>
              <a:t>Other 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GCS does not provide a complete neurological examination.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 It does not assess: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Pupillary response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Cranial nerves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Sensation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Reflexes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  Vital signs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• Different factors can make one or more components difficult or impossible to assess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3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9081" y="162232"/>
            <a:ext cx="1117091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162D46"/>
                </a:solidFill>
                <a:latin typeface="Arial Black" panose="020B0A04020102020204" pitchFamily="34" charset="0"/>
              </a:rPr>
              <a:t>SUMMARY</a:t>
            </a:r>
          </a:p>
          <a:p>
            <a:r>
              <a:rPr lang="en-US" sz="2800" dirty="0">
                <a:solidFill>
                  <a:srgbClr val="162D46"/>
                </a:solidFill>
                <a:latin typeface="Aptos Display"/>
              </a:rPr>
              <a:t> 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Key Points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•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The Glasgow Coma Scale assesses a patient’s level of consciousness.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•</a:t>
            </a: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It has three components:    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Eye — E    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Verbal — V    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Motor — M</a:t>
            </a:r>
          </a:p>
          <a:p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The total score ranges from 3 to 15.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GCS = E + V + 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Maximum score = 15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Minimum score =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GCS should be assessed systematically and documented clearly.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Serial assessments are important for detecting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Always document the individual component scores.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A low or decreasing GCS requires prompt clinical attention.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GCS has limitations and should be combined with a complete neurological assessment.</a:t>
            </a:r>
            <a:endParaRPr sz="24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08750" y="575187"/>
            <a:ext cx="10652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52D"/>
                </a:solidFill>
                <a:latin typeface="Aptos"/>
              </a:defRPr>
            </a:pPr>
            <a:endParaRPr sz="24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1" y="320040"/>
            <a:ext cx="113334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162D46"/>
                </a:solidFill>
                <a:latin typeface="Arial Black" panose="020B0A04020102020204" pitchFamily="34" charset="0"/>
              </a:rPr>
              <a:t>REFERENCES</a:t>
            </a:r>
          </a:p>
          <a:p>
            <a:endParaRPr lang="en-US" sz="2800" u="sng" dirty="0">
              <a:solidFill>
                <a:srgbClr val="162D46"/>
              </a:solidFill>
              <a:latin typeface="Aptos Display"/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Teasdale, G., &amp; Jennett, B. (1974). Assessment of coma and impaired consciousness: A practical scale. The Lancet.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 National Institute for Health and Care Excellence (NICE). Head injury: assessment and early management.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r>
              <a:rPr lang="en-US" sz="28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3.    American College of Surgeons. Advanced Trauma Life Support (ATLS).</a:t>
            </a:r>
          </a:p>
          <a:p>
            <a:endParaRPr lang="en-US" sz="2800" dirty="0">
              <a:solidFill>
                <a:srgbClr val="162D46"/>
              </a:solidFill>
              <a:latin typeface="Arial Rounded MT Bold" panose="020F0704030504030204" pitchFamily="34" charset="0"/>
            </a:endParaRPr>
          </a:p>
          <a:p>
            <a:r>
              <a:rPr lang="en-US" sz="2800" dirty="0">
                <a:solidFill>
                  <a:srgbClr val="162D46"/>
                </a:solidFill>
                <a:latin typeface="Arial Rounded MT Bold" panose="020F0704030504030204" pitchFamily="34" charset="0"/>
              </a:rPr>
              <a:t>4.   Nursing/Medical-Surgical Nursing textbook.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C78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1291</Words>
  <Application>Microsoft Office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Aharoni</vt:lpstr>
      <vt:lpstr>Aptos Display</vt:lpstr>
      <vt:lpstr>Arial</vt:lpstr>
      <vt:lpstr>Arial Black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Abraham conteh</cp:lastModifiedBy>
  <cp:revision>2</cp:revision>
  <dcterms:created xsi:type="dcterms:W3CDTF">2013-01-27T09:14:16Z</dcterms:created>
  <dcterms:modified xsi:type="dcterms:W3CDTF">2026-09-01T18:04:22Z</dcterms:modified>
  <cp:category/>
</cp:coreProperties>
</file>