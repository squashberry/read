
<file path=[Content_Types].xml><?xml version="1.0" encoding="utf-8"?>
<Types xmlns="http://schemas.openxmlformats.org/package/2006/content-types">
  <Default Extension="bin" ContentType="image/unknown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58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60"/>
  </p:normalViewPr>
  <p:slideViewPr>
    <p:cSldViewPr snapToGrid="0">
      <p:cViewPr varScale="1">
        <p:scale>
          <a:sx n="66" d="100"/>
          <a:sy n="66" d="100"/>
        </p:scale>
        <p:origin x="4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14809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08325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13864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0354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0401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8287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34687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8396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5845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9474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7321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E2F27-3747-4A59-BC11-7A7A9BEA45A3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85F2D-804F-4810-A1B2-E3CC0B103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0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3EECA-1843-5439-6948-F54E364D1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1906"/>
            <a:ext cx="9144000" cy="13060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CD933-B779-D0BE-6D2B-B3ECDB439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915993"/>
          </a:xfrm>
        </p:spPr>
        <p:txBody>
          <a:bodyPr>
            <a:noAutofit/>
          </a:bodyPr>
          <a:lstStyle/>
          <a:p>
            <a:pPr algn="l"/>
            <a:r>
              <a:rPr lang="en-US" sz="1800" dirty="0"/>
              <a:t>1.Isatou </a:t>
            </a:r>
            <a:r>
              <a:rPr lang="en-US" sz="1800" dirty="0" err="1"/>
              <a:t>Njie</a:t>
            </a:r>
            <a:r>
              <a:rPr lang="en-US" sz="1800" dirty="0"/>
              <a:t> 		GC#2431048</a:t>
            </a:r>
          </a:p>
          <a:p>
            <a:pPr algn="l"/>
            <a:r>
              <a:rPr lang="en-US" sz="1800" dirty="0"/>
              <a:t>2.Mariama  </a:t>
            </a:r>
            <a:r>
              <a:rPr lang="en-US" sz="1800" dirty="0" err="1"/>
              <a:t>Manjang</a:t>
            </a:r>
            <a:r>
              <a:rPr lang="en-US" sz="1800" dirty="0"/>
              <a:t> 	GC#2431027</a:t>
            </a:r>
          </a:p>
          <a:p>
            <a:pPr algn="l"/>
            <a:r>
              <a:rPr lang="en-US" sz="1800" dirty="0"/>
              <a:t>3.Lovetta Fatu </a:t>
            </a:r>
            <a:r>
              <a:rPr lang="en-US" sz="1800" dirty="0" err="1"/>
              <a:t>Kabia</a:t>
            </a:r>
            <a:r>
              <a:rPr lang="en-US" sz="1800" dirty="0"/>
              <a:t> 	GC#2431091</a:t>
            </a:r>
          </a:p>
          <a:p>
            <a:pPr algn="l"/>
            <a:r>
              <a:rPr lang="en-US" sz="1800" dirty="0"/>
              <a:t>4.Awa </a:t>
            </a:r>
            <a:r>
              <a:rPr lang="en-US" sz="1800" dirty="0" err="1"/>
              <a:t>Fadiya</a:t>
            </a:r>
            <a:r>
              <a:rPr lang="en-US" sz="1800" dirty="0"/>
              <a:t> 		GC# 2431062</a:t>
            </a:r>
          </a:p>
          <a:p>
            <a:pPr algn="l"/>
            <a:r>
              <a:rPr lang="en-US" sz="1800" dirty="0"/>
              <a:t>5.Sainabou </a:t>
            </a:r>
            <a:r>
              <a:rPr lang="en-US" sz="1800" dirty="0" err="1"/>
              <a:t>Njie</a:t>
            </a:r>
            <a:r>
              <a:rPr lang="en-US" sz="1800" dirty="0"/>
              <a:t> 		Gc# 2431045</a:t>
            </a:r>
          </a:p>
          <a:p>
            <a:pPr algn="l"/>
            <a:r>
              <a:rPr lang="en-US" sz="1800" dirty="0"/>
              <a:t>6.Aminata </a:t>
            </a:r>
            <a:r>
              <a:rPr lang="en-US" sz="1800" dirty="0" err="1"/>
              <a:t>Jawara</a:t>
            </a:r>
            <a:r>
              <a:rPr lang="en-US" sz="1800" dirty="0"/>
              <a:t> 		GC#2431088</a:t>
            </a:r>
          </a:p>
          <a:p>
            <a:pPr algn="l"/>
            <a:r>
              <a:rPr lang="en-US" sz="1800" dirty="0"/>
              <a:t>7. </a:t>
            </a:r>
            <a:r>
              <a:rPr lang="en-US" sz="1800" dirty="0" err="1"/>
              <a:t>Sainabou</a:t>
            </a:r>
            <a:r>
              <a:rPr lang="en-US" sz="1800" dirty="0"/>
              <a:t> Humma 	GC#243116</a:t>
            </a:r>
          </a:p>
          <a:p>
            <a:pPr algn="l"/>
            <a:r>
              <a:rPr lang="en-US" sz="1800" dirty="0"/>
              <a:t>8.Israel Akinola 		GC#2431005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437D9-02EF-41F9-2486-0281665C9F6D}"/>
              </a:ext>
            </a:extLst>
          </p:cNvPr>
          <p:cNvSpPr txBox="1"/>
          <p:nvPr/>
        </p:nvSpPr>
        <p:spPr>
          <a:xfrm>
            <a:off x="2801816" y="1547446"/>
            <a:ext cx="77489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10 PRESENTATION</a:t>
            </a:r>
          </a:p>
        </p:txBody>
      </p:sp>
    </p:spTree>
    <p:extLst>
      <p:ext uri="{BB962C8B-B14F-4D97-AF65-F5344CB8AC3E}">
        <p14:creationId xmlns:p14="http://schemas.microsoft.com/office/powerpoint/2010/main" val="83516146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3F7B-37A3-E07D-748D-37EE63A3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79079-533E-2867-E7BA-5BAC22A56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OVERVIEW</a:t>
            </a:r>
          </a:p>
          <a:p>
            <a:r>
              <a:rPr lang="en-US" dirty="0"/>
              <a:t>DEFINITIONS</a:t>
            </a:r>
          </a:p>
          <a:p>
            <a:r>
              <a:rPr lang="en-US" dirty="0"/>
              <a:t>ATEOLOGY </a:t>
            </a:r>
          </a:p>
          <a:p>
            <a:r>
              <a:rPr lang="en-US" dirty="0"/>
              <a:t>DIAGRAM</a:t>
            </a:r>
          </a:p>
          <a:p>
            <a:r>
              <a:rPr lang="en-US" dirty="0"/>
              <a:t>PATHOPHYSIOLOGY</a:t>
            </a:r>
          </a:p>
          <a:p>
            <a:r>
              <a:rPr lang="en-US" dirty="0"/>
              <a:t>TYPES</a:t>
            </a:r>
          </a:p>
          <a:p>
            <a:r>
              <a:rPr lang="en-US" dirty="0"/>
              <a:t>SIGNS AND SYMPTOMS</a:t>
            </a:r>
          </a:p>
          <a:p>
            <a:r>
              <a:rPr lang="en-US" dirty="0"/>
              <a:t>INVESTIGATION</a:t>
            </a:r>
          </a:p>
          <a:p>
            <a:r>
              <a:rPr lang="en-US" dirty="0"/>
              <a:t>NURSING MANAGEMENT </a:t>
            </a:r>
          </a:p>
          <a:p>
            <a:r>
              <a:rPr lang="en-US" dirty="0"/>
              <a:t>NURSING DIAGNOSIS</a:t>
            </a:r>
          </a:p>
          <a:p>
            <a:r>
              <a:rPr lang="en-US" dirty="0"/>
              <a:t>COMPLICATIONS</a:t>
            </a:r>
          </a:p>
          <a:p>
            <a:r>
              <a:rPr lang="en-US" dirty="0"/>
              <a:t>DIFFERENTIAL DIAGNOSIS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9551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AFA6D-8700-A4EC-26E8-B59885E8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749EE-DF1F-2497-895F-9D6B45E56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Hernia is a common surgical condition encountered across all age groups and demographics.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a structural defect in the musculoskeletal boundaries of body cavities, most commonly the abdominal wall.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normal anatomical contents to protrude outside their natural boundaries.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left untreated, a simple hernia can progress from mild discomfort to a life-threatening acute surgical emergency.</a:t>
            </a:r>
          </a:p>
        </p:txBody>
      </p:sp>
    </p:spTree>
    <p:extLst>
      <p:ext uri="{BB962C8B-B14F-4D97-AF65-F5344CB8AC3E}">
        <p14:creationId xmlns:p14="http://schemas.microsoft.com/office/powerpoint/2010/main" val="276094923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A70A6-31A9-6ABD-4179-4A630EDA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71CD9-0505-F329-9281-191605636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Hernia:The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abnormal protrusion of a body organ or tissue through a defect, weakness, or opening in the wall of the cavity that normally contains it.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Hernial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sac:An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outpouching of the parietal peritoneum that encloses the herniated viscera.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Hernial orifice (defect):The anatomical weakness or opening in the fascia or muscular wall through which the sac protrudes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.Hernial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contents:The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organs or tissues contained within the sac, most commonly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omentum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small intestine.</a:t>
            </a:r>
          </a:p>
        </p:txBody>
      </p:sp>
    </p:spTree>
    <p:extLst>
      <p:ext uri="{BB962C8B-B14F-4D97-AF65-F5344CB8AC3E}">
        <p14:creationId xmlns:p14="http://schemas.microsoft.com/office/powerpoint/2010/main" val="146098946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24EBF-2558-2461-96AB-AF6DCA0A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AETIOLOGY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7636D-8917-0AD4-3C69-5D541658C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5725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B0B7C1D-D23A-9F68-B9F2-1994F5199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5417"/>
              </p:ext>
            </p:extLst>
          </p:nvPr>
        </p:nvGraphicFramePr>
        <p:xfrm>
          <a:off x="492368" y="1514842"/>
          <a:ext cx="10424160" cy="40512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305199677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1422726"/>
                    </a:ext>
                  </a:extLst>
                </a:gridCol>
              </a:tblGrid>
              <a:tr h="4511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CONGENITAL CAUSES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ACQUIRED CAUSES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135474"/>
                  </a:ext>
                </a:extLst>
              </a:tr>
              <a:tr h="389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Congenital weakness of the abdominal 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Heavy lifting and strenuous physical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875312"/>
                  </a:ext>
                </a:extLst>
              </a:tr>
              <a:tr h="631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Failure of normal closure of certain anatomical 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Chronic constipation and repeated straining during bowel movements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191749"/>
                  </a:ext>
                </a:extLst>
              </a:tr>
              <a:tr h="631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Developmental defects that leave areas of weakness through which abdominal contents can protrude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Pregnancy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610879"/>
                  </a:ext>
                </a:extLst>
              </a:tr>
              <a:tr h="3896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Obesity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527751"/>
                  </a:ext>
                </a:extLst>
              </a:tr>
              <a:tr h="36090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Ascites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351373"/>
                  </a:ext>
                </a:extLst>
              </a:tr>
              <a:tr h="38963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Aging and weakening of connective tissues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118703"/>
                  </a:ext>
                </a:extLst>
              </a:tr>
              <a:tr h="3896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Previous abdominal surgery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66202"/>
                  </a:ext>
                </a:extLst>
              </a:tr>
              <a:tr h="3896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Trauma or injury to the abdominal wall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23156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882AB44-C45C-B7CA-5A48-16306E56783A}"/>
              </a:ext>
            </a:extLst>
          </p:cNvPr>
          <p:cNvSpPr txBox="1"/>
          <p:nvPr/>
        </p:nvSpPr>
        <p:spPr>
          <a:xfrm>
            <a:off x="665283" y="5584102"/>
            <a:ext cx="10078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hernia usually occurs when a weak point in the abdominal wall is exposed to increased intra-abdominal pressure, causing abdominal tissue to push through it.</a:t>
            </a:r>
          </a:p>
        </p:txBody>
      </p:sp>
    </p:spTree>
    <p:extLst>
      <p:ext uri="{BB962C8B-B14F-4D97-AF65-F5344CB8AC3E}">
        <p14:creationId xmlns:p14="http://schemas.microsoft.com/office/powerpoint/2010/main" val="331419356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Visual Guide To Hernias">
            <a:extLst>
              <a:ext uri="{FF2B5EF4-FFF2-40B4-BE49-F238E27FC236}">
                <a16:creationId xmlns:a16="http://schemas.microsoft.com/office/drawing/2014/main" id="{A51B82F6-07D2-C561-9C9C-2CE136CD4C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93631" y="-873369"/>
            <a:ext cx="4454769" cy="4454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Visual Guide To Hernias">
            <a:extLst>
              <a:ext uri="{FF2B5EF4-FFF2-40B4-BE49-F238E27FC236}">
                <a16:creationId xmlns:a16="http://schemas.microsoft.com/office/drawing/2014/main" id="{343CD5CF-2F32-8F60-F3C2-7EB3C34B13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Visual Guide To Hernias">
            <a:extLst>
              <a:ext uri="{FF2B5EF4-FFF2-40B4-BE49-F238E27FC236}">
                <a16:creationId xmlns:a16="http://schemas.microsoft.com/office/drawing/2014/main" id="{C6B93CCA-E35F-4BEE-181A-5E4F52CDAC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98277" y="1131277"/>
            <a:ext cx="5251937" cy="525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D3D582-4D04-0A07-73A3-C4B0BA3AF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36" y="592015"/>
            <a:ext cx="4762500" cy="381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DCBC6B-469B-1917-862F-2BA0DB245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131" y="2390041"/>
            <a:ext cx="5872788" cy="399317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10A1BB3-C980-C001-505B-E41EE4CAA4ED}"/>
              </a:ext>
            </a:extLst>
          </p:cNvPr>
          <p:cNvSpPr/>
          <p:nvPr/>
        </p:nvSpPr>
        <p:spPr>
          <a:xfrm>
            <a:off x="1550143" y="4337340"/>
            <a:ext cx="6292593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HERNIA</a:t>
            </a:r>
          </a:p>
        </p:txBody>
      </p:sp>
    </p:spTree>
    <p:extLst>
      <p:ext uri="{BB962C8B-B14F-4D97-AF65-F5344CB8AC3E}">
        <p14:creationId xmlns:p14="http://schemas.microsoft.com/office/powerpoint/2010/main" val="249939295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99921-704C-0EE9-C426-79B60CD6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314"/>
            <a:ext cx="10515600" cy="104420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F8269-9D6C-D7EF-6F48-7C89CBFFD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631" y="879231"/>
            <a:ext cx="11084169" cy="6142892"/>
          </a:xfrm>
        </p:spPr>
        <p:txBody>
          <a:bodyPr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or defect in abdominal wall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intra-abdominal pressure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Abdominal tissue/viscera pushed through the weak area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hernia and visible/palpable swelling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Hernia remains reducible OR becomes incarcerated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Compromised blood supply → strangulation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Ischaemia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 necrosis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perforation</a:t>
            </a:r>
          </a:p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↓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Peritonitis → sepsis/shock</a:t>
            </a:r>
          </a:p>
        </p:txBody>
      </p:sp>
    </p:spTree>
    <p:extLst>
      <p:ext uri="{BB962C8B-B14F-4D97-AF65-F5344CB8AC3E}">
        <p14:creationId xmlns:p14="http://schemas.microsoft.com/office/powerpoint/2010/main" val="410719098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997-C770-2840-1342-2BE72E10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HERNIA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363AF-24B6-A76E-6AB3-073C6AE40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Inguinal hernia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Femoral hernia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Umbilical hernia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Incisional hernia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Hiatal hernia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Epigastric hernia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Spigelian hernia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Congenital diaphragmatic hernia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AA3B2A-ECC3-49C0-8D71-5B672C5E1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237" y="182562"/>
            <a:ext cx="4138944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6625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2C77-DC9A-7505-56FA-72D29F86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 AND SYMPTOMS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9ED9A-A017-8CF5-DAB7-1FC373A09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or palpable lump/swelling in the abdomen, groin, or hernia site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or discomfort, especially when lifting, coughing, sneezing, or straining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Feeling of heaviness, pressure, or dragging in the affected area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Lump becomes more prominent when standing, coughing, or straining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Lump may disappear when lying down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Tenderness over the swelling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Burning or aching sensation around the lump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passing stool or gas in some abdominal hernias</a:t>
            </a:r>
          </a:p>
        </p:txBody>
      </p:sp>
    </p:spTree>
    <p:extLst>
      <p:ext uri="{BB962C8B-B14F-4D97-AF65-F5344CB8AC3E}">
        <p14:creationId xmlns:p14="http://schemas.microsoft.com/office/powerpoint/2010/main" val="243424608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0789-7DFB-D96D-B18D-1E5C852A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A8FE3-CC4E-A42C-EB18-D16B364C5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Physical examination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of the swelling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may be asked to cough or strain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Swelling may become more prominent</a:t>
            </a:r>
          </a:p>
          <a:p>
            <a:pPr marL="3657600" lvl="8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Ultrasound</a:t>
            </a:r>
          </a:p>
          <a:p>
            <a:pPr lvl="8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sound waves to produce images</a:t>
            </a:r>
          </a:p>
          <a:p>
            <a:pPr lvl="8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hernia and its contents</a:t>
            </a:r>
          </a:p>
          <a:p>
            <a:pPr lvl="8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for groin and abdominal wall hernias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CT scan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detailed images of the abdomen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size and location of the hernia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detect obstruction or strangulation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7600" lvl="8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MRI</a:t>
            </a:r>
          </a:p>
          <a:p>
            <a:pPr lvl="8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detailed images of soft tissues</a:t>
            </a:r>
          </a:p>
          <a:p>
            <a:pPr lvl="8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diagnosis is uncertain</a:t>
            </a:r>
          </a:p>
          <a:p>
            <a:pPr lvl="8"/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detect small or hidden hernias</a:t>
            </a:r>
          </a:p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Blood tests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performed when complications are suspected</a:t>
            </a:r>
          </a:p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help detect infection or inflammation</a:t>
            </a:r>
          </a:p>
        </p:txBody>
      </p:sp>
    </p:spTree>
    <p:extLst>
      <p:ext uri="{BB962C8B-B14F-4D97-AF65-F5344CB8AC3E}">
        <p14:creationId xmlns:p14="http://schemas.microsoft.com/office/powerpoint/2010/main" val="385516596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F5F6B-4E53-D074-316F-96A57D5EF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511"/>
            <a:ext cx="10120086" cy="7453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NURSING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B2C0B-5F01-14D5-E4D5-3E99C0388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84" y="1051901"/>
            <a:ext cx="11547231" cy="5624669"/>
          </a:xfrm>
        </p:spPr>
        <p:txBody>
          <a:bodyPr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intra-abdominal pressure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activities that increase intra-abdominal pressure.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excessive straining.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open-mouth technique when sneezing.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heavy lifting and straining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recovering from hernia repair should avoid heavy lifting and strenuous activity during the prescribed recovery period.</a:t>
            </a:r>
          </a:p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Postoperative nursing care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and manage pain.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surgical wound for infection.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urinary output and difficulty voiding.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appropriate activity and mobility.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constipation and straining.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Educate the patient about wound care and activity restrictions.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scrotal support where appropriate following inguinal hernia repair.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Ice packs may be used intermittently to reduce swelling where appropriate.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Encourage deep breathing and effective coughing as appropriate to prevent respiratory complications, while supporting the incision if needed.</a:t>
            </a:r>
          </a:p>
        </p:txBody>
      </p:sp>
    </p:spTree>
    <p:extLst>
      <p:ext uri="{BB962C8B-B14F-4D97-AF65-F5344CB8AC3E}">
        <p14:creationId xmlns:p14="http://schemas.microsoft.com/office/powerpoint/2010/main" val="84777613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CC89-1BBA-31CD-3FAC-19F085A2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NURSING DIAGNOSES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29BD-9BD9-2B88-43DA-FD76F5EF5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Pain related to surgical incision, tissue trauma, or localized ischemia.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for Infection related to surgical skin break and placement of a foreign body such as synthetic mesh.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for Urinary Retention related to spinal/general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anaesthesia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local trauma in the groin area.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for Constipation related to postoperative immobility, opioid analgesics, and fear of incisional pain during straining.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Deficient Knowledge related to post-discharge wound care, activity limitations, and signs of complications.</a:t>
            </a:r>
          </a:p>
        </p:txBody>
      </p:sp>
    </p:spTree>
    <p:extLst>
      <p:ext uri="{BB962C8B-B14F-4D97-AF65-F5344CB8AC3E}">
        <p14:creationId xmlns:p14="http://schemas.microsoft.com/office/powerpoint/2010/main" val="147632111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F474-170F-C481-B8DD-F7E5A97A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23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BEFA8-2194-3A67-747F-7E5908FB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873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Incarceration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Strangulation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Intestinal obstruction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Ischaemia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Tissue necrosis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Peritonitis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</a:t>
            </a:r>
          </a:p>
        </p:txBody>
      </p:sp>
    </p:spTree>
    <p:extLst>
      <p:ext uri="{BB962C8B-B14F-4D97-AF65-F5344CB8AC3E}">
        <p14:creationId xmlns:p14="http://schemas.microsoft.com/office/powerpoint/2010/main" val="144093719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B472-53CE-F95E-146E-BCB84C75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DIAGNOSES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67C60-4E63-6B2B-5394-E9F329FC5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Hydrocele – accumulation of fluid around the testis causing scrotal swelling.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Lymphadenopathy – enlargement of lymph nodes that may present as a groin lump.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Lipoma – benign fatty tissue mass that may feel soft and painless.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Abscess – collection of pus causing a painful, warm and swollen area.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Varicocele – enlargement of veins around the testis producing a “bag of worms” feeling.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Undescended testis – testis that has not descended into the scrotum and may present as a groin swelling.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Saphena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varix – swelling of the saphenous vein near the groin that can resemble a hernia.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Femoral aneurysm – abnormal enlargement of a blood vessel that may appear as a pulsating groin mass.</a:t>
            </a:r>
          </a:p>
        </p:txBody>
      </p:sp>
    </p:spTree>
    <p:extLst>
      <p:ext uri="{BB962C8B-B14F-4D97-AF65-F5344CB8AC3E}">
        <p14:creationId xmlns:p14="http://schemas.microsoft.com/office/powerpoint/2010/main" val="247304971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C3C0C-58F1-16D2-F585-6730ECF9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67BCB-07A4-787E-8F0F-0E2C81A01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Stabilini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van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Veenendaal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Aasvang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et al. (2023). Update of the international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HerniaSurge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guidelines for groin hernia management. BJS Open, 7(5), zrad080. https://doi.org/10.1093/bjsopen/zrad080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Ansari, P. (2024). Inguinal hernia. Merck Manual Professional Edition.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Ansari, P. (2024). Hernias of the abdominal wall. Merck Manual Professional Edition.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Hassler, K. R., Saxena, P., &amp; Baltazar-Ford, K. S. (2022). Open inguinal hernia repair.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StatPearls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Publishing.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47283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1111</Words>
  <Application>Microsoft Office PowerPoint</Application>
  <PresentationFormat>Widescreen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Office Theme</vt:lpstr>
      <vt:lpstr>HERNIA</vt:lpstr>
      <vt:lpstr>TABLE OF CONTENT</vt:lpstr>
      <vt:lpstr>OVERVIEW</vt:lpstr>
      <vt:lpstr>DEFINITIONS</vt:lpstr>
      <vt:lpstr>AETIOLOGY</vt:lpstr>
      <vt:lpstr>PowerPoint Presentation</vt:lpstr>
      <vt:lpstr>PATHOPHYSIOLOGY</vt:lpstr>
      <vt:lpstr>TYPE OF HERNIA</vt:lpstr>
      <vt:lpstr>SIGNS AND SYMPTOMS</vt:lpstr>
      <vt:lpstr>INVESTIGATIONS</vt:lpstr>
      <vt:lpstr>NURSING MANAGEMENT</vt:lpstr>
      <vt:lpstr>NURSING DIAGNOSES</vt:lpstr>
      <vt:lpstr>COMPLICATIONS</vt:lpstr>
      <vt:lpstr>DIFFERENTIAL DIAGNOSES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HERNIA</dc:title>
  <dc:creator>Squashberry .</dc:creator>
  <cp:lastModifiedBy>Awa Fadiya</cp:lastModifiedBy>
  <cp:revision>5</cp:revision>
  <dcterms:created xsi:type="dcterms:W3CDTF">2026-09-02T02:42:11Z</dcterms:created>
  <dcterms:modified xsi:type="dcterms:W3CDTF">2026-10-08T12:24:43Z</dcterms:modified>
</cp:coreProperties>
</file>