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7" autoAdjust="0"/>
    <p:restoredTop sz="94660"/>
  </p:normalViewPr>
  <p:slideViewPr>
    <p:cSldViewPr snapToGrid="0">
      <p:cViewPr varScale="1">
        <p:scale>
          <a:sx n="94" d="100"/>
          <a:sy n="94" d="100"/>
        </p:scale>
        <p:origin x="3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14162-7314-AE77-105A-289ECD8B00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83FBB0-4745-6223-4016-B2FE7CEE0A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4CD31-11FA-68B2-F22B-AECFFF97E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CBC9F-42E5-4D5A-8A28-98A9A669A27C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4A655-4655-3D3B-2AD6-4CB941F00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483EF-E661-CAD2-9809-0426215E7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4463A-C249-4D4E-B117-516B49937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678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C1CC4-5498-3A15-5FE7-E659AC73D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2EB54-43D4-17F7-1ED8-5BFECF6D6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234E8-D768-630C-4BF2-726964EF1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CBC9F-42E5-4D5A-8A28-98A9A669A27C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88C1C-3BAF-6DAB-92A2-6BDC5980A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42BA0-46C5-D079-048E-92E6716F4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4463A-C249-4D4E-B117-516B49937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111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64386-7E7B-FB04-1C48-134CCBE20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3405D-0E1B-7E49-1A63-BEF4AAAAD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023EF-653F-4BBB-89A9-40C2D2CEC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CBC9F-42E5-4D5A-8A28-98A9A669A27C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C4BE4-C75F-9BA7-E382-EE3DC6929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0BDD2-59CC-2684-015A-36E92A3C4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4463A-C249-4D4E-B117-516B49937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333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134A3-62B7-A7C3-A85F-EB77A1C52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8B6AD-32B7-CD4C-4666-DCA891C4B4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6DF4B-E3E7-7560-1130-0535EB58D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9D847D-5342-0AA9-5318-76F190444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CBC9F-42E5-4D5A-8A28-98A9A669A27C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210817-6267-F9D6-0D4F-E2F89CE7D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2FDD55-979D-5ABE-9CC8-4FE5C0C94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4463A-C249-4D4E-B117-516B49937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620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27445-FEF7-3BE0-FFBE-723BCA1E0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EAC4E-DE4F-DAF8-E5E3-9523509CA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DFB382-9DC3-4248-1BEA-913C24842A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87D768-1379-AEC2-28AD-7CA20AA738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C993C8-11D2-3B8C-6784-62F0AE139B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B73D3F-21C8-934D-15EF-58686E974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CBC9F-42E5-4D5A-8A28-98A9A669A27C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3B4930-4971-CDCF-783D-28CD57F52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ABFB25-AD60-152E-647B-CBAA7DAF6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4463A-C249-4D4E-B117-516B49937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570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43A8D-C72D-20C9-8EB1-AD061ECB8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D05E7-11D5-8AD9-A0F8-D21FCA4DC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CBC9F-42E5-4D5A-8A28-98A9A669A27C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01416A-0A7E-01FB-814D-FAEE803A7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BC67BA-8C38-07F0-CD7A-853905F6D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4463A-C249-4D4E-B117-516B49937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689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1022C0-5CA7-EBE3-6862-95A4CA29D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CBC9F-42E5-4D5A-8A28-98A9A669A27C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A5A2F8-D4E8-BC7C-81B7-4E861868E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43DB5-47FA-F442-62AF-14FBEADE5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4463A-C249-4D4E-B117-516B49937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737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EC592-F25D-039F-84D8-9E26A54AF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577E0-FA99-3E6A-FE5D-E2AC2A7B6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096EA6-1F2B-A08B-E350-E0595CC23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9788C7-4512-80AD-49DB-B97C5055A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CBC9F-42E5-4D5A-8A28-98A9A669A27C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A2C93E-55CF-6104-ED14-BA64EE3E5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2DFCEC-FA0A-B83C-5D52-7AE1D2DD2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4463A-C249-4D4E-B117-516B49937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841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66A1B-5847-025E-D708-FCE9533B3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4E1C56-8F61-6CBF-62CE-46558F8B3D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EC0C80-7FBA-1DD0-36A5-B8CD14B7B6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5F3A4F-D63B-6E04-CDB4-C2CB39708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CBC9F-42E5-4D5A-8A28-98A9A669A27C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C270F-58A7-ACA4-B46C-64B4C599E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848845-BB35-4B24-365F-B3A93C20F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4463A-C249-4D4E-B117-516B49937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419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01D14-581D-CF48-25A0-52DE2D9F0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8535D7-599D-DB04-EBBF-9A59FAA530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DBB19-1ED6-EB04-9A79-EE28D102C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CBC9F-42E5-4D5A-8A28-98A9A669A27C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1361A-0F5E-5996-19BE-254794762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1257E-89EE-2A97-DA9D-6783308CE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4463A-C249-4D4E-B117-516B49937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682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11DD58-B742-3BED-E20D-A49256F8B5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B38AE7-57E5-E1AF-652C-4C54F6E0DD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05C0F-F848-7D04-D1BE-D07C44B54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CBC9F-42E5-4D5A-8A28-98A9A669A27C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56FBC-756C-7A82-65AE-A1A2D4995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74D95-835D-7198-DD29-1D39BA6A1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4463A-C249-4D4E-B117-516B49937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34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BF0F6E-3938-F902-E0C4-92A3920B7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E051CA-D4A1-76F0-C405-73283FF2B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840AF-7464-3DEA-C056-CAA1AD7D7D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7CBC9F-42E5-4D5A-8A28-98A9A669A27C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E8720-E6C3-4BE4-9E59-EF1045D8D4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BBCBF-3812-D6AD-DF6F-8AF9A0CE70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A4463A-C249-4D4E-B117-516B49937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182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B6C87-EEC3-A18A-5E33-18D7BDB66E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M" sz="8800" b="1" dirty="0">
                <a:solidFill>
                  <a:srgbClr val="C00000"/>
                </a:solidFill>
              </a:rPr>
              <a:t>ANGINA</a:t>
            </a:r>
            <a:endParaRPr lang="en-US" sz="8800" b="1" dirty="0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44F2F8-2E94-4B11-04AD-C21D918E5E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M" sz="3600" b="1" dirty="0">
                <a:solidFill>
                  <a:srgbClr val="002060"/>
                </a:solidFill>
              </a:rPr>
              <a:t>PREPARED AND PRESENTED</a:t>
            </a:r>
          </a:p>
          <a:p>
            <a:r>
              <a:rPr lang="en-GM" sz="3600" b="1" dirty="0">
                <a:solidFill>
                  <a:srgbClr val="002060"/>
                </a:solidFill>
              </a:rPr>
              <a:t>BY</a:t>
            </a:r>
          </a:p>
          <a:p>
            <a:r>
              <a:rPr lang="en-GM" sz="3600" b="1" dirty="0">
                <a:solidFill>
                  <a:srgbClr val="002060"/>
                </a:solidFill>
              </a:rPr>
              <a:t>MR. ALBERT MENDY</a:t>
            </a:r>
            <a:endParaRPr lang="en-US" sz="3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882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79EAB-B857-1754-5F15-BCB01E520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M" sz="6600" b="1" dirty="0">
                <a:solidFill>
                  <a:srgbClr val="C00000"/>
                </a:solidFill>
              </a:rPr>
              <a:t>INTRODUCTION</a:t>
            </a:r>
            <a:endParaRPr lang="en-US" sz="66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1739C-09B2-CDDE-874B-E70E7CC4C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M" sz="4000" dirty="0"/>
              <a:t>Angina is a type of chest pain caused by reduced blood flow to the heart. </a:t>
            </a:r>
            <a:r>
              <a:rPr lang="en-US" sz="4000" dirty="0"/>
              <a:t>A</a:t>
            </a:r>
            <a:r>
              <a:rPr lang="en-GM" sz="4000" dirty="0" err="1"/>
              <a:t>ngina</a:t>
            </a:r>
            <a:r>
              <a:rPr lang="en-GM" sz="4000" dirty="0"/>
              <a:t> is a symptom of coronary artery disease.</a:t>
            </a:r>
          </a:p>
          <a:p>
            <a:r>
              <a:rPr lang="en-US" sz="4000" dirty="0"/>
              <a:t>A</a:t>
            </a:r>
            <a:r>
              <a:rPr lang="en-GM" sz="4000" dirty="0" err="1"/>
              <a:t>ngina</a:t>
            </a:r>
            <a:r>
              <a:rPr lang="en-GM" sz="4000" dirty="0"/>
              <a:t> is also called angina pectoris. </a:t>
            </a:r>
            <a:r>
              <a:rPr lang="en-US" sz="4000" dirty="0"/>
              <a:t>I</a:t>
            </a:r>
            <a:r>
              <a:rPr lang="en-GM" sz="4000" dirty="0"/>
              <a:t>t is often described as squeezing, pressure heaviness, tightness or pain in the chest. </a:t>
            </a:r>
            <a:r>
              <a:rPr lang="en-US" sz="4000" dirty="0"/>
              <a:t>I</a:t>
            </a:r>
            <a:r>
              <a:rPr lang="en-GM" sz="4000" dirty="0"/>
              <a:t>t may feel like heavy weight laying on the chest. </a:t>
            </a:r>
          </a:p>
          <a:p>
            <a:r>
              <a:rPr lang="en-US" sz="4000" dirty="0"/>
              <a:t>T</a:t>
            </a:r>
            <a:r>
              <a:rPr lang="en-GM" sz="4000" dirty="0"/>
              <a:t>he pain with angina can be new or recurring pain that goes away with treatment.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671735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0AA75-FB4F-602E-FAEE-7F0A49F7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M" sz="6000" b="1" dirty="0">
                <a:solidFill>
                  <a:srgbClr val="C00000"/>
                </a:solidFill>
              </a:rPr>
              <a:t>SYMPTOMS</a:t>
            </a:r>
            <a:endParaRPr lang="en-US" sz="6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86E5A-827A-2CA0-BD0D-5A1B6D923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M" sz="3900" dirty="0"/>
              <a:t>The angina symptoms include chest pain and discomfort. </a:t>
            </a:r>
            <a:r>
              <a:rPr lang="en-US" sz="3900" dirty="0"/>
              <a:t>T</a:t>
            </a:r>
            <a:r>
              <a:rPr lang="en-GM" sz="3900" dirty="0"/>
              <a:t>he chest pain or discomfort may feel like:</a:t>
            </a:r>
          </a:p>
          <a:p>
            <a:r>
              <a:rPr lang="en-US" sz="3900" dirty="0"/>
              <a:t>H</a:t>
            </a:r>
            <a:r>
              <a:rPr lang="en-GM" sz="3900" dirty="0" err="1"/>
              <a:t>eart</a:t>
            </a:r>
            <a:r>
              <a:rPr lang="en-GM" sz="3900" dirty="0"/>
              <a:t> burn</a:t>
            </a:r>
          </a:p>
          <a:p>
            <a:r>
              <a:rPr lang="en-US" sz="3900" dirty="0"/>
              <a:t>A</a:t>
            </a:r>
            <a:r>
              <a:rPr lang="en-GM" sz="3900" dirty="0" err="1"/>
              <a:t>bdominal</a:t>
            </a:r>
            <a:r>
              <a:rPr lang="en-GM" sz="3900" dirty="0"/>
              <a:t>  fullness</a:t>
            </a:r>
          </a:p>
          <a:p>
            <a:r>
              <a:rPr lang="en-US" sz="3900" dirty="0"/>
              <a:t>P</a:t>
            </a:r>
            <a:r>
              <a:rPr lang="en-GM" sz="3900" dirty="0" err="1"/>
              <a:t>ressure</a:t>
            </a:r>
            <a:r>
              <a:rPr lang="en-GM" sz="3900" dirty="0"/>
              <a:t> on the chest</a:t>
            </a:r>
          </a:p>
          <a:p>
            <a:r>
              <a:rPr lang="en-US" sz="3900" dirty="0"/>
              <a:t>S</a:t>
            </a:r>
            <a:r>
              <a:rPr lang="en-GM" sz="3900" dirty="0" err="1"/>
              <a:t>queezing</a:t>
            </a:r>
            <a:endParaRPr lang="en-GM" sz="3900" dirty="0"/>
          </a:p>
          <a:p>
            <a:r>
              <a:rPr lang="en-US" sz="3900" dirty="0"/>
              <a:t>P</a:t>
            </a:r>
            <a:r>
              <a:rPr lang="en-GM" sz="3900" dirty="0" err="1"/>
              <a:t>ain</a:t>
            </a:r>
            <a:endParaRPr lang="en-GM" sz="3900" dirty="0"/>
          </a:p>
          <a:p>
            <a:r>
              <a:rPr lang="en-US" sz="3900" dirty="0"/>
              <a:t>D</a:t>
            </a:r>
            <a:r>
              <a:rPr lang="en-GM" sz="3900" dirty="0" err="1"/>
              <a:t>izziness</a:t>
            </a:r>
            <a:endParaRPr lang="en-GM" sz="3900" dirty="0"/>
          </a:p>
          <a:p>
            <a:r>
              <a:rPr lang="en-US" sz="3900" dirty="0"/>
              <a:t>F</a:t>
            </a:r>
            <a:r>
              <a:rPr lang="en-GM" sz="3900" dirty="0" err="1"/>
              <a:t>atigue</a:t>
            </a:r>
            <a:r>
              <a:rPr lang="en-GM" sz="3900" dirty="0"/>
              <a:t>, dyspnoea, nausea, and sweating.</a:t>
            </a:r>
          </a:p>
          <a:p>
            <a:endParaRPr lang="en-GM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856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01D70-AA5C-A4E0-405A-649A40587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M" sz="6000" b="1" dirty="0">
                <a:solidFill>
                  <a:srgbClr val="C00000"/>
                </a:solidFill>
              </a:rPr>
              <a:t>CUASES</a:t>
            </a:r>
            <a:endParaRPr lang="en-US" sz="6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322D7-7827-8668-AF0E-40EBE21CE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M" sz="4800" dirty="0"/>
              <a:t>Reduced blood flow to the heart muscle</a:t>
            </a:r>
          </a:p>
          <a:p>
            <a:r>
              <a:rPr lang="en-US" sz="4800" dirty="0"/>
              <a:t>P</a:t>
            </a:r>
            <a:r>
              <a:rPr lang="en-GM" sz="4800" dirty="0" err="1"/>
              <a:t>laques</a:t>
            </a:r>
            <a:r>
              <a:rPr lang="en-GM" sz="4800" dirty="0"/>
              <a:t> (atherosclerosis)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162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77C4B-3937-BB70-F9F0-96C19C668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M" sz="8000" b="1" dirty="0">
                <a:solidFill>
                  <a:srgbClr val="C00000"/>
                </a:solidFill>
              </a:rPr>
              <a:t>TYPES</a:t>
            </a:r>
            <a:endParaRPr lang="en-US" sz="8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D987B-257C-3824-CFB5-E0124D1B1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M" b="1" dirty="0">
                <a:solidFill>
                  <a:srgbClr val="002060"/>
                </a:solidFill>
              </a:rPr>
              <a:t>STABLE ANGINA: </a:t>
            </a:r>
            <a:r>
              <a:rPr lang="en-GM" dirty="0"/>
              <a:t>Stable angina is the most common form of angina. </a:t>
            </a:r>
            <a:r>
              <a:rPr lang="en-US" dirty="0"/>
              <a:t>I</a:t>
            </a:r>
            <a:r>
              <a:rPr lang="en-GM" dirty="0"/>
              <a:t>t usually happens during activity, also called exertion. </a:t>
            </a:r>
            <a:r>
              <a:rPr lang="en-US" dirty="0"/>
              <a:t>I</a:t>
            </a:r>
            <a:r>
              <a:rPr lang="en-GM" dirty="0"/>
              <a:t>t goes away with rest or medication.</a:t>
            </a:r>
          </a:p>
          <a:p>
            <a:r>
              <a:rPr lang="en-GM" b="1" dirty="0">
                <a:solidFill>
                  <a:srgbClr val="002060"/>
                </a:solidFill>
              </a:rPr>
              <a:t>UNSTABLE ANGINA: </a:t>
            </a:r>
            <a:r>
              <a:rPr lang="en-GM" dirty="0"/>
              <a:t>This type angina requires immediate medical intervention. Unstable angina is unpredictable and occurs at rest. </a:t>
            </a:r>
            <a:r>
              <a:rPr lang="en-US" dirty="0"/>
              <a:t>O</a:t>
            </a:r>
            <a:r>
              <a:rPr lang="en-GM" dirty="0"/>
              <a:t>r the pain is worsening and occurs with less physical activity. Unstable angina can last up to </a:t>
            </a:r>
            <a:r>
              <a:rPr lang="en-GM" b="1" dirty="0"/>
              <a:t>20</a:t>
            </a:r>
            <a:r>
              <a:rPr lang="en-GM" dirty="0"/>
              <a:t> minutes unlike stable angina which last for 5 minutes.</a:t>
            </a:r>
          </a:p>
          <a:p>
            <a:r>
              <a:rPr lang="en-GM" b="1" dirty="0">
                <a:solidFill>
                  <a:srgbClr val="002060"/>
                </a:solidFill>
              </a:rPr>
              <a:t>VARIANT ANGINA(PRINZMETAL ANGINA): </a:t>
            </a:r>
            <a:r>
              <a:rPr lang="en-GM" dirty="0"/>
              <a:t>This type of angina is not caused by </a:t>
            </a:r>
            <a:r>
              <a:rPr lang="en-GM" b="1" dirty="0"/>
              <a:t>CAD. </a:t>
            </a:r>
            <a:r>
              <a:rPr lang="en-GM" dirty="0"/>
              <a:t>It is usually caused by spasms in the heart arteries. </a:t>
            </a:r>
            <a:r>
              <a:rPr lang="en-US" dirty="0"/>
              <a:t>T</a:t>
            </a:r>
            <a:r>
              <a:rPr lang="en-GM" dirty="0"/>
              <a:t>his spasm temporarily reduces blood flow to the heart.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000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534BC-5CF8-C3FC-FEAD-6DECAC92C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M" sz="6600" b="1" dirty="0">
                <a:solidFill>
                  <a:srgbClr val="C00000"/>
                </a:solidFill>
              </a:rPr>
              <a:t>TYPES CONTS....</a:t>
            </a:r>
            <a:endParaRPr lang="en-US" sz="66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F0846-353A-A0FB-4CB8-8A071B1BF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M" sz="3600" b="1" dirty="0">
                <a:solidFill>
                  <a:srgbClr val="002060"/>
                </a:solidFill>
              </a:rPr>
              <a:t>REFRACTORY ANGINA: </a:t>
            </a:r>
            <a:r>
              <a:rPr lang="en-GM" sz="3600" dirty="0"/>
              <a:t>In this type of angina, the episodes are frequent despite a combination of medicines and lifestyle changes.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483744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F03F3-E5F9-0B4A-D4EB-F6FB24FF0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M" sz="5400" b="1" dirty="0">
                <a:solidFill>
                  <a:srgbClr val="C00000"/>
                </a:solidFill>
              </a:rPr>
              <a:t>RISK FACTORS</a:t>
            </a:r>
            <a:endParaRPr lang="en-US" sz="54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26352-D172-333A-8827-04D5DA0D8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M" sz="3900" dirty="0"/>
              <a:t>Increasing age</a:t>
            </a:r>
          </a:p>
          <a:p>
            <a:r>
              <a:rPr lang="en-US" sz="3900" dirty="0"/>
              <a:t>F</a:t>
            </a:r>
            <a:r>
              <a:rPr lang="en-GM" sz="3900" dirty="0" err="1"/>
              <a:t>amily</a:t>
            </a:r>
            <a:r>
              <a:rPr lang="en-GM" sz="3900" dirty="0"/>
              <a:t> history of heart disease</a:t>
            </a:r>
          </a:p>
          <a:p>
            <a:r>
              <a:rPr lang="en-US" sz="3900" dirty="0"/>
              <a:t>S</a:t>
            </a:r>
            <a:r>
              <a:rPr lang="en-GM" sz="3900" dirty="0" err="1"/>
              <a:t>moking</a:t>
            </a:r>
            <a:endParaRPr lang="en-GM" sz="3900" dirty="0"/>
          </a:p>
          <a:p>
            <a:r>
              <a:rPr lang="en-US" sz="3900" dirty="0"/>
              <a:t>D</a:t>
            </a:r>
            <a:r>
              <a:rPr lang="en-GM" sz="3900" dirty="0" err="1"/>
              <a:t>iabetes</a:t>
            </a:r>
            <a:endParaRPr lang="en-GM" sz="3900" dirty="0"/>
          </a:p>
          <a:p>
            <a:r>
              <a:rPr lang="en-US" sz="3900" dirty="0"/>
              <a:t>H</a:t>
            </a:r>
            <a:r>
              <a:rPr lang="en-GM" sz="3900" dirty="0" err="1"/>
              <a:t>igh</a:t>
            </a:r>
            <a:r>
              <a:rPr lang="en-GM" sz="3900" dirty="0"/>
              <a:t> blood pressure</a:t>
            </a:r>
          </a:p>
          <a:p>
            <a:r>
              <a:rPr lang="en-US" sz="3900" dirty="0"/>
              <a:t>H</a:t>
            </a:r>
            <a:r>
              <a:rPr lang="en-GM" sz="3900" dirty="0" err="1"/>
              <a:t>igh</a:t>
            </a:r>
            <a:r>
              <a:rPr lang="en-GM" sz="3900" dirty="0"/>
              <a:t> cholesterol </a:t>
            </a:r>
          </a:p>
          <a:p>
            <a:r>
              <a:rPr lang="en-US" sz="3900" dirty="0"/>
              <a:t>C</a:t>
            </a:r>
            <a:r>
              <a:rPr lang="en-GM" sz="3900" dirty="0" err="1"/>
              <a:t>hronic</a:t>
            </a:r>
            <a:r>
              <a:rPr lang="en-GM" sz="3900" dirty="0"/>
              <a:t> kidney disease</a:t>
            </a:r>
          </a:p>
          <a:p>
            <a:r>
              <a:rPr lang="en-US" sz="3900" dirty="0"/>
              <a:t>O</a:t>
            </a:r>
            <a:r>
              <a:rPr lang="en-GM" sz="3900" dirty="0" err="1"/>
              <a:t>besity</a:t>
            </a:r>
            <a:endParaRPr lang="en-GM" sz="3900" dirty="0"/>
          </a:p>
          <a:p>
            <a:r>
              <a:rPr lang="en-US" sz="3900" dirty="0"/>
              <a:t>E</a:t>
            </a:r>
            <a:r>
              <a:rPr lang="en-GM" sz="3900" dirty="0"/>
              <a:t>motional stress, drug misuse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017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06A4A-38E6-917D-4C51-9AC00C99E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M" sz="6600" b="1" dirty="0">
                <a:solidFill>
                  <a:srgbClr val="C00000"/>
                </a:solidFill>
              </a:rPr>
              <a:t>MEDICAL MANAGEMENT</a:t>
            </a:r>
            <a:endParaRPr lang="en-US" sz="66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90FFC-F7DE-36D4-44F7-5077F5BC1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M" sz="3600" b="1" dirty="0">
                <a:solidFill>
                  <a:srgbClr val="002060"/>
                </a:solidFill>
              </a:rPr>
              <a:t>NITRATES: </a:t>
            </a:r>
            <a:r>
              <a:rPr lang="en-GM" sz="3600" dirty="0" err="1"/>
              <a:t>eg</a:t>
            </a:r>
            <a:r>
              <a:rPr lang="en-GM" sz="3600" dirty="0"/>
              <a:t> </a:t>
            </a:r>
            <a:r>
              <a:rPr lang="en-GM" sz="3600" dirty="0" err="1"/>
              <a:t>nitroglycerin</a:t>
            </a:r>
            <a:r>
              <a:rPr lang="en-GM" sz="3600" dirty="0"/>
              <a:t> ( </a:t>
            </a:r>
            <a:r>
              <a:rPr lang="en-GM" sz="3600" dirty="0" err="1"/>
              <a:t>nitrostat</a:t>
            </a:r>
            <a:r>
              <a:rPr lang="en-GM" sz="3600" dirty="0"/>
              <a:t>) 2.5 mg </a:t>
            </a:r>
            <a:r>
              <a:rPr lang="en-GM" sz="3600" dirty="0" err="1"/>
              <a:t>qds</a:t>
            </a:r>
            <a:r>
              <a:rPr lang="en-GM" sz="3600" dirty="0"/>
              <a:t>/</a:t>
            </a:r>
            <a:r>
              <a:rPr lang="en-GM" sz="3600" dirty="0" err="1"/>
              <a:t>tds</a:t>
            </a:r>
            <a:r>
              <a:rPr lang="en-GM" sz="3600" dirty="0"/>
              <a:t> depending on the severity of the condition.</a:t>
            </a:r>
          </a:p>
          <a:p>
            <a:r>
              <a:rPr lang="en-GM" sz="3600" b="1" dirty="0">
                <a:solidFill>
                  <a:srgbClr val="002060"/>
                </a:solidFill>
              </a:rPr>
              <a:t>ISOSORBIDE DINITRATE: </a:t>
            </a:r>
            <a:r>
              <a:rPr lang="en-GM" sz="3600" dirty="0"/>
              <a:t>40mg initial dose BD but the dose can be reduce up to 10mg if the patient improves.</a:t>
            </a:r>
          </a:p>
          <a:p>
            <a:r>
              <a:rPr lang="en-GM" sz="3600" b="1" dirty="0">
                <a:solidFill>
                  <a:srgbClr val="002060"/>
                </a:solidFill>
              </a:rPr>
              <a:t>BETA BLOCKERS: </a:t>
            </a:r>
            <a:r>
              <a:rPr lang="en-GM" sz="3600" dirty="0" err="1"/>
              <a:t>eg</a:t>
            </a:r>
            <a:r>
              <a:rPr lang="en-GM" sz="3600" dirty="0"/>
              <a:t> Atenolol 50mg-100mg OD, Bisoprolol 2.5-5mg OD.........</a:t>
            </a:r>
          </a:p>
          <a:p>
            <a:r>
              <a:rPr lang="en-GM" sz="3600" b="1" dirty="0">
                <a:solidFill>
                  <a:srgbClr val="002060"/>
                </a:solidFill>
              </a:rPr>
              <a:t>CALCIUM CHANNEL BLOCKERS: </a:t>
            </a:r>
            <a:r>
              <a:rPr lang="en-GM" sz="3600" dirty="0" err="1"/>
              <a:t>eg</a:t>
            </a:r>
            <a:r>
              <a:rPr lang="en-GM" sz="3600" dirty="0"/>
              <a:t> </a:t>
            </a:r>
            <a:r>
              <a:rPr lang="en-GM" sz="3600" dirty="0" err="1"/>
              <a:t>Amlodipin</a:t>
            </a:r>
            <a:r>
              <a:rPr lang="en-GM" sz="3600" dirty="0"/>
              <a:t> 5-10mg OD, </a:t>
            </a:r>
            <a:r>
              <a:rPr lang="en-GM" sz="3600" dirty="0" err="1"/>
              <a:t>Nefidipine</a:t>
            </a:r>
            <a:r>
              <a:rPr lang="en-GM" sz="3600" dirty="0"/>
              <a:t> 10-20mg OD, </a:t>
            </a:r>
            <a:r>
              <a:rPr lang="en-GM" sz="3600" b="1" dirty="0">
                <a:solidFill>
                  <a:srgbClr val="002060"/>
                </a:solidFill>
              </a:rPr>
              <a:t>NICARDIPINE, FELODIPINE........</a:t>
            </a:r>
          </a:p>
          <a:p>
            <a:r>
              <a:rPr lang="en-GM" sz="3600" b="1" dirty="0">
                <a:solidFill>
                  <a:srgbClr val="002060"/>
                </a:solidFill>
              </a:rPr>
              <a:t>STATINES: </a:t>
            </a:r>
            <a:r>
              <a:rPr lang="en-GM" sz="3600" dirty="0" err="1"/>
              <a:t>eg</a:t>
            </a:r>
            <a:r>
              <a:rPr lang="en-GM" sz="3600" dirty="0"/>
              <a:t> simvastatin 50-100mg, </a:t>
            </a:r>
            <a:r>
              <a:rPr lang="en-GM" sz="3600" dirty="0" err="1"/>
              <a:t>Artovastatin</a:t>
            </a:r>
            <a:r>
              <a:rPr lang="en-GM" sz="3600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926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C8D97-3CE9-9E19-F03A-651F0B257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M" sz="5400" b="1" dirty="0">
                <a:solidFill>
                  <a:srgbClr val="C00000"/>
                </a:solidFill>
              </a:rPr>
              <a:t>MEDICAL MANAGEMENT CONTS....</a:t>
            </a:r>
            <a:endParaRPr lang="en-US" sz="54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94DB4-5FB5-EA6C-642C-31ED3F006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M" sz="4000" b="1" dirty="0">
                <a:solidFill>
                  <a:srgbClr val="002060"/>
                </a:solidFill>
              </a:rPr>
              <a:t>SURGERY</a:t>
            </a:r>
          </a:p>
          <a:p>
            <a:r>
              <a:rPr lang="en-GM" sz="3600" dirty="0"/>
              <a:t>This may be recommended if medications are not helping. </a:t>
            </a:r>
            <a:r>
              <a:rPr lang="en-US" sz="3600" dirty="0"/>
              <a:t>T</a:t>
            </a:r>
            <a:r>
              <a:rPr lang="en-GM" sz="3600" dirty="0"/>
              <a:t>he two main types of surgery are coronary bypass graft </a:t>
            </a:r>
            <a:r>
              <a:rPr lang="en-GM" sz="3600" b="1" dirty="0"/>
              <a:t>(CABG) </a:t>
            </a:r>
            <a:r>
              <a:rPr lang="en-GM" sz="3600" dirty="0"/>
              <a:t>and coronary angioplasty and stent insertion.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55909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EE7F4-208B-66F4-A119-4AC44071F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M" sz="7200" b="1" dirty="0">
                <a:solidFill>
                  <a:srgbClr val="C00000"/>
                </a:solidFill>
              </a:rPr>
              <a:t>NURSING MANAGEMENT</a:t>
            </a:r>
            <a:endParaRPr lang="en-US" sz="72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49084-DF71-5AF8-0BE4-E45C81BF9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258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3F403-2392-5B26-D8ED-B2F10266B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M" b="1" dirty="0">
                <a:solidFill>
                  <a:srgbClr val="C00000"/>
                </a:solidFill>
              </a:rPr>
              <a:t>PREVENTION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AB5A9-C057-B0BF-E5A1-C781FF35C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M" sz="4000" dirty="0"/>
              <a:t>Avoid alcohol intake</a:t>
            </a:r>
          </a:p>
          <a:p>
            <a:r>
              <a:rPr lang="en-US" sz="4000" dirty="0"/>
              <a:t>A</a:t>
            </a:r>
            <a:r>
              <a:rPr lang="en-GM" sz="4000" dirty="0"/>
              <a:t>void smoking</a:t>
            </a:r>
          </a:p>
          <a:p>
            <a:r>
              <a:rPr lang="en-US" sz="4000" dirty="0"/>
              <a:t>E</a:t>
            </a:r>
            <a:r>
              <a:rPr lang="en-GM" sz="4000" dirty="0"/>
              <a:t>at a healthy diet</a:t>
            </a:r>
          </a:p>
          <a:p>
            <a:r>
              <a:rPr lang="en-US" sz="4000" dirty="0"/>
              <a:t>R</a:t>
            </a:r>
            <a:r>
              <a:rPr lang="en-GM" sz="4000" dirty="0" err="1"/>
              <a:t>egular</a:t>
            </a:r>
            <a:r>
              <a:rPr lang="en-GM" sz="4000" dirty="0"/>
              <a:t> exercise</a:t>
            </a:r>
          </a:p>
          <a:p>
            <a:r>
              <a:rPr lang="en-US" sz="4000" dirty="0"/>
              <a:t>M</a:t>
            </a:r>
            <a:r>
              <a:rPr lang="en-GM" sz="4000" dirty="0" err="1"/>
              <a:t>aintain</a:t>
            </a:r>
            <a:r>
              <a:rPr lang="en-GM" sz="4000" dirty="0"/>
              <a:t> a healthy weight</a:t>
            </a:r>
          </a:p>
          <a:p>
            <a:r>
              <a:rPr lang="en-US" sz="4000" dirty="0"/>
              <a:t>R</a:t>
            </a:r>
            <a:r>
              <a:rPr lang="en-GM" sz="4000" dirty="0"/>
              <a:t>educe stress</a:t>
            </a:r>
          </a:p>
          <a:p>
            <a:r>
              <a:rPr lang="en-US" sz="4000" dirty="0"/>
              <a:t>G</a:t>
            </a:r>
            <a:r>
              <a:rPr lang="en-GM" sz="4000" dirty="0"/>
              <a:t>et 7-9 hours of sleep a day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292842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73B7E-56EE-80F6-64B3-8C0FE9817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M" sz="9600" b="1" dirty="0">
                <a:solidFill>
                  <a:srgbClr val="C00000"/>
                </a:solidFill>
              </a:rPr>
              <a:t>THE END</a:t>
            </a:r>
            <a:endParaRPr lang="en-US" sz="96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8BF87-FB9B-CE34-4F18-B8C532323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M" sz="4800" b="1" dirty="0">
                <a:solidFill>
                  <a:srgbClr val="002060"/>
                </a:solidFill>
              </a:rPr>
              <a:t>THANK YOU</a:t>
            </a:r>
          </a:p>
          <a:p>
            <a:r>
              <a:rPr lang="en-GM" sz="4800" b="1" dirty="0">
                <a:solidFill>
                  <a:srgbClr val="002060"/>
                </a:solidFill>
              </a:rPr>
              <a:t>ANY QUESTIONS!!!</a:t>
            </a:r>
            <a:endParaRPr lang="en-US" sz="4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999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486</Words>
  <Application>Microsoft Office PowerPoint</Application>
  <PresentationFormat>Widescreen</PresentationFormat>
  <Paragraphs>57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ANGINA</vt:lpstr>
      <vt:lpstr>INTRODUCTION</vt:lpstr>
      <vt:lpstr>SYMPTOMS</vt:lpstr>
      <vt:lpstr>CUASES</vt:lpstr>
      <vt:lpstr>TYPES</vt:lpstr>
      <vt:lpstr>TYPES CONTS....</vt:lpstr>
      <vt:lpstr>RISK FACTORS</vt:lpstr>
      <vt:lpstr>MEDICAL MANAGEMENT</vt:lpstr>
      <vt:lpstr>MEDICAL MANAGEMENT CONTS....</vt:lpstr>
      <vt:lpstr>NURSING MANAGEMENT</vt:lpstr>
      <vt:lpstr>PREVENTION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albertmendy710@gmail.com</dc:creator>
  <cp:lastModifiedBy>albertmendy710@gmail.com</cp:lastModifiedBy>
  <cp:revision>4</cp:revision>
  <dcterms:created xsi:type="dcterms:W3CDTF">2024-12-03T13:45:30Z</dcterms:created>
  <dcterms:modified xsi:type="dcterms:W3CDTF">2025-06-27T07:03:04Z</dcterms:modified>
</cp:coreProperties>
</file>