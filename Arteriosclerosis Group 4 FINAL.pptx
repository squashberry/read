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59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35957"/>
            <a:ext cx="82343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ARTERIOSCLEROSIS</a:t>
            </a:r>
            <a:r>
              <a:rPr lang="en-GB" dirty="0"/>
              <a:t> GROUP 4 MEDSURG ASSIGNMENT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52901" y="1044203"/>
            <a:ext cx="1078992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lang="en-GB" sz="2800" b="1" dirty="0"/>
              <a:t>GROUP MEMBERS </a:t>
            </a:r>
          </a:p>
          <a:p>
            <a:pPr>
              <a:spcAft>
                <a:spcPts val="800"/>
              </a:spcAft>
              <a:defRPr sz="2000"/>
            </a:pPr>
            <a:r>
              <a:rPr lang="en-GB" b="1" dirty="0"/>
              <a:t>NAMES                                                        GC NUMBERS</a:t>
            </a:r>
          </a:p>
          <a:p>
            <a:pPr>
              <a:spcAft>
                <a:spcPts val="800"/>
              </a:spcAft>
              <a:defRPr sz="2000"/>
            </a:pPr>
            <a:r>
              <a:rPr lang="en-GB" dirty="0"/>
              <a:t>FATIMA BAH                                                 2431109</a:t>
            </a:r>
          </a:p>
          <a:p>
            <a:pPr>
              <a:spcAft>
                <a:spcPts val="800"/>
              </a:spcAft>
              <a:defRPr sz="2000"/>
            </a:pPr>
            <a:r>
              <a:rPr lang="en-GB" dirty="0"/>
              <a:t>OUSMAN JAMMEH                                     2431039</a:t>
            </a:r>
          </a:p>
          <a:p>
            <a:pPr>
              <a:spcAft>
                <a:spcPts val="800"/>
              </a:spcAft>
              <a:defRPr sz="2000"/>
            </a:pPr>
            <a:r>
              <a:rPr lang="en-GB" dirty="0"/>
              <a:t>LAMIN CAMARA                                          2431155</a:t>
            </a:r>
          </a:p>
          <a:p>
            <a:pPr>
              <a:spcAft>
                <a:spcPts val="800"/>
              </a:spcAft>
              <a:defRPr sz="2000"/>
            </a:pPr>
            <a:r>
              <a:rPr lang="en-GB" dirty="0"/>
              <a:t>AMIE JALLOW                                              2431114</a:t>
            </a:r>
          </a:p>
          <a:p>
            <a:pPr>
              <a:spcAft>
                <a:spcPts val="800"/>
              </a:spcAft>
              <a:defRPr sz="2000"/>
            </a:pPr>
            <a:r>
              <a:rPr lang="en-GB" dirty="0"/>
              <a:t>DONNA NASALAN                                       2431148</a:t>
            </a:r>
          </a:p>
          <a:p>
            <a:pPr>
              <a:spcAft>
                <a:spcPts val="800"/>
              </a:spcAft>
              <a:defRPr sz="2000"/>
            </a:pPr>
            <a:r>
              <a:rPr lang="en-GB" dirty="0"/>
              <a:t>MBAYANG LAYE                                           2431157</a:t>
            </a:r>
          </a:p>
          <a:p>
            <a:pPr>
              <a:spcAft>
                <a:spcPts val="800"/>
              </a:spcAft>
              <a:defRPr sz="2000"/>
            </a:pPr>
            <a:r>
              <a:rPr lang="en-GB" dirty="0"/>
              <a:t>MARIAMA NJASSAN MANNEH                 2431156</a:t>
            </a:r>
          </a:p>
          <a:p>
            <a:pPr>
              <a:spcAft>
                <a:spcPts val="800"/>
              </a:spcAft>
              <a:defRPr sz="2000"/>
            </a:pPr>
            <a:r>
              <a:rPr lang="en-GB" dirty="0"/>
              <a:t>HAWA NYASSI                                              2431024</a:t>
            </a:r>
          </a:p>
          <a:p>
            <a:pPr>
              <a:spcAft>
                <a:spcPts val="800"/>
              </a:spcAft>
              <a:defRPr sz="2000"/>
            </a:pPr>
            <a:r>
              <a:rPr lang="en-GB" dirty="0"/>
              <a:t>ALAGIE MALICK SILLAH                             2431113</a:t>
            </a:r>
          </a:p>
          <a:p>
            <a:pPr>
              <a:spcAft>
                <a:spcPts val="800"/>
              </a:spcAft>
              <a:defRPr sz="2000"/>
            </a:pPr>
            <a:r>
              <a:rPr lang="en-GB" dirty="0"/>
              <a:t>MUHAMMAD SALMAN BAH                    2431154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20484" y="377321"/>
            <a:ext cx="29849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1. INTRODUCTION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484" y="1160423"/>
            <a:ext cx="10789920" cy="345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sz="2400" dirty="0"/>
              <a:t>Arteriosclerosis is characterized by thickening, hardening, and loss of elasticity of arterial walls.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It makes arteries stiff and can interfere with normal blood flow to organs and tissues.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Develops gradually and is more common with increasing age.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Risk factors such as hypertension, diabetes, high cholesterol, smoking, obesity, and physical inactivity can accelerate the process.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Complications may include coronary artery disease, heart attack, stroke, peripheral arterial disease, and kidney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sz="2400" dirty="0"/>
              <a:t>Arteriosclerosis is the thickening and hardening of the walls of arteries.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It causes arteries to become less elastic and makes it more difficult for blood to flow normally.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AETIOLOGY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23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Ageing – arteries naturally become less elastic with age.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Hypertension – prolonged high blood pressure damages arterial walls.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Diabetes mellitus – high blood glucose contributes to vascular damage.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Dyslipidemia/high LDL cholesterol – promotes fatty plaque formation.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Smoking – damages the arterial lining and promotes inflammation.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Obesity – increases cardiovascular risk.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Physical inactivity – contributes to cardiovascular risk.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Family history/genetic factors – may increase susceptibility.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Chronic inflammation and certain diseases – may contribute to arterial damage.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PATHOPHYSIOLOGY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720" y="960120"/>
            <a:ext cx="1078992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Normally, arteries are flexible and elastic, allowing them to expand and recoil as blood flows through them.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Ageing, hypertension, diabetes, and other factors cause changes in the arterial wall.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The wall becomes thicker, harder, and less elastic due to increased fibrous tissue and, in some forms, calcium deposition.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Stiff arteries cannot expand and recoil normally, interfering with blood flow and increasing vascular resistance.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Reduced blood flow decreases oxygen and nutrient delivery to tissues.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Prolonged reduction in blood supply can cause ischemia and eventually tissue or organ damage.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62081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5.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766" y="1134067"/>
            <a:ext cx="10789920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Atherosclerosis – buildup of fatty substances and cholesterol-containing plaques inside arteries, causing narrowing and reduced blood flow.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Arteriolosclerosis – thickening and narrowing of small arteries (arterioles), commonly associated with hypertension and diabetes mellitus.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 err="1"/>
              <a:t>Mönckeberg</a:t>
            </a:r>
            <a:r>
              <a:rPr sz="2400" dirty="0"/>
              <a:t> Medial Calcific Sclerosis – calcium deposits develop in the middle layer of muscular arteries, causing stiffness.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71167"/>
            <a:ext cx="41217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6. SIGNS AND SYMPTOMS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60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rPr sz="2400" dirty="0"/>
              <a:t>May have no symptoms in early stages; symptoms depend on the arteries affected.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Chest pain or angina when coronary arteries are affected.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Shortness of breath.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Fatigue or weakness.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Pain in the legs during walking (intermittent claudication).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Cold or numb hands and feet.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Weak or absent peripheral pulses.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Dizziness or confusion when blood flow to the brain is reduced.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Vision or speech problems and sudden weakness may occur when it contributes to a stroke.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7.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4576"/>
            <a:ext cx="10789920" cy="453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200" dirty="0"/>
              <a:t>History Taking – symptoms, hypertension, diabetes, high cholesterol, heart disease, smoking, diet, physical activity, and family history.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200" dirty="0"/>
              <a:t>Physical Examination – blood pressure, peripheral pulses, skin </a:t>
            </a:r>
            <a:r>
              <a:rPr sz="2200" dirty="0" err="1"/>
              <a:t>colour</a:t>
            </a:r>
            <a:r>
              <a:rPr sz="2200" dirty="0"/>
              <a:t> and temperature, signs of poor circulation, and arterial bruits.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200" dirty="0"/>
              <a:t>Blood Tests – lipid profile; blood glucose / HbA1</a:t>
            </a:r>
            <a:r>
              <a:rPr lang="en-GB" sz="2200" dirty="0"/>
              <a:t>c</a:t>
            </a:r>
            <a:r>
              <a:rPr lang="en-GM" sz="2200" dirty="0"/>
              <a:t>.</a:t>
            </a:r>
            <a:endParaRPr lang="en-GB" sz="2200" dirty="0"/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lang="en-GB" sz="2200" dirty="0"/>
              <a:t>Doppler Ultrasound – assesses blood flow and identifies narrowing or blockage.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200" dirty="0"/>
              <a:t>ECG – records electrical activity of the heart and may show associated heart problems.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200" dirty="0"/>
              <a:t>CT Angiography (CTA) – detailed images of blood vessels to identify narrowing or blockage.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200" dirty="0"/>
              <a:t>Magnetic Resonance Angiography (MRA) – uses MRI to visualize arteries and assess blood flow.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200" dirty="0"/>
              <a:t>Angiography – contrast dye and X-rays identify significant narrowing or blockage.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42904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8. MEDICAL</a:t>
            </a:r>
            <a:r>
              <a:rPr lang="en-GB" dirty="0"/>
              <a:t> </a:t>
            </a:r>
            <a:r>
              <a:rPr dirty="0"/>
              <a:t>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6365"/>
            <a:ext cx="107899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rPr sz="2400" dirty="0"/>
              <a:t>1. Lifestyle Modification: healthy balanced diet low in saturated fats and salt; regular physical activity; healthy weight; avoid smoking.</a:t>
            </a:r>
          </a:p>
          <a:p>
            <a:pPr>
              <a:spcAft>
                <a:spcPts val="800"/>
              </a:spcAft>
              <a:defRPr sz="1700"/>
            </a:pPr>
            <a:r>
              <a:rPr sz="2400" dirty="0"/>
              <a:t>2. Medications: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Cholesterol-lowering: Atorvastatin, Simvastatin, Ezetimibe.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Antiplatelet: Aspirin, Clopidogrel.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Antihypertensive: Amlodipine, Lisinopril.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700"/>
            </a:pPr>
            <a:r>
              <a:rPr sz="2400" dirty="0"/>
              <a:t>Antidiabetic: Metformin, Insulin.</a:t>
            </a:r>
          </a:p>
          <a:p>
            <a:pPr>
              <a:spcAft>
                <a:spcPts val="800"/>
              </a:spcAft>
              <a:defRPr sz="1700"/>
            </a:pPr>
            <a:r>
              <a:rPr sz="2400" dirty="0"/>
              <a:t>3. Surgical / Procedural Treatment: Angioplasty, stent placement, and bypass surgery may be required in severe narrowing or blockage.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3055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NURSING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040" y="1031064"/>
            <a:ext cx="1078992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sz="2400" dirty="0"/>
              <a:t>Monitor the patient: vital signs, pain, peripheral pulses, skin </a:t>
            </a:r>
            <a:r>
              <a:rPr sz="2400" dirty="0" err="1"/>
              <a:t>colour</a:t>
            </a:r>
            <a:r>
              <a:rPr sz="2400" dirty="0"/>
              <a:t>, and skin temperature.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Administer prescribed medications and monitor effects and possible side effects.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Promote healthy habits: healthy diet, appropriate physical activity, weight management, and smoking avoidance.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Patient education: explain the disease, medications, treatment adherence, and regular follow-up.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Monitor for complications: observe for reduced circulation and cardiovascular complications; report abnormalities promptly.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Provide psychological support: reassure the patient and encourage cooperation with treatment.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NURSING DIAGNOSES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56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Ineffective Peripheral Tissue Perfusion related to reduced arterial blood flow secondary to arterial narrowing, as evidenced by cold extremities, weak peripheral pulses, pallor, numbness, or pain.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Acute Pain related to inadequate tissue oxygenation secondary to reduced arterial circulation, as evidenced by pain, especially during activity.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Activity Intolerance related to an imbalance between oxygen supply and demand, as evidenced by fatigue, weakness, or pain during physical activity.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Deficient Knowledge related to inadequate information about the disease, medications, diet, exercise, and lifestyle modifications.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Risk for Impaired Skin Integrity related to decreased peripheral circulation and reduced tissue oxygenation.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4146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COMPLICATIONS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Coronary artery disease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Heart attack (myocardial infarction)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Stroke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Peripheral arterial disease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Reduced blood supply to organs and tissues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Kidney problems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Tissue ischemia and damage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11. DIFFERENTIAL DIAGNOSES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345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Vasculitis – inflammation of blood vessels that may cause narrowing or blockage.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Thromboembolism – a blood clot that blocks an artery and can cause reduced blood flow.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Peripheral arterial disease (PAD) – reduced blood flow to the limbs, commonly caused by atherosclerotic narrowing.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Fibromuscular dysplasia – abnormal growth of arterial wall tissue that can cause arterial narrowing, especially in renal or carotid arteries.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Aortic aneurysm – weakening and enlargement of an arterial wall.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35957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74833"/>
            <a:ext cx="10789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Lewis, S. L., et al. Medical-Surgical Nursing: Assessment and Management of Clinical Problems.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Brunner &amp; </a:t>
            </a:r>
            <a:r>
              <a:rPr sz="2400" dirty="0" err="1"/>
              <a:t>Suddarth</a:t>
            </a:r>
            <a:r>
              <a:rPr sz="2400" dirty="0"/>
              <a:t>. Textbook of Medical-Surgical Nursing.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World Health Organization (WHO). Cardiovascular Diseases.</a:t>
            </a:r>
          </a:p>
          <a:p>
            <a:pPr marL="342900" indent="-342900">
              <a:spcAft>
                <a:spcPts val="800"/>
              </a:spcAft>
              <a:buFont typeface="Courier New" panose="02070309020205020404" pitchFamily="49" charset="0"/>
              <a:buChar char="o"/>
              <a:defRPr sz="2000"/>
            </a:pPr>
            <a:r>
              <a:rPr sz="2400" dirty="0"/>
              <a:t>National Heart, Lung, and Blood Institute (NHLBI). Atherosclerosis.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1111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Mariama A Sarr</dc:creator>
  <cp:keywords/>
  <dc:description>generated using python-pptx</dc:description>
  <cp:lastModifiedBy>mariamsarr2323@outlook.com</cp:lastModifiedBy>
  <cp:revision>6</cp:revision>
  <dcterms:created xsi:type="dcterms:W3CDTF">2013-01-27T09:14:16Z</dcterms:created>
  <dcterms:modified xsi:type="dcterms:W3CDTF">2026-09-08T21:24:09Z</dcterms:modified>
  <cp:category/>
</cp:coreProperties>
</file>