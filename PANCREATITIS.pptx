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1" r:id="rId3"/>
    <p:sldId id="257" r:id="rId4"/>
    <p:sldId id="258" r:id="rId5"/>
    <p:sldId id="259" r:id="rId6"/>
    <p:sldId id="260" r:id="rId7"/>
    <p:sldId id="263" r:id="rId8"/>
    <p:sldId id="262" r:id="rId9"/>
    <p:sldId id="261"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5" d="100"/>
          <a:sy n="75" d="100"/>
        </p:scale>
        <p:origin x="10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ED40807-5D6F-4B04-B60A-55F450391C40}"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F95F4-9483-4B4C-B02B-A8F9B7D4E1B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D40807-5D6F-4B04-B60A-55F450391C40}"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F95F4-9483-4B4C-B02B-A8F9B7D4E1B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D40807-5D6F-4B04-B60A-55F450391C40}"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F95F4-9483-4B4C-B02B-A8F9B7D4E1B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D40807-5D6F-4B04-B60A-55F450391C40}"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F95F4-9483-4B4C-B02B-A8F9B7D4E1B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ED40807-5D6F-4B04-B60A-55F450391C40}"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2F95F4-9483-4B4C-B02B-A8F9B7D4E1B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D40807-5D6F-4B04-B60A-55F450391C40}"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2F95F4-9483-4B4C-B02B-A8F9B7D4E1B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40807-5D6F-4B04-B60A-55F450391C40}"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2F95F4-9483-4B4C-B02B-A8F9B7D4E1B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D40807-5D6F-4B04-B60A-55F450391C40}"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F95F4-9483-4B4C-B02B-A8F9B7D4E1B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D40807-5D6F-4B04-B60A-55F450391C40}"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F95F4-9483-4B4C-B02B-A8F9B7D4E1B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D40807-5D6F-4B04-B60A-55F450391C40}"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F95F4-9483-4B4C-B02B-A8F9B7D4E1B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D40807-5D6F-4B04-B60A-55F450391C40}"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F95F4-9483-4B4C-B02B-A8F9B7D4E1B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D40807-5D6F-4B04-B60A-55F450391C40}" type="datetimeFigureOut">
              <a:rPr lang="en-US" smtClean="0"/>
              <a:t>9/30/2026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2F95F4-9483-4B4C-B02B-A8F9B7D4E1B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7200" b="1" dirty="0">
                <a:solidFill>
                  <a:srgbClr val="FF0000"/>
                </a:solidFill>
              </a:rPr>
              <a:t>PANCREATITIS</a:t>
            </a:r>
            <a:endParaRPr lang="en-US" b="1" dirty="0">
              <a:solidFill>
                <a:srgbClr val="FF0000"/>
              </a:solidFill>
            </a:endParaRPr>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b="1">
                <a:solidFill>
                  <a:srgbClr val="FF0000"/>
                </a:solidFill>
              </a:rPr>
              <a:t>GROUP 9 MEMBERS</a:t>
            </a:r>
          </a:p>
        </p:txBody>
      </p:sp>
      <p:sp>
        <p:nvSpPr>
          <p:cNvPr id="3" name="Content Placeholder 2"/>
          <p:cNvSpPr>
            <a:spLocks noGrp="1"/>
          </p:cNvSpPr>
          <p:nvPr>
            <p:ph idx="1"/>
          </p:nvPr>
        </p:nvSpPr>
        <p:spPr/>
        <p:txBody>
          <a:bodyPr/>
          <a:lstStyle/>
          <a:p>
            <a:r>
              <a:rPr lang="en-US" b="1"/>
              <a:t>LAMIN JOOF GC# 2431040</a:t>
            </a:r>
          </a:p>
          <a:p>
            <a:r>
              <a:rPr lang="en-US" b="1"/>
              <a:t>ISATOU MANNEH GC#  2431117</a:t>
            </a:r>
          </a:p>
          <a:p>
            <a:r>
              <a:rPr lang="en-US" b="1"/>
              <a:t>SULAYMAN K SAIDY GC#2431060</a:t>
            </a:r>
          </a:p>
          <a:p>
            <a:r>
              <a:rPr lang="en-US" b="1"/>
              <a:t>AWA CHAM GC# 2431063</a:t>
            </a:r>
          </a:p>
          <a:p>
            <a:r>
              <a:rPr lang="en-US" b="1"/>
              <a:t>OUSMAN JOOF GC#2431047</a:t>
            </a:r>
          </a:p>
          <a:p>
            <a:r>
              <a:rPr lang="en-US" b="1"/>
              <a:t>FATOUMATA H GEREW GC# 2431095</a:t>
            </a:r>
          </a:p>
          <a:p>
            <a:r>
              <a:rPr lang="en-US" b="1"/>
              <a:t>OUSMAN JATTA GC# 2431041</a:t>
            </a:r>
          </a:p>
          <a:p>
            <a:r>
              <a:rPr lang="en-US" b="1"/>
              <a:t>FATOU TOURAY GC# 2431098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solidFill>
                  <a:srgbClr val="FF0000"/>
                </a:solidFill>
              </a:rPr>
              <a:t>TABLE OF CONTENT</a:t>
            </a:r>
          </a:p>
        </p:txBody>
      </p:sp>
      <p:sp>
        <p:nvSpPr>
          <p:cNvPr id="3" name="Content Placeholder 2"/>
          <p:cNvSpPr>
            <a:spLocks noGrp="1"/>
          </p:cNvSpPr>
          <p:nvPr>
            <p:ph idx="1"/>
          </p:nvPr>
        </p:nvSpPr>
        <p:spPr>
          <a:xfrm>
            <a:off x="838200" y="1499016"/>
            <a:ext cx="10515600" cy="4677947"/>
          </a:xfrm>
        </p:spPr>
        <p:txBody>
          <a:bodyPr>
            <a:normAutofit fontScale="85000" lnSpcReduction="20000"/>
          </a:bodyPr>
          <a:lstStyle/>
          <a:p>
            <a:r>
              <a:rPr lang="en-US" dirty="0"/>
              <a:t>INTRODUCTION</a:t>
            </a:r>
          </a:p>
          <a:p>
            <a:r>
              <a:rPr lang="en-US" dirty="0"/>
              <a:t>DEFINITION</a:t>
            </a:r>
          </a:p>
          <a:p>
            <a:r>
              <a:rPr lang="en-US" dirty="0"/>
              <a:t>AETIOLOGY</a:t>
            </a:r>
          </a:p>
          <a:p>
            <a:r>
              <a:rPr lang="en-US" dirty="0"/>
              <a:t>PATHOPYSIOLOGY</a:t>
            </a:r>
          </a:p>
          <a:p>
            <a:r>
              <a:rPr lang="en-US" dirty="0"/>
              <a:t>TYPES</a:t>
            </a:r>
          </a:p>
          <a:p>
            <a:r>
              <a:rPr lang="en-US" dirty="0"/>
              <a:t>SIGNS AND SYMPTOMS</a:t>
            </a:r>
          </a:p>
          <a:p>
            <a:r>
              <a:rPr lang="en-US" dirty="0"/>
              <a:t>INVESTIGATIONS</a:t>
            </a:r>
          </a:p>
          <a:p>
            <a:r>
              <a:rPr lang="en-US" dirty="0"/>
              <a:t>MEDICAL/NURSING MANAGEMENT</a:t>
            </a:r>
          </a:p>
          <a:p>
            <a:r>
              <a:rPr lang="en-US" dirty="0"/>
              <a:t>NURSING DIAGNOSIS</a:t>
            </a:r>
          </a:p>
          <a:p>
            <a:r>
              <a:rPr lang="en-US" dirty="0"/>
              <a:t>COMPLICATIONS</a:t>
            </a:r>
          </a:p>
          <a:p>
            <a:r>
              <a:rPr lang="en-US" dirty="0"/>
              <a:t>DIFFERENTIALS DIAGNOSIS</a:t>
            </a:r>
          </a:p>
          <a:p>
            <a:r>
              <a:rPr lang="en-US" dirty="0"/>
              <a:t>REFRENCES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b="1" dirty="0">
                <a:solidFill>
                  <a:srgbClr val="FF0000"/>
                </a:solidFill>
              </a:rPr>
              <a:t>INTRODUCTION</a:t>
            </a:r>
            <a:endParaRPr lang="en-US" b="1" dirty="0">
              <a:solidFill>
                <a:srgbClr val="FF0000"/>
              </a:solidFill>
            </a:endParaRPr>
          </a:p>
        </p:txBody>
      </p:sp>
      <p:sp>
        <p:nvSpPr>
          <p:cNvPr id="3" name="Content Placeholder 2"/>
          <p:cNvSpPr>
            <a:spLocks noGrp="1"/>
          </p:cNvSpPr>
          <p:nvPr>
            <p:ph idx="1"/>
          </p:nvPr>
        </p:nvSpPr>
        <p:spPr/>
        <p:txBody>
          <a:bodyPr/>
          <a:lstStyle/>
          <a:p>
            <a:r>
              <a:rPr lang="en-US" dirty="0"/>
              <a:t>This is an  inflammatory process of pancreas and its caused by an inciting event which damages the pancreatic parenchyma, leading to a chain reaction </a:t>
            </a:r>
          </a:p>
          <a:p>
            <a:r>
              <a:rPr lang="en-US" dirty="0"/>
              <a:t>  Pancreatic injury causes enzymes to leak into pancreas resulting in autodigestion  leading to more injury and enzyme leakage</a:t>
            </a:r>
          </a:p>
          <a:p>
            <a:r>
              <a:rPr lang="en-US" dirty="0"/>
              <a:t> This positive feedback cycle causes significant pancreatic edema and fat necrosis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000" b="1" dirty="0">
                <a:solidFill>
                  <a:srgbClr val="FF0000"/>
                </a:solidFill>
              </a:rPr>
              <a:t>DEFINITION</a:t>
            </a:r>
            <a:endParaRPr lang="en-US" b="1" dirty="0">
              <a:solidFill>
                <a:srgbClr val="FF0000"/>
              </a:solidFill>
            </a:endParaRPr>
          </a:p>
        </p:txBody>
      </p:sp>
      <p:sp>
        <p:nvSpPr>
          <p:cNvPr id="3" name="Content Placeholder 2"/>
          <p:cNvSpPr>
            <a:spLocks noGrp="1"/>
          </p:cNvSpPr>
          <p:nvPr>
            <p:ph idx="1"/>
          </p:nvPr>
        </p:nvSpPr>
        <p:spPr>
          <a:xfrm>
            <a:off x="838200" y="1825625"/>
            <a:ext cx="10515600" cy="4035529"/>
          </a:xfrm>
        </p:spPr>
        <p:txBody>
          <a:bodyPr/>
          <a:lstStyle/>
          <a:p>
            <a:r>
              <a:rPr lang="en-US" dirty="0"/>
              <a:t>Pancreatitis is inflammation of the pancreas that occurs when pancreatic digestive enzymes become activated prematurely and begin damaging the pancreatic tissue.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4006" y="365125"/>
            <a:ext cx="9839793" cy="1325563"/>
          </a:xfrm>
        </p:spPr>
        <p:txBody>
          <a:bodyPr/>
          <a:lstStyle/>
          <a:p>
            <a:r>
              <a:rPr lang="en-US" sz="5400" b="1" dirty="0">
                <a:solidFill>
                  <a:srgbClr val="FF0000"/>
                </a:solidFill>
              </a:rPr>
              <a:t>AETIOLOGY</a:t>
            </a:r>
            <a:endParaRPr lang="en-US" b="1" dirty="0">
              <a:solidFill>
                <a:srgbClr val="FF0000"/>
              </a:solidFill>
            </a:endParaRPr>
          </a:p>
        </p:txBody>
      </p:sp>
      <p:sp>
        <p:nvSpPr>
          <p:cNvPr id="3" name="Content Placeholder 2"/>
          <p:cNvSpPr>
            <a:spLocks noGrp="1"/>
          </p:cNvSpPr>
          <p:nvPr>
            <p:ph idx="1"/>
          </p:nvPr>
        </p:nvSpPr>
        <p:spPr>
          <a:xfrm>
            <a:off x="838200" y="1690688"/>
            <a:ext cx="10515600" cy="4802187"/>
          </a:xfrm>
        </p:spPr>
        <p:txBody>
          <a:bodyPr>
            <a:normAutofit fontScale="92500" lnSpcReduction="20000"/>
          </a:bodyPr>
          <a:lstStyle/>
          <a:p>
            <a:r>
              <a:rPr lang="en-US" sz="3500" b="1" dirty="0"/>
              <a:t>The two major causes are</a:t>
            </a:r>
            <a:r>
              <a:rPr lang="en-US" b="1" dirty="0"/>
              <a:t>:</a:t>
            </a:r>
          </a:p>
          <a:p>
            <a:r>
              <a:rPr lang="en-US" dirty="0"/>
              <a:t> Gallstones</a:t>
            </a:r>
          </a:p>
          <a:p>
            <a:r>
              <a:rPr lang="en-US" dirty="0"/>
              <a:t> Excessive alcohol use</a:t>
            </a:r>
          </a:p>
          <a:p>
            <a:r>
              <a:rPr lang="en-US" sz="3500" b="1" dirty="0"/>
              <a:t>Other causes include</a:t>
            </a:r>
            <a:r>
              <a:rPr lang="en-US" dirty="0"/>
              <a:t>:</a:t>
            </a:r>
          </a:p>
          <a:p>
            <a:r>
              <a:rPr lang="en-US" dirty="0"/>
              <a:t> Certain medications (especial sulfa group of drugs)</a:t>
            </a:r>
          </a:p>
          <a:p>
            <a:r>
              <a:rPr lang="en-US" dirty="0"/>
              <a:t>Abdominal trauma</a:t>
            </a:r>
          </a:p>
          <a:p>
            <a:r>
              <a:rPr lang="en-US" dirty="0"/>
              <a:t> High triglyceride levels </a:t>
            </a:r>
          </a:p>
          <a:p>
            <a:r>
              <a:rPr lang="en-US" dirty="0"/>
              <a:t>Hypercalcemia</a:t>
            </a:r>
          </a:p>
          <a:p>
            <a:r>
              <a:rPr lang="en-US" dirty="0"/>
              <a:t>Some infections like Mumps </a:t>
            </a:r>
          </a:p>
          <a:p>
            <a:r>
              <a:rPr lang="en-US" dirty="0"/>
              <a:t> Certain medical procedures Like ERCP(Endoscopic Retrograde Cholangiopancreatography)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solidFill>
                  <a:srgbClr val="FF0000"/>
                </a:solidFill>
              </a:rPr>
              <a:t>THE PANCREASE</a:t>
            </a:r>
          </a:p>
        </p:txBody>
      </p:sp>
      <p:pic>
        <p:nvPicPr>
          <p:cNvPr id="13" name="Content Placeholder 12"/>
          <p:cNvPicPr>
            <a:picLocks noGrp="1" noChangeAspect="1"/>
          </p:cNvPicPr>
          <p:nvPr>
            <p:ph idx="1"/>
          </p:nvPr>
        </p:nvPicPr>
        <p:blipFill>
          <a:blip r:embed="rId2"/>
          <a:stretch>
            <a:fillRect/>
          </a:stretch>
        </p:blipFill>
        <p:spPr>
          <a:xfrm>
            <a:off x="3233278" y="1825625"/>
            <a:ext cx="5725444" cy="43513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365124"/>
            <a:ext cx="10515600" cy="1325563"/>
          </a:xfrm>
        </p:spPr>
        <p:txBody>
          <a:bodyPr/>
          <a:lstStyle/>
          <a:p>
            <a:r>
              <a:rPr lang="en-US" sz="5400" b="1" dirty="0">
                <a:solidFill>
                  <a:srgbClr val="FF0000"/>
                </a:solidFill>
              </a:rPr>
              <a:t>PATHOPHYSIOLOGY</a:t>
            </a:r>
            <a:endParaRPr lang="en-US" b="1" dirty="0">
              <a:solidFill>
                <a:srgbClr val="FF0000"/>
              </a:solidFill>
            </a:endParaRPr>
          </a:p>
        </p:txBody>
      </p:sp>
      <p:sp>
        <p:nvSpPr>
          <p:cNvPr id="8" name="TextBox 7"/>
          <p:cNvSpPr txBox="1"/>
          <p:nvPr/>
        </p:nvSpPr>
        <p:spPr>
          <a:xfrm>
            <a:off x="5920154" y="2602523"/>
            <a:ext cx="3118338" cy="369332"/>
          </a:xfrm>
          <a:prstGeom prst="rect">
            <a:avLst/>
          </a:prstGeom>
          <a:noFill/>
        </p:spPr>
        <p:txBody>
          <a:bodyPr wrap="square" rtlCol="0">
            <a:spAutoFit/>
          </a:bodyPr>
          <a:lstStyle/>
          <a:p>
            <a:endParaRPr lang="en-US" dirty="0"/>
          </a:p>
        </p:txBody>
      </p:sp>
      <p:sp>
        <p:nvSpPr>
          <p:cNvPr id="12" name="Content Placeholder 11"/>
          <p:cNvSpPr>
            <a:spLocks noGrp="1"/>
          </p:cNvSpPr>
          <p:nvPr>
            <p:ph idx="1"/>
          </p:nvPr>
        </p:nvSpPr>
        <p:spPr>
          <a:xfrm>
            <a:off x="838200" y="1543988"/>
            <a:ext cx="10515600" cy="4948888"/>
          </a:xfrm>
        </p:spPr>
        <p:txBody>
          <a:bodyPr>
            <a:normAutofit fontScale="47500" lnSpcReduction="20000"/>
          </a:bodyPr>
          <a:lstStyle/>
          <a:p>
            <a:pPr marL="514350" indent="-514350">
              <a:buAutoNum type="arabicPeriod"/>
            </a:pPr>
            <a:r>
              <a:rPr lang="en-US" sz="3300" b="1" dirty="0"/>
              <a:t>Initiating factors</a:t>
            </a:r>
          </a:p>
          <a:p>
            <a:pPr marL="0" indent="0">
              <a:buNone/>
            </a:pPr>
            <a:r>
              <a:rPr lang="en-US" sz="3300" b="1" dirty="0"/>
              <a:t> </a:t>
            </a:r>
            <a:r>
              <a:rPr lang="en-US" dirty="0"/>
              <a:t>Gallstones (most common) and/or alcohol abuse are the main causes. Other causes: hypertriglyceridemia, drugs, trauma, infections, hypercalcemia, tumors, ERCP.</a:t>
            </a:r>
          </a:p>
          <a:p>
            <a:pPr marL="0" indent="0">
              <a:buNone/>
            </a:pPr>
            <a:endParaRPr lang="en-US" dirty="0"/>
          </a:p>
          <a:p>
            <a:pPr marL="0" indent="0">
              <a:buNone/>
            </a:pPr>
            <a:r>
              <a:rPr lang="en-US" b="1" dirty="0"/>
              <a:t>2</a:t>
            </a:r>
            <a:r>
              <a:rPr lang="en-US" dirty="0"/>
              <a:t>. </a:t>
            </a:r>
            <a:r>
              <a:rPr lang="en-US" sz="3300" b="1" dirty="0"/>
              <a:t>Ductal obstruction or toxic injury</a:t>
            </a:r>
          </a:p>
          <a:p>
            <a:pPr marL="0" indent="0">
              <a:buNone/>
            </a:pPr>
            <a:r>
              <a:rPr lang="en-US" sz="3300" b="1" dirty="0"/>
              <a:t> </a:t>
            </a:r>
            <a:r>
              <a:rPr lang="en-US" dirty="0"/>
              <a:t>Gallstone blocks the ampulla of Vater → obstruction of pancreatic duct. Alcohol and other toxins cause direct injury to acinar cells and increase protein plugs in small ducts.</a:t>
            </a:r>
          </a:p>
          <a:p>
            <a:pPr marL="0" indent="0">
              <a:buNone/>
            </a:pPr>
            <a:endParaRPr lang="en-US" dirty="0"/>
          </a:p>
          <a:p>
            <a:pPr marL="0" indent="0">
              <a:buNone/>
            </a:pPr>
            <a:r>
              <a:rPr lang="en-US" sz="3100" b="1" dirty="0"/>
              <a:t>3. Premature activation of digestive enzymes</a:t>
            </a:r>
          </a:p>
          <a:p>
            <a:pPr marL="0" indent="0">
              <a:buNone/>
            </a:pPr>
            <a:r>
              <a:rPr lang="en-US" sz="3100" b="1" dirty="0"/>
              <a:t> </a:t>
            </a:r>
            <a:r>
              <a:rPr lang="en-US" dirty="0"/>
              <a:t>Inside the acinar cells, trypsinogen is prematurely converted to trypsin (instead of in the duodenum).Trypsin then activates other zymogens → phospholipase A2, elastase, lipase, amylase.</a:t>
            </a:r>
          </a:p>
          <a:p>
            <a:pPr marL="0" indent="0">
              <a:buNone/>
            </a:pPr>
            <a:r>
              <a:rPr lang="en-US" dirty="0"/>
              <a:t>		</a:t>
            </a:r>
          </a:p>
          <a:p>
            <a:pPr marL="0" indent="0">
              <a:buNone/>
            </a:pPr>
            <a:r>
              <a:rPr lang="en-US" sz="3400" b="1" dirty="0"/>
              <a:t>4. Autodigestion of the pancreas </a:t>
            </a:r>
          </a:p>
          <a:p>
            <a:pPr marL="0" indent="0">
              <a:buNone/>
            </a:pPr>
            <a:r>
              <a:rPr lang="en-US" dirty="0"/>
              <a:t>Activated enzymes digest pancreatic tissue → inflammation, edema, and necrosis. Phospholipase Az damages cell membranes and blood vessels. Elastase destroys connective tissue; lipase causes fat necrosis.</a:t>
            </a:r>
          </a:p>
          <a:p>
            <a:pPr marL="0" indent="0">
              <a:buNone/>
            </a:pPr>
            <a:endParaRPr lang="en-US" dirty="0"/>
          </a:p>
          <a:p>
            <a:pPr marL="0" indent="0">
              <a:buNone/>
            </a:pPr>
            <a:r>
              <a:rPr lang="en-US" sz="3400" b="1" dirty="0"/>
              <a:t>5. Inflammatory response</a:t>
            </a:r>
          </a:p>
          <a:p>
            <a:pPr marL="0" indent="0">
              <a:buNone/>
            </a:pPr>
            <a:r>
              <a:rPr lang="en-US" sz="3400" b="1" dirty="0"/>
              <a:t> </a:t>
            </a:r>
            <a:r>
              <a:rPr lang="en-US" dirty="0"/>
              <a:t>Release of cytokines (IL-1, IL-6, TNF-a) → systemic inflammatory response syndrome (SIRS).Increased vascular permeability → fluid shifts, third spacing, and hypovolemia</a:t>
            </a:r>
          </a:p>
        </p:txBody>
      </p:sp>
      <p:sp>
        <p:nvSpPr>
          <p:cNvPr id="14" name="Arrow: Down 13"/>
          <p:cNvSpPr/>
          <p:nvPr/>
        </p:nvSpPr>
        <p:spPr>
          <a:xfrm>
            <a:off x="2933700" y="2349500"/>
            <a:ext cx="152400" cy="253023"/>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Arrow: Down 15"/>
          <p:cNvSpPr/>
          <p:nvPr/>
        </p:nvSpPr>
        <p:spPr>
          <a:xfrm>
            <a:off x="2933700" y="3261336"/>
            <a:ext cx="152400" cy="253023"/>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8" name="Arrow: Down 17"/>
          <p:cNvSpPr/>
          <p:nvPr/>
        </p:nvSpPr>
        <p:spPr>
          <a:xfrm>
            <a:off x="2933700" y="4314581"/>
            <a:ext cx="152400" cy="253023"/>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Arrow: Down 19"/>
          <p:cNvSpPr/>
          <p:nvPr/>
        </p:nvSpPr>
        <p:spPr>
          <a:xfrm>
            <a:off x="2933700" y="5187500"/>
            <a:ext cx="152400" cy="253023"/>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8900" y="159266"/>
            <a:ext cx="10617200" cy="1325563"/>
          </a:xfrm>
        </p:spPr>
        <p:txBody>
          <a:bodyPr/>
          <a:lstStyle/>
          <a:p>
            <a:r>
              <a:rPr lang="en-US" sz="5400" b="1" dirty="0">
                <a:solidFill>
                  <a:srgbClr val="FF0000"/>
                </a:solidFill>
              </a:rPr>
              <a:t>TYPES</a:t>
            </a:r>
            <a:endParaRPr lang="en-US" b="1" dirty="0">
              <a:solidFill>
                <a:srgbClr val="FF0000"/>
              </a:solidFill>
            </a:endParaRPr>
          </a:p>
        </p:txBody>
      </p:sp>
      <p:sp>
        <p:nvSpPr>
          <p:cNvPr id="10" name="Content Placeholder 9"/>
          <p:cNvSpPr>
            <a:spLocks noGrp="1"/>
          </p:cNvSpPr>
          <p:nvPr>
            <p:ph idx="1"/>
          </p:nvPr>
        </p:nvSpPr>
        <p:spPr>
          <a:xfrm>
            <a:off x="838200" y="1825625"/>
            <a:ext cx="10515600" cy="4667250"/>
          </a:xfrm>
        </p:spPr>
        <p:txBody>
          <a:bodyPr>
            <a:normAutofit/>
          </a:bodyPr>
          <a:lstStyle/>
          <a:p>
            <a:pPr marL="0" indent="0">
              <a:buNone/>
            </a:pPr>
            <a:r>
              <a:rPr lang="en-US" sz="3100" b="1" dirty="0"/>
              <a:t>1. Acute Pancreatitis</a:t>
            </a:r>
          </a:p>
          <a:p>
            <a:pPr marL="0" indent="0">
              <a:buNone/>
            </a:pPr>
            <a:r>
              <a:rPr lang="en-US" dirty="0"/>
              <a:t>Acute pancreatitis is a sudden and rapid swelling of the pancreas. It usually lasts for a short time. Most people get better within a few days, but severe cases can be dangerous</a:t>
            </a:r>
            <a:r>
              <a:rPr lang="en-US" dirty="0" smtClean="0"/>
              <a:t>. </a:t>
            </a:r>
            <a:endParaRPr lang="en-US" dirty="0"/>
          </a:p>
          <a:p>
            <a:pPr marL="0" indent="0">
              <a:buNone/>
            </a:pPr>
            <a:r>
              <a:rPr lang="en-US" sz="3100" b="1" dirty="0"/>
              <a:t>2</a:t>
            </a:r>
            <a:r>
              <a:rPr lang="en-US" sz="3100" b="1" smtClean="0"/>
              <a:t>. </a:t>
            </a:r>
            <a:r>
              <a:rPr lang="en-US" sz="3100" b="1" dirty="0"/>
              <a:t>Chronic Pancreatitis</a:t>
            </a:r>
          </a:p>
          <a:p>
            <a:pPr marL="0" indent="0">
              <a:buNone/>
            </a:pPr>
            <a:r>
              <a:rPr lang="en-US" dirty="0"/>
              <a:t>Chronic pancreatitis is a long-term inflammation that gets worse over time. It creates permanent scar tissue in the organ. This damage stops the pancreas from making enough digestive enzymes and hormones, leading to weight loss or diabetes.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1100" y="365125"/>
            <a:ext cx="10515600" cy="1325563"/>
          </a:xfrm>
        </p:spPr>
        <p:txBody>
          <a:bodyPr>
            <a:normAutofit/>
          </a:bodyPr>
          <a:lstStyle/>
          <a:p>
            <a:r>
              <a:rPr lang="en-US" sz="5400" b="1" dirty="0">
                <a:solidFill>
                  <a:srgbClr val="FF0000"/>
                </a:solidFill>
              </a:rPr>
              <a:t>SIGNS AND SYMPTOMS</a:t>
            </a:r>
          </a:p>
        </p:txBody>
      </p:sp>
      <p:sp>
        <p:nvSpPr>
          <p:cNvPr id="3" name="Content Placeholder 2"/>
          <p:cNvSpPr>
            <a:spLocks noGrp="1"/>
          </p:cNvSpPr>
          <p:nvPr>
            <p:ph idx="1"/>
          </p:nvPr>
        </p:nvSpPr>
        <p:spPr/>
        <p:txBody>
          <a:bodyPr>
            <a:normAutofit lnSpcReduction="10000"/>
          </a:bodyPr>
          <a:lstStyle/>
          <a:p>
            <a:r>
              <a:rPr lang="en-US" dirty="0"/>
              <a:t> Severe upper abdominal (epigastric) pain</a:t>
            </a:r>
          </a:p>
          <a:p>
            <a:r>
              <a:rPr lang="en-US" dirty="0"/>
              <a:t> Pain may radiate to the back</a:t>
            </a:r>
          </a:p>
          <a:p>
            <a:r>
              <a:rPr lang="en-US" dirty="0"/>
              <a:t> Nausea and vomiting</a:t>
            </a:r>
          </a:p>
          <a:p>
            <a:r>
              <a:rPr lang="en-US" dirty="0"/>
              <a:t> Abdominal tenderness</a:t>
            </a:r>
          </a:p>
          <a:p>
            <a:r>
              <a:rPr lang="en-US" dirty="0"/>
              <a:t> Fever</a:t>
            </a:r>
          </a:p>
          <a:p>
            <a:r>
              <a:rPr lang="en-US" dirty="0"/>
              <a:t> Tachycardia</a:t>
            </a:r>
          </a:p>
          <a:p>
            <a:r>
              <a:rPr lang="en-US" dirty="0"/>
              <a:t> Abdominal distension</a:t>
            </a:r>
          </a:p>
          <a:p>
            <a:r>
              <a:rPr lang="en-US" dirty="0"/>
              <a:t> Reduced bowel sounds</a:t>
            </a:r>
          </a:p>
          <a:p>
            <a:r>
              <a:rPr lang="en-US" dirty="0"/>
              <a:t> weight loss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b="1" dirty="0">
                <a:solidFill>
                  <a:srgbClr val="FF0000"/>
                </a:solidFill>
              </a:rPr>
              <a:t>INVESTIGATIONS</a:t>
            </a:r>
            <a:endParaRPr lang="en-US" b="1" dirty="0">
              <a:solidFill>
                <a:srgbClr val="FF0000"/>
              </a:solidFill>
            </a:endParaRPr>
          </a:p>
        </p:txBody>
      </p:sp>
      <p:sp>
        <p:nvSpPr>
          <p:cNvPr id="3" name="Content Placeholder 2"/>
          <p:cNvSpPr>
            <a:spLocks noGrp="1"/>
          </p:cNvSpPr>
          <p:nvPr>
            <p:ph idx="1"/>
          </p:nvPr>
        </p:nvSpPr>
        <p:spPr/>
        <p:txBody>
          <a:bodyPr>
            <a:normAutofit/>
          </a:bodyPr>
          <a:lstStyle/>
          <a:p>
            <a:r>
              <a:rPr lang="en-US" b="1" dirty="0"/>
              <a:t>Important investigations include</a:t>
            </a:r>
            <a:r>
              <a:rPr lang="en-US" dirty="0"/>
              <a:t>:</a:t>
            </a:r>
          </a:p>
          <a:p>
            <a:r>
              <a:rPr lang="en-US" dirty="0"/>
              <a:t> Serum lipase</a:t>
            </a:r>
          </a:p>
          <a:p>
            <a:r>
              <a:rPr lang="en-US" dirty="0"/>
              <a:t>Serum amylase</a:t>
            </a:r>
          </a:p>
          <a:p>
            <a:r>
              <a:rPr lang="en-US" dirty="0"/>
              <a:t> Full blood count</a:t>
            </a:r>
          </a:p>
          <a:p>
            <a:r>
              <a:rPr lang="en-US" dirty="0"/>
              <a:t> Electrolytes</a:t>
            </a:r>
          </a:p>
          <a:p>
            <a:r>
              <a:rPr lang="en-US" dirty="0"/>
              <a:t> Liver function tests</a:t>
            </a:r>
          </a:p>
          <a:p>
            <a:r>
              <a:rPr lang="en-US" dirty="0"/>
              <a:t> Abdominal ultrasound</a:t>
            </a:r>
          </a:p>
          <a:p>
            <a:r>
              <a:rPr lang="en-US" dirty="0"/>
              <a:t> CT scan when indicated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solidFill>
                  <a:srgbClr val="FF0000"/>
                </a:solidFill>
              </a:rPr>
              <a:t>NURSING MANAGEMENT</a:t>
            </a:r>
          </a:p>
        </p:txBody>
      </p:sp>
      <p:sp>
        <p:nvSpPr>
          <p:cNvPr id="3" name="Content Placeholder 2"/>
          <p:cNvSpPr>
            <a:spLocks noGrp="1"/>
          </p:cNvSpPr>
          <p:nvPr>
            <p:ph idx="1"/>
          </p:nvPr>
        </p:nvSpPr>
        <p:spPr/>
        <p:txBody>
          <a:bodyPr>
            <a:normAutofit fontScale="92500" lnSpcReduction="20000"/>
          </a:bodyPr>
          <a:lstStyle/>
          <a:p>
            <a:r>
              <a:rPr lang="en-US" dirty="0"/>
              <a:t> Monitor vital signs closely.</a:t>
            </a:r>
          </a:p>
          <a:p>
            <a:r>
              <a:rPr lang="en-US" dirty="0"/>
              <a:t> Assess pain regularly.</a:t>
            </a:r>
          </a:p>
          <a:p>
            <a:r>
              <a:rPr lang="en-US" dirty="0"/>
              <a:t> Administer prescribed analgesics.</a:t>
            </a:r>
          </a:p>
          <a:p>
            <a:r>
              <a:rPr lang="en-US" dirty="0"/>
              <a:t> Maintain IV access.</a:t>
            </a:r>
          </a:p>
          <a:p>
            <a:r>
              <a:rPr lang="en-US" dirty="0"/>
              <a:t> Administer IV fluids as prescribed.</a:t>
            </a:r>
          </a:p>
          <a:p>
            <a:r>
              <a:rPr lang="en-US" dirty="0"/>
              <a:t> Monitor intake and output.</a:t>
            </a:r>
          </a:p>
          <a:p>
            <a:r>
              <a:rPr lang="en-US" dirty="0"/>
              <a:t> Monitor electrolytes and blood glucose.</a:t>
            </a:r>
          </a:p>
          <a:p>
            <a:r>
              <a:rPr lang="en-US" dirty="0"/>
              <a:t> Manage nausea and vomiting.</a:t>
            </a:r>
          </a:p>
          <a:p>
            <a:r>
              <a:rPr lang="en-US" dirty="0"/>
              <a:t> Maintain nutritional support as prescribed.</a:t>
            </a:r>
          </a:p>
          <a:p>
            <a:r>
              <a:rPr lang="en-US" dirty="0"/>
              <a:t> Observe for complications.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0500" y="111125"/>
            <a:ext cx="10515600" cy="1325563"/>
          </a:xfrm>
        </p:spPr>
        <p:txBody>
          <a:bodyPr>
            <a:normAutofit/>
          </a:bodyPr>
          <a:lstStyle/>
          <a:p>
            <a:r>
              <a:rPr lang="en-US" sz="5400" b="1" dirty="0">
                <a:solidFill>
                  <a:srgbClr val="FF0000"/>
                </a:solidFill>
              </a:rPr>
              <a:t>NURSING DIAGNOSIS</a:t>
            </a:r>
          </a:p>
        </p:txBody>
      </p:sp>
      <p:sp>
        <p:nvSpPr>
          <p:cNvPr id="3" name="Content Placeholder 2"/>
          <p:cNvSpPr>
            <a:spLocks noGrp="1"/>
          </p:cNvSpPr>
          <p:nvPr>
            <p:ph idx="1"/>
          </p:nvPr>
        </p:nvSpPr>
        <p:spPr/>
        <p:txBody>
          <a:bodyPr/>
          <a:lstStyle/>
          <a:p>
            <a:r>
              <a:rPr lang="en-US" dirty="0"/>
              <a:t>Acute pain related to pancreatic inflammation.</a:t>
            </a:r>
          </a:p>
          <a:p>
            <a:r>
              <a:rPr lang="en-US" dirty="0"/>
              <a:t>Deficient fluid volume related to vomiting and fluid shifting.</a:t>
            </a:r>
          </a:p>
          <a:p>
            <a:r>
              <a:rPr lang="en-US" dirty="0"/>
              <a:t>Imbalanced nutrition: less than body requirements related to reduced intake and impaired digestion.</a:t>
            </a:r>
          </a:p>
          <a:p>
            <a:r>
              <a:rPr lang="en-US" dirty="0"/>
              <a:t>Nausea related to gastrointestinal and pancreatic inflammation.</a:t>
            </a:r>
          </a:p>
          <a:p>
            <a:r>
              <a:rPr lang="en-US" dirty="0"/>
              <a:t>Risk for unstable blood glucose level related to impaired pancreatic function.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b="1" dirty="0">
                <a:solidFill>
                  <a:srgbClr val="FF0000"/>
                </a:solidFill>
              </a:rPr>
              <a:t>COMPLICATIONS</a:t>
            </a:r>
            <a:endParaRPr lang="en-US" b="1" dirty="0">
              <a:solidFill>
                <a:srgbClr val="FF0000"/>
              </a:solidFill>
            </a:endParaRPr>
          </a:p>
        </p:txBody>
      </p:sp>
      <p:sp>
        <p:nvSpPr>
          <p:cNvPr id="3" name="Content Placeholder 2"/>
          <p:cNvSpPr>
            <a:spLocks noGrp="1"/>
          </p:cNvSpPr>
          <p:nvPr>
            <p:ph idx="1"/>
          </p:nvPr>
        </p:nvSpPr>
        <p:spPr/>
        <p:txBody>
          <a:bodyPr>
            <a:normAutofit/>
          </a:bodyPr>
          <a:lstStyle/>
          <a:p>
            <a:r>
              <a:rPr lang="en-US" dirty="0"/>
              <a:t> Pancreatic necrosis</a:t>
            </a:r>
          </a:p>
          <a:p>
            <a:r>
              <a:rPr lang="en-US" dirty="0"/>
              <a:t> Pseudocyst</a:t>
            </a:r>
          </a:p>
          <a:p>
            <a:r>
              <a:rPr lang="en-US" dirty="0"/>
              <a:t> Infection</a:t>
            </a:r>
          </a:p>
          <a:p>
            <a:r>
              <a:rPr lang="en-US" dirty="0"/>
              <a:t> Hypotension/shock</a:t>
            </a:r>
          </a:p>
          <a:p>
            <a:r>
              <a:rPr lang="en-US" dirty="0"/>
              <a:t> Respiratory failure</a:t>
            </a:r>
          </a:p>
          <a:p>
            <a:r>
              <a:rPr lang="en-US" dirty="0"/>
              <a:t> Acute kidney injury</a:t>
            </a:r>
          </a:p>
          <a:p>
            <a:r>
              <a:rPr lang="en-US" dirty="0"/>
              <a:t> Sepsis</a:t>
            </a:r>
          </a:p>
          <a:p>
            <a:r>
              <a:rPr lang="en-US" dirty="0"/>
              <a:t> Multiple organ dysfunction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solidFill>
                  <a:srgbClr val="FF0000"/>
                </a:solidFill>
              </a:rPr>
              <a:t>DIFFERENTIALS DIAGNOSIS</a:t>
            </a:r>
          </a:p>
        </p:txBody>
      </p:sp>
      <p:sp>
        <p:nvSpPr>
          <p:cNvPr id="3" name="Content Placeholder 2"/>
          <p:cNvSpPr>
            <a:spLocks noGrp="1"/>
          </p:cNvSpPr>
          <p:nvPr>
            <p:ph idx="1"/>
          </p:nvPr>
        </p:nvSpPr>
        <p:spPr/>
        <p:txBody>
          <a:bodyPr/>
          <a:lstStyle/>
          <a:p>
            <a:r>
              <a:rPr lang="en-US" dirty="0"/>
              <a:t>Peptic ulcer disease</a:t>
            </a:r>
          </a:p>
          <a:p>
            <a:r>
              <a:rPr lang="en-US" dirty="0"/>
              <a:t>Acute cholecystitis</a:t>
            </a:r>
          </a:p>
          <a:p>
            <a:r>
              <a:rPr lang="en-US" dirty="0"/>
              <a:t>Biliary colic</a:t>
            </a:r>
          </a:p>
          <a:p>
            <a:r>
              <a:rPr lang="en-US" dirty="0"/>
              <a:t>Appendicitis</a:t>
            </a:r>
          </a:p>
          <a:p>
            <a:r>
              <a:rPr lang="en-US" dirty="0"/>
              <a:t>Intestinal obstruction</a:t>
            </a:r>
          </a:p>
          <a:p>
            <a:r>
              <a:rPr lang="en-US" dirty="0"/>
              <a:t>Perforated viscus</a:t>
            </a:r>
          </a:p>
          <a:p>
            <a:r>
              <a:rPr lang="en-US" dirty="0"/>
              <a:t>Hepatitis</a:t>
            </a:r>
          </a:p>
          <a:p>
            <a:r>
              <a:rPr lang="en-US" dirty="0"/>
              <a:t>Mesenteric ischemia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b="1" dirty="0">
                <a:solidFill>
                  <a:srgbClr val="FF0000"/>
                </a:solidFill>
              </a:rPr>
              <a:t>REFRENCES</a:t>
            </a:r>
            <a:endParaRPr lang="en-US" b="1"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r>
              <a:rPr lang="en-US" dirty="0"/>
              <a:t> Hall, J. E. (2021). Guyton and Hall Textbook of Medical Physiology (14th ed.). Elsevier.</a:t>
            </a:r>
          </a:p>
          <a:p>
            <a:r>
              <a:rPr lang="en-US" dirty="0"/>
              <a:t>. Jameson, J. L., Fauci, A. S., Kasper, D. L., Hauser, S. L., Longo, D. L., &amp; Loscalzo, J. (Eds.). (2022). Harrison's Principles of Internal Medicine (21st ed.). McGraw Hill.</a:t>
            </a:r>
          </a:p>
          <a:p>
            <a:r>
              <a:rPr lang="en-US" dirty="0"/>
              <a:t>. Lewis, S. L., Bucher, L., Heitkemper, M. M., Harding, M. M., Kwong, J., &amp; Roberts, D. Medical-Surgical Nursing: Assessment and Management of Clinical Problems (12th ed.). Elsevier.</a:t>
            </a:r>
          </a:p>
          <a:p>
            <a:r>
              <a:rPr lang="en-US" dirty="0"/>
              <a:t>. Kumar, V., Abbas, A. K., &amp; Aster, J. C. (2020). Robbins &amp; </a:t>
            </a:r>
            <a:r>
              <a:rPr lang="en-US" dirty="0" err="1"/>
              <a:t>Cotran</a:t>
            </a:r>
            <a:r>
              <a:rPr lang="en-US" dirty="0"/>
              <a:t> Pathologic Basis of Disease (10th ed.). Elsevier.</a:t>
            </a:r>
          </a:p>
          <a:p>
            <a:r>
              <a:rPr lang="en-US" dirty="0"/>
              <a:t>. American College of Gastroenterology. (2024). Management of Acute Pancreatitis. American Journal of Gastroenterology.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790</Words>
  <Application>Microsoft Office PowerPoint</Application>
  <PresentationFormat>Widescreen</PresentationFormat>
  <Paragraphs>121</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PANCREATITIS</vt:lpstr>
      <vt:lpstr>GROUP 9 MEMBERS</vt:lpstr>
      <vt:lpstr>TABLE OF CONTENT</vt:lpstr>
      <vt:lpstr>INTRODUCTION</vt:lpstr>
      <vt:lpstr>DEFINITION</vt:lpstr>
      <vt:lpstr>AETIOLOGY</vt:lpstr>
      <vt:lpstr>THE PANCREASE</vt:lpstr>
      <vt:lpstr>PATHOPHYSIOLOGY</vt:lpstr>
      <vt:lpstr>TYPES</vt:lpstr>
      <vt:lpstr>SIGNS AND SYMPTOMS</vt:lpstr>
      <vt:lpstr>INVESTIGATIONS</vt:lpstr>
      <vt:lpstr>NURSING MANAGEMENT</vt:lpstr>
      <vt:lpstr>NURSING DIAGNOSIS</vt:lpstr>
      <vt:lpstr>COMPLICATIONS</vt:lpstr>
      <vt:lpstr>DIFFERENTIALS DIAGNOSIS</vt:lpstr>
      <vt:lpstr>REFRENCES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PANCREATITIS</dc:title>
  <dc:creator>Dembadad5@gmail.com</dc:creator>
  <cp:lastModifiedBy>USER</cp:lastModifiedBy>
  <cp:revision>7</cp:revision>
  <dcterms:created xsi:type="dcterms:W3CDTF">2026-09-02T01:31:00Z</dcterms:created>
  <dcterms:modified xsi:type="dcterms:W3CDTF">2026-09-30T10:12:35Z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DA053975536F424CA5F02888B2F4AE5F_13</vt:lpwstr>
  </property>
</Properties>
</file>